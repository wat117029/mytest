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4"/>
  </p:sldMasterIdLst>
  <p:notesMasterIdLst>
    <p:notesMasterId r:id="rId70"/>
  </p:notesMasterIdLst>
  <p:handoutMasterIdLst>
    <p:handoutMasterId r:id="rId71"/>
  </p:handoutMasterIdLst>
  <p:sldIdLst>
    <p:sldId id="287" r:id="rId5"/>
    <p:sldId id="358" r:id="rId6"/>
    <p:sldId id="256" r:id="rId7"/>
    <p:sldId id="370" r:id="rId8"/>
    <p:sldId id="257" r:id="rId9"/>
    <p:sldId id="354" r:id="rId10"/>
    <p:sldId id="296" r:id="rId11"/>
    <p:sldId id="297" r:id="rId12"/>
    <p:sldId id="298" r:id="rId13"/>
    <p:sldId id="302" r:id="rId14"/>
    <p:sldId id="300" r:id="rId15"/>
    <p:sldId id="307" r:id="rId16"/>
    <p:sldId id="303" r:id="rId17"/>
    <p:sldId id="373" r:id="rId18"/>
    <p:sldId id="304" r:id="rId19"/>
    <p:sldId id="371" r:id="rId20"/>
    <p:sldId id="309" r:id="rId21"/>
    <p:sldId id="310" r:id="rId22"/>
    <p:sldId id="311" r:id="rId23"/>
    <p:sldId id="356" r:id="rId24"/>
    <p:sldId id="312" r:id="rId25"/>
    <p:sldId id="313" r:id="rId26"/>
    <p:sldId id="314" r:id="rId27"/>
    <p:sldId id="316" r:id="rId28"/>
    <p:sldId id="317" r:id="rId29"/>
    <p:sldId id="318" r:id="rId30"/>
    <p:sldId id="357" r:id="rId31"/>
    <p:sldId id="319" r:id="rId32"/>
    <p:sldId id="320" r:id="rId33"/>
    <p:sldId id="321" r:id="rId34"/>
    <p:sldId id="322" r:id="rId35"/>
    <p:sldId id="324" r:id="rId36"/>
    <p:sldId id="325" r:id="rId37"/>
    <p:sldId id="327" r:id="rId38"/>
    <p:sldId id="328" r:id="rId39"/>
    <p:sldId id="329" r:id="rId40"/>
    <p:sldId id="333" r:id="rId41"/>
    <p:sldId id="334" r:id="rId42"/>
    <p:sldId id="335" r:id="rId43"/>
    <p:sldId id="330" r:id="rId44"/>
    <p:sldId id="332" r:id="rId45"/>
    <p:sldId id="336" r:id="rId46"/>
    <p:sldId id="337" r:id="rId47"/>
    <p:sldId id="341" r:id="rId48"/>
    <p:sldId id="342" r:id="rId49"/>
    <p:sldId id="346" r:id="rId50"/>
    <p:sldId id="348" r:id="rId51"/>
    <p:sldId id="350" r:id="rId52"/>
    <p:sldId id="372" r:id="rId53"/>
    <p:sldId id="352" r:id="rId54"/>
    <p:sldId id="353" r:id="rId55"/>
    <p:sldId id="376" r:id="rId56"/>
    <p:sldId id="377" r:id="rId57"/>
    <p:sldId id="374" r:id="rId58"/>
    <p:sldId id="369" r:id="rId59"/>
    <p:sldId id="359" r:id="rId60"/>
    <p:sldId id="360" r:id="rId61"/>
    <p:sldId id="361" r:id="rId62"/>
    <p:sldId id="362" r:id="rId63"/>
    <p:sldId id="363" r:id="rId64"/>
    <p:sldId id="364" r:id="rId65"/>
    <p:sldId id="365" r:id="rId66"/>
    <p:sldId id="366" r:id="rId67"/>
    <p:sldId id="367" r:id="rId68"/>
    <p:sldId id="368" r:id="rId69"/>
  </p:sldIdLst>
  <p:sldSz cx="9906000" cy="6858000" type="A4"/>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71B1C1C0-6251-4A1A-A247-EBBCA72EF4BA}">
          <p14:sldIdLst>
            <p14:sldId id="287"/>
            <p14:sldId id="358"/>
          </p14:sldIdLst>
        </p14:section>
        <p14:section name="Home" id="{08FB327C-870C-465B-9D82-BE48BC521567}">
          <p14:sldIdLst>
            <p14:sldId id="256"/>
            <p14:sldId id="370"/>
          </p14:sldIdLst>
        </p14:section>
        <p14:section name="Status" id="{6F83828C-B807-454B-8F2A-08369A9C34E8}">
          <p14:sldIdLst>
            <p14:sldId id="257"/>
            <p14:sldId id="354"/>
            <p14:sldId id="296"/>
            <p14:sldId id="297"/>
            <p14:sldId id="298"/>
            <p14:sldId id="302"/>
            <p14:sldId id="300"/>
            <p14:sldId id="307"/>
            <p14:sldId id="303"/>
            <p14:sldId id="373"/>
          </p14:sldIdLst>
        </p14:section>
        <p14:section name="Engine Status" id="{06271352-77E4-4F15-BC7A-51C02F79F5C7}">
          <p14:sldIdLst>
            <p14:sldId id="304"/>
            <p14:sldId id="371"/>
          </p14:sldIdLst>
        </p14:section>
        <p14:section name="AUX1" id="{E49A2CD8-A6AD-4443-B16F-F7A1D6B7E4A9}">
          <p14:sldIdLst>
            <p14:sldId id="309"/>
            <p14:sldId id="310"/>
            <p14:sldId id="311"/>
            <p14:sldId id="356"/>
            <p14:sldId id="312"/>
            <p14:sldId id="313"/>
            <p14:sldId id="314"/>
          </p14:sldIdLst>
        </p14:section>
        <p14:section name="AUX2" id="{22239FC5-4A65-4969-8811-9B0DED4084ED}">
          <p14:sldIdLst>
            <p14:sldId id="316"/>
            <p14:sldId id="317"/>
            <p14:sldId id="318"/>
            <p14:sldId id="357"/>
            <p14:sldId id="319"/>
            <p14:sldId id="320"/>
            <p14:sldId id="321"/>
          </p14:sldIdLst>
        </p14:section>
        <p14:section name="AUX4" id="{F7FD2E4C-505F-4148-8B82-70C80389B0AD}">
          <p14:sldIdLst>
            <p14:sldId id="322"/>
            <p14:sldId id="324"/>
            <p14:sldId id="325"/>
          </p14:sldIdLst>
        </p14:section>
        <p14:section name="Swing" id="{BAFFFBF9-A780-4860-8E77-0D809AC9D822}">
          <p14:sldIdLst>
            <p14:sldId id="327"/>
            <p14:sldId id="328"/>
            <p14:sldId id="329"/>
          </p14:sldIdLst>
        </p14:section>
        <p14:section name="Blade" id="{53730520-226A-43F2-B62C-78D1B26CCDC7}">
          <p14:sldIdLst>
            <p14:sldId id="333"/>
            <p14:sldId id="334"/>
            <p14:sldId id="335"/>
          </p14:sldIdLst>
        </p14:section>
        <p14:section name="Adjust" id="{6FDD78C8-AF47-4348-8F0B-F20D1E54533B}">
          <p14:sldIdLst>
            <p14:sldId id="330"/>
            <p14:sldId id="332"/>
          </p14:sldIdLst>
        </p14:section>
        <p14:section name="Hourmeter" id="{A58BE58C-15D2-4E66-B73C-40875BF26874}">
          <p14:sldIdLst>
            <p14:sldId id="336"/>
          </p14:sldIdLst>
        </p14:section>
        <p14:section name="Liftalarm" id="{29E9C66E-D1FC-468A-B7A5-3A520E5941DE}">
          <p14:sldIdLst>
            <p14:sldId id="337"/>
          </p14:sldIdLst>
        </p14:section>
        <p14:section name="Auto grease" id="{F222C14B-ECC5-42B1-8D75-C4CB66303C22}">
          <p14:sldIdLst>
            <p14:sldId id="341"/>
          </p14:sldIdLst>
        </p14:section>
        <p14:section name="Pattern change" id="{8DCC00A1-3F36-422E-A983-563217864655}">
          <p14:sldIdLst>
            <p14:sldId id="342"/>
            <p14:sldId id="346"/>
          </p14:sldIdLst>
        </p14:section>
        <p14:section name="270° Camera" id="{72661042-81F7-4A7D-A12B-4FCAA71CEDDB}">
          <p14:sldIdLst>
            <p14:sldId id="348"/>
          </p14:sldIdLst>
        </p14:section>
        <p14:section name="Engine auto stop" id="{FFB89351-B40B-4756-9F1D-D9E51CAC8C9E}">
          <p14:sldIdLst>
            <p14:sldId id="350"/>
          </p14:sldIdLst>
        </p14:section>
        <p14:section name="Eco plus mode" id="{A1C3DADB-65E0-4980-9D8C-214F4DE27D68}">
          <p14:sldIdLst>
            <p14:sldId id="372"/>
          </p14:sldIdLst>
        </p14:section>
        <p14:section name="Option" id="{F315DC32-D8F3-49DB-85C4-0A32B8E3D412}">
          <p14:sldIdLst>
            <p14:sldId id="352"/>
          </p14:sldIdLst>
        </p14:section>
        <p14:section name="Misc" id="{072B7584-6207-48A2-A6F2-0FA0A4D07AD4}">
          <p14:sldIdLst>
            <p14:sldId id="353"/>
          </p14:sldIdLst>
        </p14:section>
        <p14:section name="Extension Output" id="{009A9435-32DC-4E4F-B9BA-EF85E09B248B}">
          <p14:sldIdLst>
            <p14:sldId id="376"/>
            <p14:sldId id="377"/>
          </p14:sldIdLst>
        </p14:section>
        <p14:section name="Eco plus mode" id="{FD28EB3F-C8A8-49CB-BDF8-36CC3C2145B7}">
          <p14:sldIdLst>
            <p14:sldId id="374"/>
          </p14:sldIdLst>
        </p14:section>
        <p14:section name="TFM" id="{C0DE6C12-CAAB-448F-BD6B-2464C3A767CC}">
          <p14:sldIdLst>
            <p14:sldId id="369"/>
          </p14:sldIdLst>
        </p14:section>
        <p14:section name="Engine maintenance" id="{B7E1B93E-2CD6-4607-8B34-0929D512E7A1}">
          <p14:sldIdLst>
            <p14:sldId id="359"/>
            <p14:sldId id="360"/>
            <p14:sldId id="361"/>
            <p14:sldId id="362"/>
            <p14:sldId id="363"/>
            <p14:sldId id="364"/>
            <p14:sldId id="365"/>
            <p14:sldId id="366"/>
            <p14:sldId id="367"/>
            <p14:sldId id="368"/>
          </p14:sldIdLst>
        </p14:section>
      </p14:sectionLst>
    </p:ext>
    <p:ext uri="{EFAFB233-063F-42B5-8137-9DF3F51BA10A}">
      <p15:sldGuideLst xmlns:p15="http://schemas.microsoft.com/office/powerpoint/2012/main">
        <p15:guide id="2" pos="217" userDrawn="1">
          <p15:clr>
            <a:srgbClr val="A4A3A4"/>
          </p15:clr>
        </p15:guide>
        <p15:guide id="3" orient="horz" pos="414" userDrawn="1">
          <p15:clr>
            <a:srgbClr val="A4A3A4"/>
          </p15:clr>
        </p15:guide>
        <p15:guide id="4" pos="341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4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707" autoAdjust="0"/>
  </p:normalViewPr>
  <p:slideViewPr>
    <p:cSldViewPr snapToGrid="0" showGuides="1">
      <p:cViewPr varScale="1">
        <p:scale>
          <a:sx n="116" d="100"/>
          <a:sy n="116" d="100"/>
        </p:scale>
        <p:origin x="1302" y="108"/>
      </p:cViewPr>
      <p:guideLst>
        <p:guide pos="217"/>
        <p:guide orient="horz" pos="414"/>
        <p:guide pos="3415"/>
      </p:guideLst>
    </p:cSldViewPr>
  </p:slideViewPr>
  <p:notesTextViewPr>
    <p:cViewPr>
      <p:scale>
        <a:sx n="1" d="1"/>
        <a:sy n="1" d="1"/>
      </p:scale>
      <p:origin x="0" y="0"/>
    </p:cViewPr>
  </p:notesTextViewPr>
  <p:notesViewPr>
    <p:cSldViewPr snapToGrid="0">
      <p:cViewPr varScale="1">
        <p:scale>
          <a:sx n="82" d="100"/>
          <a:sy n="82" d="100"/>
        </p:scale>
        <p:origin x="3966" y="5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星野 真伸" userId="7942f303-9df8-4eae-8347-914133f6ca8e" providerId="ADAL" clId="{AB2986AE-730B-4E73-92F4-F965F932AF1A}"/>
    <pc:docChg chg="undo custSel modSld sldOrd modSection modNotesMaster modHandout">
      <pc:chgData name="星野 真伸" userId="7942f303-9df8-4eae-8347-914133f6ca8e" providerId="ADAL" clId="{AB2986AE-730B-4E73-92F4-F965F932AF1A}" dt="2026-04-02T10:53:01.381" v="407" actId="729"/>
      <pc:docMkLst>
        <pc:docMk/>
      </pc:docMkLst>
      <pc:sldChg chg="addSp delSp modSp mod modShow">
        <pc:chgData name="星野 真伸" userId="7942f303-9df8-4eae-8347-914133f6ca8e" providerId="ADAL" clId="{AB2986AE-730B-4E73-92F4-F965F932AF1A}" dt="2026-04-02T10:53:01.381" v="407" actId="729"/>
        <pc:sldMkLst>
          <pc:docMk/>
          <pc:sldMk cId="0" sldId="257"/>
        </pc:sldMkLst>
        <pc:spChg chg="add mod">
          <ac:chgData name="星野 真伸" userId="7942f303-9df8-4eae-8347-914133f6ca8e" providerId="ADAL" clId="{AB2986AE-730B-4E73-92F4-F965F932AF1A}" dt="2026-03-23T09:40:31.121" v="218" actId="20577"/>
          <ac:spMkLst>
            <pc:docMk/>
            <pc:sldMk cId="0" sldId="257"/>
            <ac:spMk id="5" creationId="{57D8B50E-8EE1-35B8-35E6-D1A6B9463670}"/>
          </ac:spMkLst>
        </pc:spChg>
        <pc:picChg chg="add mod ord">
          <ac:chgData name="星野 真伸" userId="7942f303-9df8-4eae-8347-914133f6ca8e" providerId="ADAL" clId="{AB2986AE-730B-4E73-92F4-F965F932AF1A}" dt="2026-03-23T09:33:05.433" v="64" actId="167"/>
          <ac:picMkLst>
            <pc:docMk/>
            <pc:sldMk cId="0" sldId="257"/>
            <ac:picMk id="4" creationId="{A0698000-E8E3-BF05-2B48-3DA8E1305047}"/>
          </ac:picMkLst>
        </pc:picChg>
      </pc:sldChg>
      <pc:sldChg chg="modSp mod modShow">
        <pc:chgData name="星野 真伸" userId="7942f303-9df8-4eae-8347-914133f6ca8e" providerId="ADAL" clId="{AB2986AE-730B-4E73-92F4-F965F932AF1A}" dt="2026-03-23T09:28:53.608" v="43"/>
        <pc:sldMkLst>
          <pc:docMk/>
          <pc:sldMk cId="0" sldId="287"/>
        </pc:sldMkLst>
        <pc:graphicFrameChg chg="mod modGraphic">
          <ac:chgData name="星野 真伸" userId="7942f303-9df8-4eae-8347-914133f6ca8e" providerId="ADAL" clId="{AB2986AE-730B-4E73-92F4-F965F932AF1A}" dt="2026-03-23T09:28:53.608" v="43"/>
          <ac:graphicFrameMkLst>
            <pc:docMk/>
            <pc:sldMk cId="0" sldId="287"/>
            <ac:graphicFrameMk id="3" creationId="{00000000-0000-0000-0000-000000000000}"/>
          </ac:graphicFrameMkLst>
        </pc:graphicFrameChg>
      </pc:sldChg>
      <pc:sldChg chg="mod modShow">
        <pc:chgData name="星野 真伸" userId="7942f303-9df8-4eae-8347-914133f6ca8e" providerId="ADAL" clId="{AB2986AE-730B-4E73-92F4-F965F932AF1A}" dt="2026-03-23T09:43:48.192" v="372" actId="729"/>
        <pc:sldMkLst>
          <pc:docMk/>
          <pc:sldMk cId="684746416" sldId="297"/>
        </pc:sldMkLst>
      </pc:sldChg>
      <pc:sldChg chg="mod modShow">
        <pc:chgData name="星野 真伸" userId="7942f303-9df8-4eae-8347-914133f6ca8e" providerId="ADAL" clId="{AB2986AE-730B-4E73-92F4-F965F932AF1A}" dt="2026-03-23T09:43:48.192" v="372" actId="729"/>
        <pc:sldMkLst>
          <pc:docMk/>
          <pc:sldMk cId="566700451" sldId="298"/>
        </pc:sldMkLst>
      </pc:sldChg>
      <pc:sldChg chg="addSp delSp modSp mod modShow">
        <pc:chgData name="星野 真伸" userId="7942f303-9df8-4eae-8347-914133f6ca8e" providerId="ADAL" clId="{AB2986AE-730B-4E73-92F4-F965F932AF1A}" dt="2026-03-23T09:43:58.773" v="373" actId="729"/>
        <pc:sldMkLst>
          <pc:docMk/>
          <pc:sldMk cId="1084449526" sldId="300"/>
        </pc:sldMkLst>
        <pc:spChg chg="mod">
          <ac:chgData name="星野 真伸" userId="7942f303-9df8-4eae-8347-914133f6ca8e" providerId="ADAL" clId="{AB2986AE-730B-4E73-92F4-F965F932AF1A}" dt="2026-03-23T09:36:17.675" v="171" actId="20577"/>
          <ac:spMkLst>
            <pc:docMk/>
            <pc:sldMk cId="1084449526" sldId="300"/>
            <ac:spMk id="7" creationId="{00000000-0000-0000-0000-000000000000}"/>
          </ac:spMkLst>
        </pc:spChg>
        <pc:picChg chg="add mod ord">
          <ac:chgData name="星野 真伸" userId="7942f303-9df8-4eae-8347-914133f6ca8e" providerId="ADAL" clId="{AB2986AE-730B-4E73-92F4-F965F932AF1A}" dt="2026-03-23T09:36:09.330" v="165" actId="1076"/>
          <ac:picMkLst>
            <pc:docMk/>
            <pc:sldMk cId="1084449526" sldId="300"/>
            <ac:picMk id="9" creationId="{43A28BBC-AE7A-CD57-5272-9D4805611579}"/>
          </ac:picMkLst>
        </pc:picChg>
      </pc:sldChg>
      <pc:sldChg chg="mod modShow">
        <pc:chgData name="星野 真伸" userId="7942f303-9df8-4eae-8347-914133f6ca8e" providerId="ADAL" clId="{AB2986AE-730B-4E73-92F4-F965F932AF1A}" dt="2026-03-23T09:44:23.017" v="376" actId="729"/>
        <pc:sldMkLst>
          <pc:docMk/>
          <pc:sldMk cId="2210957252" sldId="346"/>
        </pc:sldMkLst>
      </pc:sldChg>
      <pc:sldChg chg="addSp delSp modSp mod">
        <pc:chgData name="星野 真伸" userId="7942f303-9df8-4eae-8347-914133f6ca8e" providerId="ADAL" clId="{AB2986AE-730B-4E73-92F4-F965F932AF1A}" dt="2026-03-23T09:48:42.301" v="405" actId="478"/>
        <pc:sldMkLst>
          <pc:docMk/>
          <pc:sldMk cId="3450208660" sldId="352"/>
        </pc:sldMkLst>
        <pc:picChg chg="add mod ord">
          <ac:chgData name="星野 真伸" userId="7942f303-9df8-4eae-8347-914133f6ca8e" providerId="ADAL" clId="{AB2986AE-730B-4E73-92F4-F965F932AF1A}" dt="2026-03-23T09:48:41.242" v="404" actId="167"/>
          <ac:picMkLst>
            <pc:docMk/>
            <pc:sldMk cId="3450208660" sldId="352"/>
            <ac:picMk id="3" creationId="{6CEA47D3-ADDB-A30D-E711-3E104200A820}"/>
          </ac:picMkLst>
        </pc:picChg>
      </pc:sldChg>
      <pc:sldChg chg="addSp delSp modSp mod modShow">
        <pc:chgData name="星野 真伸" userId="7942f303-9df8-4eae-8347-914133f6ca8e" providerId="ADAL" clId="{AB2986AE-730B-4E73-92F4-F965F932AF1A}" dt="2026-04-02T10:53:01.381" v="407" actId="729"/>
        <pc:sldMkLst>
          <pc:docMk/>
          <pc:sldMk cId="3688233373" sldId="354"/>
        </pc:sldMkLst>
        <pc:spChg chg="add mod">
          <ac:chgData name="星野 真伸" userId="7942f303-9df8-4eae-8347-914133f6ca8e" providerId="ADAL" clId="{AB2986AE-730B-4E73-92F4-F965F932AF1A}" dt="2026-03-23T09:40:42.670" v="225" actId="20577"/>
          <ac:spMkLst>
            <pc:docMk/>
            <pc:sldMk cId="3688233373" sldId="354"/>
            <ac:spMk id="5" creationId="{EB04F3ED-5C7C-A096-1CDC-C0B381E1DEF8}"/>
          </ac:spMkLst>
        </pc:spChg>
        <pc:picChg chg="add mod ord">
          <ac:chgData name="星野 真伸" userId="7942f303-9df8-4eae-8347-914133f6ca8e" providerId="ADAL" clId="{AB2986AE-730B-4E73-92F4-F965F932AF1A}" dt="2026-03-23T09:35:08.577" v="157" actId="167"/>
          <ac:picMkLst>
            <pc:docMk/>
            <pc:sldMk cId="3688233373" sldId="354"/>
            <ac:picMk id="9" creationId="{164BAF97-9B17-A3E3-1435-456E70619221}"/>
          </ac:picMkLst>
        </pc:picChg>
      </pc:sldChg>
      <pc:sldChg chg="modSp mod">
        <pc:chgData name="星野 真伸" userId="7942f303-9df8-4eae-8347-914133f6ca8e" providerId="ADAL" clId="{AB2986AE-730B-4E73-92F4-F965F932AF1A}" dt="2026-03-23T09:43:05.782" v="370"/>
        <pc:sldMkLst>
          <pc:docMk/>
          <pc:sldMk cId="620723979" sldId="358"/>
        </pc:sldMkLst>
        <pc:graphicFrameChg chg="mod modGraphic">
          <ac:chgData name="星野 真伸" userId="7942f303-9df8-4eae-8347-914133f6ca8e" providerId="ADAL" clId="{AB2986AE-730B-4E73-92F4-F965F932AF1A}" dt="2026-03-23T09:43:05.782" v="370"/>
          <ac:graphicFrameMkLst>
            <pc:docMk/>
            <pc:sldMk cId="620723979" sldId="358"/>
            <ac:graphicFrameMk id="4" creationId="{10E9C699-0C03-33DE-782E-8634A3471D27}"/>
          </ac:graphicFrameMkLst>
        </pc:graphicFrameChg>
      </pc:sldChg>
      <pc:sldChg chg="ord">
        <pc:chgData name="星野 真伸" userId="7942f303-9df8-4eae-8347-914133f6ca8e" providerId="ADAL" clId="{AB2986AE-730B-4E73-92F4-F965F932AF1A}" dt="2026-03-23T09:44:04.834" v="375"/>
        <pc:sldMkLst>
          <pc:docMk/>
          <pc:sldMk cId="1879915535" sldId="373"/>
        </pc:sldMkLst>
      </pc:sldChg>
      <pc:sldChg chg="modSp mod modShow">
        <pc:chgData name="星野 真伸" userId="7942f303-9df8-4eae-8347-914133f6ca8e" providerId="ADAL" clId="{AB2986AE-730B-4E73-92F4-F965F932AF1A}" dt="2026-03-23T09:45:31.781" v="400" actId="20577"/>
        <pc:sldMkLst>
          <pc:docMk/>
          <pc:sldMk cId="1360608261" sldId="376"/>
        </pc:sldMkLst>
        <pc:spChg chg="mod">
          <ac:chgData name="星野 真伸" userId="7942f303-9df8-4eae-8347-914133f6ca8e" providerId="ADAL" clId="{AB2986AE-730B-4E73-92F4-F965F932AF1A}" dt="2026-03-23T09:45:31.781" v="400" actId="20577"/>
          <ac:spMkLst>
            <pc:docMk/>
            <pc:sldMk cId="1360608261" sldId="376"/>
            <ac:spMk id="6" creationId="{8BD81BD0-8123-CB1B-EA9D-2F5FBA6F9168}"/>
          </ac:spMkLst>
        </pc:spChg>
      </pc:sldChg>
      <pc:sldChg chg="mod modShow">
        <pc:chgData name="星野 真伸" userId="7942f303-9df8-4eae-8347-914133f6ca8e" providerId="ADAL" clId="{AB2986AE-730B-4E73-92F4-F965F932AF1A}" dt="2026-03-23T09:44:40.588" v="378" actId="729"/>
        <pc:sldMkLst>
          <pc:docMk/>
          <pc:sldMk cId="1911586469" sldId="3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7" y="5"/>
            <a:ext cx="2919413" cy="495300"/>
          </a:xfrm>
          <a:prstGeom prst="rect">
            <a:avLst/>
          </a:prstGeom>
        </p:spPr>
        <p:txBody>
          <a:bodyPr vert="horz" lIns="91425" tIns="45712" rIns="91425" bIns="45712"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7" y="9371018"/>
            <a:ext cx="2919413" cy="495300"/>
          </a:xfrm>
          <a:prstGeom prst="rect">
            <a:avLst/>
          </a:prstGeom>
        </p:spPr>
        <p:txBody>
          <a:bodyPr vert="horz" lIns="91425" tIns="45712" rIns="91425" bIns="45712" rtlCol="0" anchor="b"/>
          <a:lstStyle>
            <a:lvl1pPr algn="l">
              <a:defRPr sz="1200"/>
            </a:lvl1pPr>
          </a:lstStyle>
          <a:p>
            <a:endParaRPr kumimoji="1" lang="ja-JP" altLang="en-US"/>
          </a:p>
        </p:txBody>
      </p:sp>
    </p:spTree>
    <p:extLst>
      <p:ext uri="{BB962C8B-B14F-4D97-AF65-F5344CB8AC3E}">
        <p14:creationId xmlns:p14="http://schemas.microsoft.com/office/powerpoint/2010/main" val="23294070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2"/>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4763" y="2"/>
            <a:ext cx="2919412" cy="495300"/>
          </a:xfrm>
          <a:prstGeom prst="rect">
            <a:avLst/>
          </a:prstGeom>
        </p:spPr>
        <p:txBody>
          <a:bodyPr vert="horz" lIns="91440" tIns="45720" rIns="91440" bIns="45720" rtlCol="0"/>
          <a:lstStyle>
            <a:lvl1pPr algn="r">
              <a:defRPr sz="1200"/>
            </a:lvl1pPr>
          </a:lstStyle>
          <a:p>
            <a:fld id="{2716E90E-575C-4A60-BA8D-CACEEB9B05AC}" type="datetimeFigureOut">
              <a:rPr kumimoji="1" lang="ja-JP" altLang="en-US" smtClean="0"/>
              <a:t>2026/4/2</a:t>
            </a:fld>
            <a:endParaRPr kumimoji="1" lang="ja-JP" altLang="en-US"/>
          </a:p>
        </p:txBody>
      </p:sp>
      <p:sp>
        <p:nvSpPr>
          <p:cNvPr id="4" name="スライド イメージ プレースホルダー 3"/>
          <p:cNvSpPr>
            <a:spLocks noGrp="1" noRot="1" noChangeAspect="1"/>
          </p:cNvSpPr>
          <p:nvPr>
            <p:ph type="sldImg" idx="2"/>
          </p:nvPr>
        </p:nvSpPr>
        <p:spPr>
          <a:xfrm>
            <a:off x="963613" y="1231900"/>
            <a:ext cx="4808537"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100" y="4748215"/>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9371015"/>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4763" y="9371015"/>
            <a:ext cx="2919412" cy="495300"/>
          </a:xfrm>
          <a:prstGeom prst="rect">
            <a:avLst/>
          </a:prstGeom>
        </p:spPr>
        <p:txBody>
          <a:bodyPr vert="horz" lIns="91440" tIns="45720" rIns="91440" bIns="45720" rtlCol="0" anchor="b"/>
          <a:lstStyle>
            <a:lvl1pPr algn="r">
              <a:defRPr sz="1200"/>
            </a:lvl1pPr>
          </a:lstStyle>
          <a:p>
            <a:fld id="{6C99DC8A-B9AA-4A2D-8978-D6EC38A88B94}" type="slidenum">
              <a:rPr kumimoji="1" lang="ja-JP" altLang="en-US" smtClean="0"/>
              <a:t>‹#›</a:t>
            </a:fld>
            <a:endParaRPr kumimoji="1" lang="ja-JP" altLang="en-US"/>
          </a:p>
        </p:txBody>
      </p:sp>
    </p:spTree>
    <p:extLst>
      <p:ext uri="{BB962C8B-B14F-4D97-AF65-F5344CB8AC3E}">
        <p14:creationId xmlns:p14="http://schemas.microsoft.com/office/powerpoint/2010/main" val="3157379044"/>
      </p:ext>
    </p:extLst>
  </p:cSld>
  <p:clrMap bg1="lt1" tx1="dk1" bg2="lt2" tx2="dk2" accent1="accent1" accent2="accent2" accent3="accent3" accent4="accent4" accent5="accent5" accent6="accent6" hlink="hlink" folHlink="folHlink"/>
  <p:hf sldNum="0" hdr="0" ftr="0" dt="0"/>
  <p:notesStyle>
    <a:lvl1pPr marL="0" algn="l" defTabSz="684154" rtl="0" eaLnBrk="1" latinLnBrk="0" hangingPunct="1">
      <a:defRPr kumimoji="1" sz="898" kern="1200">
        <a:solidFill>
          <a:schemeClr val="tx1"/>
        </a:solidFill>
        <a:latin typeface="+mn-lt"/>
        <a:ea typeface="+mn-ea"/>
        <a:cs typeface="+mn-cs"/>
      </a:defRPr>
    </a:lvl1pPr>
    <a:lvl2pPr marL="342077" algn="l" defTabSz="684154" rtl="0" eaLnBrk="1" latinLnBrk="0" hangingPunct="1">
      <a:defRPr kumimoji="1" sz="898" kern="1200">
        <a:solidFill>
          <a:schemeClr val="tx1"/>
        </a:solidFill>
        <a:latin typeface="+mn-lt"/>
        <a:ea typeface="+mn-ea"/>
        <a:cs typeface="+mn-cs"/>
      </a:defRPr>
    </a:lvl2pPr>
    <a:lvl3pPr marL="684154" algn="l" defTabSz="684154" rtl="0" eaLnBrk="1" latinLnBrk="0" hangingPunct="1">
      <a:defRPr kumimoji="1" sz="898" kern="1200">
        <a:solidFill>
          <a:schemeClr val="tx1"/>
        </a:solidFill>
        <a:latin typeface="+mn-lt"/>
        <a:ea typeface="+mn-ea"/>
        <a:cs typeface="+mn-cs"/>
      </a:defRPr>
    </a:lvl3pPr>
    <a:lvl4pPr marL="1026231" algn="l" defTabSz="684154" rtl="0" eaLnBrk="1" latinLnBrk="0" hangingPunct="1">
      <a:defRPr kumimoji="1" sz="898" kern="1200">
        <a:solidFill>
          <a:schemeClr val="tx1"/>
        </a:solidFill>
        <a:latin typeface="+mn-lt"/>
        <a:ea typeface="+mn-ea"/>
        <a:cs typeface="+mn-cs"/>
      </a:defRPr>
    </a:lvl4pPr>
    <a:lvl5pPr marL="1368308" algn="l" defTabSz="684154" rtl="0" eaLnBrk="1" latinLnBrk="0" hangingPunct="1">
      <a:defRPr kumimoji="1" sz="898" kern="1200">
        <a:solidFill>
          <a:schemeClr val="tx1"/>
        </a:solidFill>
        <a:latin typeface="+mn-lt"/>
        <a:ea typeface="+mn-ea"/>
        <a:cs typeface="+mn-cs"/>
      </a:defRPr>
    </a:lvl5pPr>
    <a:lvl6pPr marL="1710385" algn="l" defTabSz="684154" rtl="0" eaLnBrk="1" latinLnBrk="0" hangingPunct="1">
      <a:defRPr kumimoji="1" sz="898" kern="1200">
        <a:solidFill>
          <a:schemeClr val="tx1"/>
        </a:solidFill>
        <a:latin typeface="+mn-lt"/>
        <a:ea typeface="+mn-ea"/>
        <a:cs typeface="+mn-cs"/>
      </a:defRPr>
    </a:lvl6pPr>
    <a:lvl7pPr marL="2052462" algn="l" defTabSz="684154" rtl="0" eaLnBrk="1" latinLnBrk="0" hangingPunct="1">
      <a:defRPr kumimoji="1" sz="898" kern="1200">
        <a:solidFill>
          <a:schemeClr val="tx1"/>
        </a:solidFill>
        <a:latin typeface="+mn-lt"/>
        <a:ea typeface="+mn-ea"/>
        <a:cs typeface="+mn-cs"/>
      </a:defRPr>
    </a:lvl7pPr>
    <a:lvl8pPr marL="2394539" algn="l" defTabSz="684154" rtl="0" eaLnBrk="1" latinLnBrk="0" hangingPunct="1">
      <a:defRPr kumimoji="1" sz="898" kern="1200">
        <a:solidFill>
          <a:schemeClr val="tx1"/>
        </a:solidFill>
        <a:latin typeface="+mn-lt"/>
        <a:ea typeface="+mn-ea"/>
        <a:cs typeface="+mn-cs"/>
      </a:defRPr>
    </a:lvl8pPr>
    <a:lvl9pPr marL="2736616" algn="l" defTabSz="684154" rtl="0" eaLnBrk="1" latinLnBrk="0" hangingPunct="1">
      <a:defRPr kumimoji="1" sz="8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209780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53745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09921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8324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2963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7120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3454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37080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9917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74821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2269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8302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7D8366AB-D84A-528B-2D98-0A77C81140BB}"/>
              </a:ext>
            </a:extLst>
          </p:cNvPr>
          <p:cNvCxnSpPr>
            <a:cxnSpLocks/>
          </p:cNvCxnSpPr>
          <p:nvPr userDrawn="1"/>
        </p:nvCxnSpPr>
        <p:spPr>
          <a:xfrm>
            <a:off x="132670" y="498021"/>
            <a:ext cx="9702573" cy="0"/>
          </a:xfrm>
          <a:prstGeom prst="line">
            <a:avLst/>
          </a:prstGeom>
          <a:ln w="41275" cap="rnd">
            <a:round/>
          </a:ln>
        </p:spPr>
        <p:style>
          <a:lnRef idx="1">
            <a:schemeClr val="accent1"/>
          </a:lnRef>
          <a:fillRef idx="0">
            <a:schemeClr val="accent1"/>
          </a:fillRef>
          <a:effectRef idx="0">
            <a:schemeClr val="accent1"/>
          </a:effectRef>
          <a:fontRef idx="minor">
            <a:schemeClr val="tx1"/>
          </a:fontRef>
        </p:style>
      </p:cxnSp>
      <p:sp>
        <p:nvSpPr>
          <p:cNvPr id="13" name="テキスト プレースホルダー 12">
            <a:extLst>
              <a:ext uri="{FF2B5EF4-FFF2-40B4-BE49-F238E27FC236}">
                <a16:creationId xmlns:a16="http://schemas.microsoft.com/office/drawing/2014/main" id="{CAB24DC4-51B5-E2CF-D5F6-70B4E6699C85}"/>
              </a:ext>
            </a:extLst>
          </p:cNvPr>
          <p:cNvSpPr>
            <a:spLocks noGrp="1"/>
          </p:cNvSpPr>
          <p:nvPr>
            <p:ph type="body" sz="quarter" idx="10"/>
          </p:nvPr>
        </p:nvSpPr>
        <p:spPr>
          <a:xfrm>
            <a:off x="132670" y="179162"/>
            <a:ext cx="9640661" cy="253545"/>
          </a:xfrm>
          <a:prstGeom prst="rect">
            <a:avLst/>
          </a:prstGeom>
        </p:spPr>
        <p:txBody>
          <a:bodyPr>
            <a:noAutofit/>
          </a:bodyPr>
          <a:lstStyle>
            <a:lvl1pPr>
              <a:defRPr sz="1714"/>
            </a:lvl1pPr>
          </a:lstStyle>
          <a:p>
            <a:pPr lvl="0"/>
            <a:r>
              <a:rPr kumimoji="1" lang="ja-JP" altLang="en-US" dirty="0"/>
              <a:t>マスター テキストの書式設定</a:t>
            </a:r>
          </a:p>
        </p:txBody>
      </p:sp>
    </p:spTree>
    <p:extLst>
      <p:ext uri="{BB962C8B-B14F-4D97-AF65-F5344CB8AC3E}">
        <p14:creationId xmlns:p14="http://schemas.microsoft.com/office/powerpoint/2010/main" val="1529696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798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4/2/2026</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9696268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6201122" y="455757"/>
            <a:ext cx="3059194" cy="927100"/>
          </a:xfrm>
          <a:prstGeom prst="rect">
            <a:avLst/>
          </a:prstGeom>
        </p:spPr>
      </p:pic>
      <p:sp>
        <p:nvSpPr>
          <p:cNvPr id="4" name="タイトル 1"/>
          <p:cNvSpPr txBox="1"/>
          <p:nvPr/>
        </p:nvSpPr>
        <p:spPr>
          <a:xfrm>
            <a:off x="3536909" y="2228536"/>
            <a:ext cx="3223605" cy="436639"/>
          </a:xfrm>
          <a:prstGeom prst="rect">
            <a:avLst/>
          </a:prstGeom>
          <a:ln>
            <a:solidFill>
              <a:schemeClr val="tx1"/>
            </a:solidFill>
          </a:ln>
        </p:spPr>
        <p:txBody>
          <a:bodyPr vert="horz" wrap="none" lIns="128571" tIns="77143" rIns="128571" bIns="77143" rtlCol="0" anchor="b">
            <a:sp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tabLst>
                <a:tab pos="1973263" algn="l"/>
              </a:tabLst>
            </a:pP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メンテナンス</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（通常版）</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05501-00045</a:t>
            </a:r>
            <a:b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メンテナンス</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CD</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（ライセンス版）</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0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000" dirty="0">
                <a:latin typeface="メイリオ" panose="020B0604030504040204" pitchFamily="50" charset="-128"/>
                <a:ea typeface="メイリオ" panose="020B0604030504040204" pitchFamily="50" charset="-128"/>
                <a:cs typeface="メイリオ" panose="020B0604030504040204" pitchFamily="50" charset="-128"/>
              </a:rPr>
              <a:t>05501-00060</a:t>
            </a:r>
          </a:p>
        </p:txBody>
      </p:sp>
      <p:sp>
        <p:nvSpPr>
          <p:cNvPr id="5" name="テキスト ボックス 4"/>
          <p:cNvSpPr txBox="1"/>
          <p:nvPr/>
        </p:nvSpPr>
        <p:spPr>
          <a:xfrm>
            <a:off x="2276903" y="1617148"/>
            <a:ext cx="5032147" cy="532005"/>
          </a:xfrm>
          <a:prstGeom prst="rect">
            <a:avLst/>
          </a:prstGeom>
          <a:noFill/>
        </p:spPr>
        <p:txBody>
          <a:bodyPr wrap="none" rtlCol="0">
            <a:spAutoFit/>
          </a:bodyPr>
          <a:lstStyle/>
          <a:p>
            <a:pPr algn="ctr"/>
            <a:r>
              <a:rPr lang="en-US" altLang="ja-JP" sz="2857" dirty="0">
                <a:latin typeface="+mn-ea"/>
              </a:rPr>
              <a:t>A13AW </a:t>
            </a:r>
            <a:r>
              <a:rPr lang="ja-JP" altLang="en-US" sz="2571" dirty="0">
                <a:latin typeface="+mn-ea"/>
              </a:rPr>
              <a:t>サービスツール</a:t>
            </a:r>
            <a:r>
              <a:rPr lang="ja-JP" altLang="en-US" sz="2857" dirty="0">
                <a:latin typeface="+mn-ea"/>
              </a:rPr>
              <a:t>動作仕様</a:t>
            </a:r>
            <a:endParaRPr lang="en-US" altLang="ja-JP" sz="2857" dirty="0">
              <a:latin typeface="+mn-ea"/>
            </a:endParaRPr>
          </a:p>
        </p:txBody>
      </p:sp>
      <p:graphicFrame>
        <p:nvGraphicFramePr>
          <p:cNvPr id="3" name="表 2"/>
          <p:cNvGraphicFramePr>
            <a:graphicFrameLocks noGrp="1"/>
          </p:cNvGraphicFramePr>
          <p:nvPr>
            <p:extLst>
              <p:ext uri="{D42A27DB-BD31-4B8C-83A1-F6EECF244321}">
                <p14:modId xmlns:p14="http://schemas.microsoft.com/office/powerpoint/2010/main" val="4033770234"/>
              </p:ext>
            </p:extLst>
          </p:nvPr>
        </p:nvGraphicFramePr>
        <p:xfrm>
          <a:off x="796668" y="2999270"/>
          <a:ext cx="8383354" cy="2984582"/>
        </p:xfrm>
        <a:graphic>
          <a:graphicData uri="http://schemas.openxmlformats.org/drawingml/2006/table">
            <a:tbl>
              <a:tblPr firstRow="1" bandRow="1">
                <a:tableStyleId>{5940675A-B579-460E-94D1-54222C63F5DA}</a:tableStyleId>
              </a:tblPr>
              <a:tblGrid>
                <a:gridCol w="289378">
                  <a:extLst>
                    <a:ext uri="{9D8B030D-6E8A-4147-A177-3AD203B41FA5}">
                      <a16:colId xmlns:a16="http://schemas.microsoft.com/office/drawing/2014/main" val="20000"/>
                    </a:ext>
                  </a:extLst>
                </a:gridCol>
                <a:gridCol w="931021">
                  <a:extLst>
                    <a:ext uri="{9D8B030D-6E8A-4147-A177-3AD203B41FA5}">
                      <a16:colId xmlns:a16="http://schemas.microsoft.com/office/drawing/2014/main" val="20001"/>
                    </a:ext>
                  </a:extLst>
                </a:gridCol>
                <a:gridCol w="576808">
                  <a:extLst>
                    <a:ext uri="{9D8B030D-6E8A-4147-A177-3AD203B41FA5}">
                      <a16:colId xmlns:a16="http://schemas.microsoft.com/office/drawing/2014/main" val="20002"/>
                    </a:ext>
                  </a:extLst>
                </a:gridCol>
                <a:gridCol w="576808">
                  <a:extLst>
                    <a:ext uri="{9D8B030D-6E8A-4147-A177-3AD203B41FA5}">
                      <a16:colId xmlns:a16="http://schemas.microsoft.com/office/drawing/2014/main" val="3549294227"/>
                    </a:ext>
                  </a:extLst>
                </a:gridCol>
                <a:gridCol w="5056402">
                  <a:extLst>
                    <a:ext uri="{9D8B030D-6E8A-4147-A177-3AD203B41FA5}">
                      <a16:colId xmlns:a16="http://schemas.microsoft.com/office/drawing/2014/main" val="20003"/>
                    </a:ext>
                  </a:extLst>
                </a:gridCol>
                <a:gridCol w="952937">
                  <a:extLst>
                    <a:ext uri="{9D8B030D-6E8A-4147-A177-3AD203B41FA5}">
                      <a16:colId xmlns:a16="http://schemas.microsoft.com/office/drawing/2014/main" val="20004"/>
                    </a:ext>
                  </a:extLst>
                </a:gridCol>
              </a:tblGrid>
              <a:tr h="298712">
                <a:tc>
                  <a:txBody>
                    <a:bodyPr/>
                    <a:lstStyle/>
                    <a:p>
                      <a:pPr algn="ctr"/>
                      <a:r>
                        <a:rPr kumimoji="1" lang="en-US" altLang="ja-JP" sz="1000" dirty="0"/>
                        <a:t>Δ</a:t>
                      </a:r>
                      <a:endParaRPr kumimoji="1" lang="ja-JP" altLang="en-US" sz="1000" dirty="0"/>
                    </a:p>
                  </a:txBody>
                  <a:tcPr marL="65314" marR="65314" marT="32657" marB="32657"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ja-JP" altLang="en-US" sz="1000" dirty="0"/>
                        <a:t>設計変更</a:t>
                      </a:r>
                      <a:r>
                        <a:rPr kumimoji="1" lang="en-US" altLang="ja-JP" sz="1000" dirty="0"/>
                        <a:t>NO.</a:t>
                      </a:r>
                      <a:endParaRPr kumimoji="1" lang="ja-JP" altLang="en-US" sz="1000" dirty="0"/>
                    </a:p>
                  </a:txBody>
                  <a:tcPr marL="65314" marR="65314" marT="32657" marB="32657" anchor="ctr"/>
                </a:tc>
                <a:tc>
                  <a:txBody>
                    <a:bodyPr/>
                    <a:lstStyle/>
                    <a:p>
                      <a:pPr algn="ctr"/>
                      <a:r>
                        <a:rPr kumimoji="1" lang="en-US" altLang="ja-JP" sz="1000" dirty="0"/>
                        <a:t>Version</a:t>
                      </a:r>
                      <a:br>
                        <a:rPr kumimoji="1" lang="en-US" altLang="ja-JP" sz="1000" dirty="0"/>
                      </a:br>
                      <a:r>
                        <a:rPr kumimoji="1" lang="ja-JP" altLang="en-US" sz="1000" dirty="0"/>
                        <a:t>通常版</a:t>
                      </a:r>
                    </a:p>
                  </a:txBody>
                  <a:tcPr marL="65314" marR="65314" marT="32657" marB="32657" anchor="ctr"/>
                </a:tc>
                <a:tc>
                  <a:txBody>
                    <a:bodyPr/>
                    <a:lstStyle/>
                    <a:p>
                      <a:pPr algn="ctr"/>
                      <a:r>
                        <a:rPr kumimoji="1" lang="en-US" altLang="ja-JP" sz="1000" dirty="0"/>
                        <a:t>Version</a:t>
                      </a:r>
                    </a:p>
                    <a:p>
                      <a:pPr algn="ctr"/>
                      <a:r>
                        <a:rPr kumimoji="1" lang="ja-JP" altLang="en-US" sz="800" dirty="0"/>
                        <a:t>ライセンス版</a:t>
                      </a:r>
                    </a:p>
                  </a:txBody>
                  <a:tcPr marL="65314" marR="65314" marT="32657" marB="32657" anchor="ctr"/>
                </a:tc>
                <a:tc>
                  <a:txBody>
                    <a:bodyPr/>
                    <a:lstStyle/>
                    <a:p>
                      <a:pPr algn="ctr"/>
                      <a:r>
                        <a:rPr kumimoji="1" lang="ja-JP" altLang="en-US" sz="1000" dirty="0"/>
                        <a:t>変更内容</a:t>
                      </a:r>
                    </a:p>
                  </a:txBody>
                  <a:tcPr marL="65314" marR="65314" marT="32657" marB="32657" anchor="ctr"/>
                </a:tc>
                <a:tc>
                  <a:txBody>
                    <a:bodyPr/>
                    <a:lstStyle/>
                    <a:p>
                      <a:pPr algn="ctr"/>
                      <a:r>
                        <a:rPr kumimoji="1" lang="ja-JP" altLang="en-US" sz="1000" dirty="0"/>
                        <a:t>担当</a:t>
                      </a:r>
                    </a:p>
                  </a:txBody>
                  <a:tcPr marL="65314" marR="65314" marT="32657" marB="32657" anchor="ctr"/>
                </a:tc>
                <a:extLst>
                  <a:ext uri="{0D108BD9-81ED-4DB2-BD59-A6C34878D82A}">
                    <a16:rowId xmlns:a16="http://schemas.microsoft.com/office/drawing/2014/main" val="10000"/>
                  </a:ext>
                </a:extLst>
              </a:tr>
              <a:tr h="298712">
                <a:tc>
                  <a:txBody>
                    <a:bodyPr/>
                    <a:lstStyle/>
                    <a:p>
                      <a:pPr lvl="0" algn="ctr">
                        <a:buNone/>
                      </a:pPr>
                      <a:endParaRPr kumimoji="1" lang="en-US" altLang="ja-JP" sz="1000" dirty="0"/>
                    </a:p>
                  </a:txBody>
                  <a:tcPr marL="65313" marR="65313" marT="32656" marB="32656" anchor="ctr"/>
                </a:tc>
                <a:tc>
                  <a:txBody>
                    <a:bodyPr/>
                    <a:lstStyle/>
                    <a:p>
                      <a:pPr marL="0" lvl="0" indent="0" algn="ctr" defTabSz="914400">
                        <a:lnSpc>
                          <a:spcPct val="100000"/>
                        </a:lnSpc>
                        <a:spcBef>
                          <a:spcPts val="0"/>
                        </a:spcBef>
                        <a:spcAft>
                          <a:spcPts val="0"/>
                        </a:spcAft>
                        <a:buNone/>
                        <a:defRPr/>
                      </a:pPr>
                      <a:endParaRPr kumimoji="1" lang="en-US" altLang="ja-JP" sz="1000" dirty="0"/>
                    </a:p>
                  </a:txBody>
                  <a:tcPr marL="65313" marR="65313" marT="32656" marB="32656" anchor="ctr"/>
                </a:tc>
                <a:tc>
                  <a:txBody>
                    <a:bodyPr/>
                    <a:lstStyle/>
                    <a:p>
                      <a:pPr lvl="0" algn="ctr">
                        <a:buNone/>
                      </a:pPr>
                      <a:endParaRPr kumimoji="1" lang="ja-JP" altLang="en-US" sz="1000" dirty="0"/>
                    </a:p>
                  </a:txBody>
                  <a:tcPr marL="65313" marR="65313" marT="32656" marB="32656" anchor="ctr"/>
                </a:tc>
                <a:tc>
                  <a:txBody>
                    <a:bodyPr/>
                    <a:lstStyle/>
                    <a:p>
                      <a:pPr lvl="0" algn="ctr">
                        <a:buNone/>
                      </a:pPr>
                      <a:endParaRPr kumimoji="1" lang="ja-JP" altLang="en-US" sz="800" dirty="0"/>
                    </a:p>
                  </a:txBody>
                  <a:tcPr marL="65313" marR="65313" marT="32656" marB="32656" anchor="ctr"/>
                </a:tc>
                <a:tc>
                  <a:txBody>
                    <a:bodyPr/>
                    <a:lstStyle/>
                    <a:p>
                      <a:pPr lvl="0" algn="ctr">
                        <a:buNone/>
                      </a:pPr>
                      <a:endParaRPr kumimoji="1" lang="ja-JP" altLang="en-US" sz="1000" dirty="0"/>
                    </a:p>
                  </a:txBody>
                  <a:tcPr marL="65313" marR="65313" marT="32656" marB="32656" anchor="ctr"/>
                </a:tc>
                <a:tc>
                  <a:txBody>
                    <a:bodyPr/>
                    <a:lstStyle/>
                    <a:p>
                      <a:pPr lvl="0" algn="ctr">
                        <a:buNone/>
                      </a:pPr>
                      <a:endParaRPr kumimoji="1" lang="ja-JP" altLang="en-US" sz="1000" dirty="0"/>
                    </a:p>
                  </a:txBody>
                  <a:tcPr marL="65313" marR="65313" marT="32656" marB="32656" anchor="ctr"/>
                </a:tc>
                <a:extLst>
                  <a:ext uri="{0D108BD9-81ED-4DB2-BD59-A6C34878D82A}">
                    <a16:rowId xmlns:a16="http://schemas.microsoft.com/office/drawing/2014/main" val="1767315788"/>
                  </a:ext>
                </a:extLst>
              </a:tr>
              <a:tr h="264886">
                <a:tc>
                  <a:txBody>
                    <a:bodyPr/>
                    <a:lstStyle/>
                    <a:p>
                      <a:pPr algn="ctr"/>
                      <a:r>
                        <a:rPr kumimoji="1" lang="en-US" altLang="ja-JP" sz="1000" dirty="0"/>
                        <a:t>00</a:t>
                      </a:r>
                      <a:endParaRPr kumimoji="1" lang="ja-JP" altLang="en-US" sz="1000" dirty="0"/>
                    </a:p>
                  </a:txBody>
                  <a:tcPr marL="65314" marR="65314" marT="32657" marB="32657"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kumimoji="1" lang="ja-JP" altLang="en-US" sz="1000" dirty="0"/>
                    </a:p>
                  </a:txBody>
                  <a:tcPr marL="65314" marR="65314" marT="32657" marB="32657" anchor="ctr"/>
                </a:tc>
                <a:tc>
                  <a:txBody>
                    <a:bodyPr/>
                    <a:lstStyle/>
                    <a:p>
                      <a:pPr algn="ctr"/>
                      <a:r>
                        <a:rPr kumimoji="1" lang="en-US" altLang="ja-JP" sz="1000" dirty="0"/>
                        <a:t>0.13</a:t>
                      </a:r>
                      <a:endParaRPr kumimoji="1" lang="ja-JP" altLang="en-US" sz="1000" dirty="0"/>
                    </a:p>
                  </a:txBody>
                  <a:tcPr marL="65314" marR="65314" marT="32657" marB="32657" anchor="ctr"/>
                </a:tc>
                <a:tc>
                  <a:txBody>
                    <a:bodyPr/>
                    <a:lstStyle/>
                    <a:p>
                      <a:pPr algn="ctr"/>
                      <a:r>
                        <a:rPr kumimoji="1" lang="en-US" altLang="ja-JP" sz="1000" dirty="0"/>
                        <a:t>-</a:t>
                      </a:r>
                      <a:endParaRPr kumimoji="1" lang="ja-JP" altLang="en-US" sz="1000" dirty="0"/>
                    </a:p>
                  </a:txBody>
                  <a:tcPr marL="65314" marR="65314" marT="32657" marB="32657" anchor="ctr"/>
                </a:tc>
                <a:tc>
                  <a:txBody>
                    <a:bodyPr/>
                    <a:lstStyle/>
                    <a:p>
                      <a:pPr algn="l"/>
                      <a:r>
                        <a:rPr kumimoji="1" lang="ja-JP" altLang="en-US" sz="1000" dirty="0"/>
                        <a:t>機能確認試験用として作成</a:t>
                      </a:r>
                    </a:p>
                  </a:txBody>
                  <a:tcPr marL="65314" marR="65314" marT="32657" marB="32657" anchor="ctr"/>
                </a:tc>
                <a:tc>
                  <a:txBody>
                    <a:bodyPr/>
                    <a:lstStyle/>
                    <a:p>
                      <a:pPr algn="ctr"/>
                      <a:r>
                        <a:rPr kumimoji="1" lang="ja-JP" altLang="en-US" sz="1000" dirty="0"/>
                        <a:t>渡辺（孝）</a:t>
                      </a:r>
                    </a:p>
                  </a:txBody>
                  <a:tcPr marL="65314" marR="65314" marT="32657" marB="32657" anchor="ctr"/>
                </a:tc>
                <a:extLst>
                  <a:ext uri="{0D108BD9-81ED-4DB2-BD59-A6C34878D82A}">
                    <a16:rowId xmlns:a16="http://schemas.microsoft.com/office/drawing/2014/main" val="10001"/>
                  </a:ext>
                </a:extLst>
              </a:tr>
              <a:tr h="264886">
                <a:tc>
                  <a:txBody>
                    <a:bodyPr/>
                    <a:lstStyle/>
                    <a:p>
                      <a:pPr algn="ctr"/>
                      <a:r>
                        <a:rPr kumimoji="1" lang="en-US" altLang="ja-JP" sz="1000" dirty="0"/>
                        <a:t>01</a:t>
                      </a:r>
                      <a:endParaRPr kumimoji="1" lang="ja-JP" altLang="en-US" sz="1000" dirty="0"/>
                    </a:p>
                  </a:txBody>
                  <a:tcPr marL="65314" marR="65314" marT="32657" marB="32657" anchor="ctr"/>
                </a:tc>
                <a:tc>
                  <a:txBody>
                    <a:bodyPr/>
                    <a:lstStyle/>
                    <a:p>
                      <a:pPr algn="ctr"/>
                      <a:endParaRPr kumimoji="1" lang="ja-JP" altLang="en-US" sz="1000" dirty="0"/>
                    </a:p>
                  </a:txBody>
                  <a:tcPr marL="65314" marR="65314" marT="32657" marB="32657" anchor="ctr"/>
                </a:tc>
                <a:tc>
                  <a:txBody>
                    <a:bodyPr/>
                    <a:lstStyle/>
                    <a:p>
                      <a:pPr algn="ctr"/>
                      <a:r>
                        <a:rPr kumimoji="1" lang="en-US" altLang="ja-JP" sz="1000" dirty="0"/>
                        <a:t>0.14</a:t>
                      </a:r>
                      <a:endParaRPr kumimoji="1" lang="ja-JP" altLang="en-US" sz="1000" dirty="0"/>
                    </a:p>
                  </a:txBody>
                  <a:tcPr marL="65314" marR="65314" marT="32657" marB="32657" anchor="ctr"/>
                </a:tc>
                <a:tc>
                  <a:txBody>
                    <a:bodyPr/>
                    <a:lstStyle/>
                    <a:p>
                      <a:pPr algn="ctr"/>
                      <a:r>
                        <a:rPr kumimoji="1" lang="en-US" altLang="ja-JP" sz="1000" dirty="0"/>
                        <a:t>-</a:t>
                      </a:r>
                      <a:endParaRPr kumimoji="1" lang="ja-JP" altLang="en-US" sz="1000" dirty="0"/>
                    </a:p>
                  </a:txBody>
                  <a:tcPr marL="65314" marR="65314" marT="32657" marB="326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t>多機能グリップの割当にブームサスペンション機能を追加</a:t>
                      </a: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t>氏家</a:t>
                      </a:r>
                    </a:p>
                  </a:txBody>
                  <a:tcPr marL="65314" marR="65314" marT="32657" marB="32657" anchor="ctr"/>
                </a:tc>
                <a:extLst>
                  <a:ext uri="{0D108BD9-81ED-4DB2-BD59-A6C34878D82A}">
                    <a16:rowId xmlns:a16="http://schemas.microsoft.com/office/drawing/2014/main" val="10002"/>
                  </a:ext>
                </a:extLst>
              </a:tr>
              <a:tr h="264886">
                <a:tc>
                  <a:txBody>
                    <a:bodyPr/>
                    <a:lstStyle/>
                    <a:p>
                      <a:pPr algn="ctr"/>
                      <a:r>
                        <a:rPr kumimoji="1" lang="en-US" altLang="ja-JP" sz="1000" dirty="0"/>
                        <a:t>02</a:t>
                      </a:r>
                      <a:endParaRPr kumimoji="1" lang="ja-JP" altLang="en-US" sz="1000" dirty="0"/>
                    </a:p>
                  </a:txBody>
                  <a:tcPr marL="65314" marR="65314" marT="32657" marB="32657" anchor="ctr"/>
                </a:tc>
                <a:tc>
                  <a:txBody>
                    <a:bodyPr/>
                    <a:lstStyle/>
                    <a:p>
                      <a:pPr algn="ctr"/>
                      <a:endParaRPr kumimoji="1" lang="ja-JP" altLang="en-US" sz="1000" dirty="0"/>
                    </a:p>
                  </a:txBody>
                  <a:tcPr marL="65314" marR="65314" marT="32657" marB="32657" anchor="ctr"/>
                </a:tc>
                <a:tc>
                  <a:txBody>
                    <a:bodyPr/>
                    <a:lstStyle/>
                    <a:p>
                      <a:pPr algn="ctr"/>
                      <a:r>
                        <a:rPr kumimoji="1" lang="en-US" altLang="ja-JP" sz="1000" dirty="0"/>
                        <a:t>0.16</a:t>
                      </a:r>
                      <a:endParaRPr kumimoji="1" lang="ja-JP" altLang="en-US" sz="1000" dirty="0"/>
                    </a:p>
                  </a:txBody>
                  <a:tcPr marL="65314" marR="65314" marT="32657" marB="32657" anchor="ctr"/>
                </a:tc>
                <a:tc>
                  <a:txBody>
                    <a:bodyPr/>
                    <a:lstStyle/>
                    <a:p>
                      <a:pPr algn="ctr"/>
                      <a:r>
                        <a:rPr kumimoji="1" lang="en-US" altLang="ja-JP" sz="1000" dirty="0"/>
                        <a:t>-</a:t>
                      </a:r>
                      <a:endParaRPr kumimoji="1" lang="ja-JP" altLang="en-US" sz="1000" dirty="0"/>
                    </a:p>
                  </a:txBody>
                  <a:tcPr marL="65314" marR="65314" marT="32657" marB="32657" anchor="ctr"/>
                </a:tc>
                <a:tc>
                  <a:txBody>
                    <a:bodyPr/>
                    <a:lstStyle/>
                    <a:p>
                      <a:pPr algn="l"/>
                      <a:r>
                        <a:rPr kumimoji="1" lang="ja-JP" altLang="en-US" sz="1000" dirty="0"/>
                        <a:t>機能確認試験での指摘項目を修正</a:t>
                      </a:r>
                      <a:endParaRPr kumimoji="1" lang="en-US" altLang="ja-JP" sz="1000" dirty="0"/>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t>渡辺（孝）</a:t>
                      </a:r>
                    </a:p>
                  </a:txBody>
                  <a:tcPr marL="65314" marR="65314" marT="32657" marB="32657" anchor="ctr"/>
                </a:tc>
                <a:extLst>
                  <a:ext uri="{0D108BD9-81ED-4DB2-BD59-A6C34878D82A}">
                    <a16:rowId xmlns:a16="http://schemas.microsoft.com/office/drawing/2014/main" val="10003"/>
                  </a:ext>
                </a:extLst>
              </a:tr>
              <a:tr h="264886">
                <a:tc>
                  <a:txBody>
                    <a:bodyPr/>
                    <a:lstStyle/>
                    <a:p>
                      <a:pPr algn="ctr"/>
                      <a:r>
                        <a:rPr kumimoji="1" lang="en-US" altLang="ja-JP" sz="1000" dirty="0"/>
                        <a:t>03</a:t>
                      </a:r>
                    </a:p>
                  </a:txBody>
                  <a:tcPr marL="65314" marR="65314" marT="32657" marB="32657" anchor="ctr"/>
                </a:tc>
                <a:tc>
                  <a:txBody>
                    <a:bodyPr/>
                    <a:lstStyle/>
                    <a:p>
                      <a:pPr algn="ctr"/>
                      <a:endParaRPr kumimoji="1" lang="ja-JP" altLang="en-US" sz="1000" dirty="0"/>
                    </a:p>
                  </a:txBody>
                  <a:tcPr marL="65314" marR="65314" marT="32657" marB="32657" anchor="ctr"/>
                </a:tc>
                <a:tc>
                  <a:txBody>
                    <a:bodyPr/>
                    <a:lstStyle/>
                    <a:p>
                      <a:pPr algn="ctr"/>
                      <a:r>
                        <a:rPr kumimoji="1" lang="en-US" altLang="ja-JP" sz="1000" dirty="0"/>
                        <a:t>1.00</a:t>
                      </a:r>
                      <a:endParaRPr kumimoji="1" lang="ja-JP" altLang="en-US" sz="1000" dirty="0"/>
                    </a:p>
                  </a:txBody>
                  <a:tcPr marL="65314" marR="65314" marT="32657" marB="32657" anchor="ctr"/>
                </a:tc>
                <a:tc>
                  <a:txBody>
                    <a:bodyPr/>
                    <a:lstStyle/>
                    <a:p>
                      <a:pPr algn="ctr"/>
                      <a:r>
                        <a:rPr kumimoji="1" lang="en-US" altLang="ja-JP" sz="1000" dirty="0"/>
                        <a:t>-</a:t>
                      </a:r>
                      <a:endParaRPr kumimoji="1" lang="ja-JP" altLang="en-US" sz="1000" dirty="0"/>
                    </a:p>
                  </a:txBody>
                  <a:tcPr marL="65314" marR="65314" marT="32657" marB="32657" anchor="ctr"/>
                </a:tc>
                <a:tc>
                  <a:txBody>
                    <a:bodyPr/>
                    <a:lstStyle/>
                    <a:p>
                      <a:pPr algn="l"/>
                      <a:r>
                        <a:rPr kumimoji="1" lang="ja-JP" altLang="en-US" sz="1000" dirty="0"/>
                        <a:t>量産パイロット機のプログラム変更を反映し、量産仕様として出図</a:t>
                      </a: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t>渡辺（孝）</a:t>
                      </a:r>
                    </a:p>
                  </a:txBody>
                  <a:tcPr marL="65314" marR="65314" marT="32657" marB="32657" anchor="ctr"/>
                </a:tc>
                <a:extLst>
                  <a:ext uri="{0D108BD9-81ED-4DB2-BD59-A6C34878D82A}">
                    <a16:rowId xmlns:a16="http://schemas.microsoft.com/office/drawing/2014/main" val="10004"/>
                  </a:ext>
                </a:extLst>
              </a:tr>
              <a:tr h="264886">
                <a:tc>
                  <a:txBody>
                    <a:bodyPr/>
                    <a:lstStyle/>
                    <a:p>
                      <a:pPr algn="ctr"/>
                      <a:r>
                        <a:rPr kumimoji="1" lang="en-US" altLang="ja-JP" sz="1000" dirty="0"/>
                        <a:t>04</a:t>
                      </a:r>
                    </a:p>
                  </a:txBody>
                  <a:tcPr marL="65314" marR="65314" marT="32657" marB="32657" anchor="ctr"/>
                </a:tc>
                <a:tc>
                  <a:txBody>
                    <a:bodyPr/>
                    <a:lstStyle/>
                    <a:p>
                      <a:pPr algn="ctr"/>
                      <a:r>
                        <a:rPr kumimoji="1" lang="en-US" altLang="ja-JP" sz="1000" dirty="0"/>
                        <a:t>61744</a:t>
                      </a:r>
                      <a:endParaRPr kumimoji="1" lang="ja-JP" altLang="en-US" sz="1000" dirty="0"/>
                    </a:p>
                  </a:txBody>
                  <a:tcPr marL="65314" marR="65314" marT="32657" marB="32657" anchor="ctr"/>
                </a:tc>
                <a:tc>
                  <a:txBody>
                    <a:bodyPr/>
                    <a:lstStyle/>
                    <a:p>
                      <a:pPr algn="ctr"/>
                      <a:r>
                        <a:rPr kumimoji="1" lang="en-US" altLang="ja-JP" sz="1000" dirty="0"/>
                        <a:t>1.00</a:t>
                      </a:r>
                      <a:endParaRPr kumimoji="1" lang="ja-JP" altLang="en-US" sz="1000" dirty="0"/>
                    </a:p>
                  </a:txBody>
                  <a:tcPr marL="65314" marR="65314" marT="32657" marB="32657" anchor="ctr"/>
                </a:tc>
                <a:tc>
                  <a:txBody>
                    <a:bodyPr/>
                    <a:lstStyle/>
                    <a:p>
                      <a:pPr algn="ctr"/>
                      <a:r>
                        <a:rPr kumimoji="1" lang="en-US" altLang="ja-JP" sz="1000" dirty="0"/>
                        <a:t>-</a:t>
                      </a:r>
                      <a:endParaRPr kumimoji="1" lang="ja-JP" altLang="en-US" sz="1000" dirty="0"/>
                    </a:p>
                  </a:txBody>
                  <a:tcPr marL="65314" marR="65314" marT="32657" marB="32657" anchor="ctr"/>
                </a:tc>
                <a:tc>
                  <a:txBody>
                    <a:bodyPr/>
                    <a:lstStyle/>
                    <a:p>
                      <a:pPr algn="l"/>
                      <a:r>
                        <a:rPr kumimoji="1" lang="ja-JP" altLang="en-US" sz="1000" dirty="0"/>
                        <a:t>指摘事項修正</a:t>
                      </a: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t>渡辺（孝）</a:t>
                      </a:r>
                    </a:p>
                  </a:txBody>
                  <a:tcPr marL="65314" marR="65314" marT="32657" marB="32657" anchor="ctr"/>
                </a:tc>
                <a:extLst>
                  <a:ext uri="{0D108BD9-81ED-4DB2-BD59-A6C34878D82A}">
                    <a16:rowId xmlns:a16="http://schemas.microsoft.com/office/drawing/2014/main" val="10005"/>
                  </a:ext>
                </a:extLst>
              </a:tr>
              <a:tr h="264886">
                <a:tc>
                  <a:txBody>
                    <a:bodyPr/>
                    <a:lstStyle/>
                    <a:p>
                      <a:pPr algn="ctr"/>
                      <a:r>
                        <a:rPr kumimoji="1" lang="en-US" altLang="ja-JP" sz="1000" dirty="0">
                          <a:solidFill>
                            <a:schemeClr val="tx1"/>
                          </a:solidFill>
                        </a:rPr>
                        <a:t>05</a:t>
                      </a:r>
                    </a:p>
                  </a:txBody>
                  <a:tcPr marL="65314" marR="65314" marT="32657" marB="32657" anchor="ctr"/>
                </a:tc>
                <a:tc>
                  <a:txBody>
                    <a:bodyPr/>
                    <a:lstStyle/>
                    <a:p>
                      <a:pPr algn="ctr"/>
                      <a:r>
                        <a:rPr kumimoji="1" lang="en-US" altLang="ja-JP" sz="1000" dirty="0">
                          <a:solidFill>
                            <a:schemeClr val="tx1"/>
                          </a:solidFill>
                        </a:rPr>
                        <a:t>62575</a:t>
                      </a:r>
                      <a:endParaRPr kumimoji="1" lang="ja-JP" altLang="en-US" sz="1000" dirty="0">
                        <a:solidFill>
                          <a:schemeClr val="tx1"/>
                        </a:solidFill>
                      </a:endParaRPr>
                    </a:p>
                  </a:txBody>
                  <a:tcPr marL="65314" marR="65314" marT="32657" marB="32657" anchor="ctr"/>
                </a:tc>
                <a:tc>
                  <a:txBody>
                    <a:bodyPr/>
                    <a:lstStyle/>
                    <a:p>
                      <a:pPr algn="ctr"/>
                      <a:r>
                        <a:rPr kumimoji="1" lang="en-US" altLang="ja-JP" sz="1000" dirty="0">
                          <a:solidFill>
                            <a:schemeClr val="tx1"/>
                          </a:solidFill>
                        </a:rPr>
                        <a:t>1.01</a:t>
                      </a:r>
                      <a:endParaRPr kumimoji="1" lang="ja-JP" altLang="en-US" sz="1000" dirty="0">
                        <a:solidFill>
                          <a:schemeClr val="tx1"/>
                        </a:solidFill>
                      </a:endParaRPr>
                    </a:p>
                  </a:txBody>
                  <a:tcPr marL="65314" marR="65314" marT="32657" marB="32657" anchor="ctr"/>
                </a:tc>
                <a:tc>
                  <a:txBody>
                    <a:bodyPr/>
                    <a:lstStyle/>
                    <a:p>
                      <a:pPr algn="ctr"/>
                      <a:r>
                        <a:rPr kumimoji="1" lang="en-US" altLang="ja-JP" sz="1000" dirty="0">
                          <a:solidFill>
                            <a:schemeClr val="tx1"/>
                          </a:solidFill>
                        </a:rPr>
                        <a:t>1.00</a:t>
                      </a:r>
                      <a:endParaRPr kumimoji="1" lang="ja-JP" altLang="en-US" sz="1000" dirty="0">
                        <a:solidFill>
                          <a:schemeClr val="tx1"/>
                        </a:solidFill>
                      </a:endParaRPr>
                    </a:p>
                  </a:txBody>
                  <a:tcPr marL="65314" marR="65314" marT="32657" marB="326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rPr>
                        <a:t>ライセンス版出図</a:t>
                      </a:r>
                      <a:r>
                        <a:rPr lang="en-US" altLang="ja-JP" sz="1000" dirty="0">
                          <a:solidFill>
                            <a:schemeClr val="tx1"/>
                          </a:solidFill>
                        </a:rPr>
                        <a:t>,</a:t>
                      </a:r>
                      <a:r>
                        <a:rPr kumimoji="1" lang="ja-JP" altLang="en-US" sz="1000" dirty="0">
                          <a:solidFill>
                            <a:schemeClr val="tx1"/>
                          </a:solidFill>
                        </a:rPr>
                        <a:t>誤記訂正</a:t>
                      </a:r>
                      <a:r>
                        <a:rPr kumimoji="1" lang="en-US" altLang="ja-JP" sz="1000" dirty="0">
                          <a:solidFill>
                            <a:schemeClr val="tx1"/>
                          </a:solidFill>
                        </a:rPr>
                        <a:t>,</a:t>
                      </a:r>
                      <a:r>
                        <a:rPr lang="en-US" altLang="ja-JP" sz="1000" dirty="0">
                          <a:solidFill>
                            <a:schemeClr val="tx1"/>
                          </a:solidFill>
                        </a:rPr>
                        <a:t> Vehicle status</a:t>
                      </a:r>
                      <a:r>
                        <a:rPr lang="ja-JP" altLang="en-US" sz="1000" dirty="0">
                          <a:solidFill>
                            <a:schemeClr val="tx1"/>
                          </a:solidFill>
                        </a:rPr>
                        <a:t>画面項目名変更</a:t>
                      </a:r>
                      <a:endParaRPr lang="en-US" altLang="ja-JP" sz="1000" dirty="0">
                        <a:solidFill>
                          <a:schemeClr val="tx1"/>
                        </a:solidFill>
                      </a:endParaRP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rPr>
                        <a:t>渡辺（孝）</a:t>
                      </a:r>
                    </a:p>
                  </a:txBody>
                  <a:tcPr marL="65314" marR="65314" marT="32657" marB="32657" anchor="ctr"/>
                </a:tc>
                <a:extLst>
                  <a:ext uri="{0D108BD9-81ED-4DB2-BD59-A6C34878D82A}">
                    <a16:rowId xmlns:a16="http://schemas.microsoft.com/office/drawing/2014/main" val="10006"/>
                  </a:ext>
                </a:extLst>
              </a:tr>
              <a:tr h="264886">
                <a:tc>
                  <a:txBody>
                    <a:bodyPr/>
                    <a:lstStyle/>
                    <a:p>
                      <a:pPr algn="ctr"/>
                      <a:r>
                        <a:rPr kumimoji="1" lang="en-US" altLang="ja-JP" sz="1000" dirty="0">
                          <a:solidFill>
                            <a:schemeClr val="tx1"/>
                          </a:solidFill>
                        </a:rPr>
                        <a:t>06</a:t>
                      </a:r>
                    </a:p>
                  </a:txBody>
                  <a:tcPr marL="65314" marR="65314" marT="32657" marB="32657" anchor="ctr"/>
                </a:tc>
                <a:tc>
                  <a:txBody>
                    <a:bodyPr/>
                    <a:lstStyle/>
                    <a:p>
                      <a:pPr lvl="0" algn="ctr">
                        <a:buNone/>
                      </a:pPr>
                      <a:r>
                        <a:rPr lang="ja-JP" sz="1000" b="0" i="0" u="none" strike="noStrike" baseline="0" noProof="0" dirty="0">
                          <a:solidFill>
                            <a:schemeClr val="tx1"/>
                          </a:solidFill>
                          <a:latin typeface="游ゴシック"/>
                          <a:ea typeface="游ゴシック"/>
                        </a:rPr>
                        <a:t>63514</a:t>
                      </a:r>
                      <a:endParaRPr kumimoji="1" lang="en-US" dirty="0">
                        <a:solidFill>
                          <a:schemeClr val="tx1"/>
                        </a:solidFill>
                      </a:endParaRPr>
                    </a:p>
                  </a:txBody>
                  <a:tcPr marL="65314" marR="65314" marT="32657" marB="32657" anchor="ctr"/>
                </a:tc>
                <a:tc>
                  <a:txBody>
                    <a:bodyPr/>
                    <a:lstStyle/>
                    <a:p>
                      <a:pPr algn="ctr"/>
                      <a:r>
                        <a:rPr kumimoji="1" lang="en-US" altLang="ja-JP" sz="1000">
                          <a:solidFill>
                            <a:schemeClr val="tx1"/>
                          </a:solidFill>
                        </a:rPr>
                        <a:t>1.02</a:t>
                      </a:r>
                      <a:endParaRPr kumimoji="1" lang="ja-JP" altLang="en-US" sz="1000" dirty="0">
                        <a:solidFill>
                          <a:schemeClr val="tx1"/>
                        </a:solidFill>
                      </a:endParaRPr>
                    </a:p>
                  </a:txBody>
                  <a:tcPr marL="65314" marR="65314" marT="32657" marB="32657" anchor="ctr"/>
                </a:tc>
                <a:tc>
                  <a:txBody>
                    <a:bodyPr/>
                    <a:lstStyle/>
                    <a:p>
                      <a:pPr algn="ctr"/>
                      <a:r>
                        <a:rPr kumimoji="1" lang="en-US" altLang="ja-JP" sz="1000" dirty="0">
                          <a:solidFill>
                            <a:schemeClr val="tx1"/>
                          </a:solidFill>
                        </a:rPr>
                        <a:t>1.01</a:t>
                      </a:r>
                      <a:endParaRPr kumimoji="1" lang="ja-JP" altLang="en-US" sz="1000" dirty="0">
                        <a:solidFill>
                          <a:schemeClr val="tx1"/>
                        </a:solidFill>
                      </a:endParaRPr>
                    </a:p>
                  </a:txBody>
                  <a:tcPr marL="65314" marR="65314" marT="32657" marB="32657" anchor="ctr"/>
                </a:tc>
                <a:tc>
                  <a:txBody>
                    <a:bodyPr/>
                    <a:lstStyle/>
                    <a:p>
                      <a:pPr algn="l"/>
                      <a:r>
                        <a:rPr lang="ja-JP" altLang="en-US" sz="1000" dirty="0">
                          <a:solidFill>
                            <a:schemeClr val="tx1"/>
                          </a:solidFill>
                        </a:rPr>
                        <a:t>緊急ステアリングソレノイド</a:t>
                      </a:r>
                      <a:endParaRPr lang="en-US" altLang="ja-JP" sz="1000" dirty="0">
                        <a:solidFill>
                          <a:schemeClr val="tx1"/>
                        </a:solidFill>
                      </a:endParaRPr>
                    </a:p>
                    <a:p>
                      <a:pPr algn="l"/>
                      <a:r>
                        <a:rPr lang="ja-JP" altLang="en-US" sz="1000" dirty="0">
                          <a:solidFill>
                            <a:schemeClr val="tx1"/>
                          </a:solidFill>
                        </a:rPr>
                        <a:t>起動時</a:t>
                      </a:r>
                      <a:r>
                        <a:rPr kumimoji="1" lang="ja-JP" altLang="en-US" sz="1000" dirty="0">
                          <a:solidFill>
                            <a:schemeClr val="tx1"/>
                          </a:solidFill>
                        </a:rPr>
                        <a:t>スイング</a:t>
                      </a:r>
                      <a:r>
                        <a:rPr kumimoji="1" lang="en-US" altLang="ja-JP" sz="1000" dirty="0">
                          <a:solidFill>
                            <a:schemeClr val="tx1"/>
                          </a:solidFill>
                        </a:rPr>
                        <a:t>/</a:t>
                      </a:r>
                      <a:r>
                        <a:rPr kumimoji="1" lang="ja-JP" altLang="en-US" sz="1000" dirty="0">
                          <a:solidFill>
                            <a:schemeClr val="tx1"/>
                          </a:solidFill>
                        </a:rPr>
                        <a:t>アジャスト切り替え機能追加</a:t>
                      </a:r>
                      <a:endParaRPr kumimoji="1" lang="en-US" altLang="ja-JP" dirty="0">
                        <a:solidFill>
                          <a:schemeClr val="tx1"/>
                        </a:solidFill>
                      </a:endParaRP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solidFill>
                            <a:schemeClr val="tx1"/>
                          </a:solidFill>
                        </a:rPr>
                        <a:t>星野</a:t>
                      </a:r>
                      <a:endParaRPr kumimoji="1" lang="en-US" altLang="ja-JP" sz="1000" dirty="0">
                        <a:solidFill>
                          <a:schemeClr val="tx1"/>
                        </a:solidFill>
                      </a:endParaRPr>
                    </a:p>
                  </a:txBody>
                  <a:tcPr marL="65314" marR="65314" marT="32657" marB="32657" anchor="ctr"/>
                </a:tc>
                <a:extLst>
                  <a:ext uri="{0D108BD9-81ED-4DB2-BD59-A6C34878D82A}">
                    <a16:rowId xmlns:a16="http://schemas.microsoft.com/office/drawing/2014/main" val="10007"/>
                  </a:ext>
                </a:extLst>
              </a:tr>
              <a:tr h="264886">
                <a:tc>
                  <a:txBody>
                    <a:bodyPr/>
                    <a:lstStyle/>
                    <a:p>
                      <a:pPr algn="ctr"/>
                      <a:r>
                        <a:rPr kumimoji="1" lang="en-US" altLang="ja-JP" sz="1000" dirty="0">
                          <a:solidFill>
                            <a:srgbClr val="FF0000"/>
                          </a:solidFill>
                        </a:rPr>
                        <a:t>07</a:t>
                      </a:r>
                    </a:p>
                  </a:txBody>
                  <a:tcPr marL="65314" marR="65314" marT="32657" marB="32657" anchor="ctr"/>
                </a:tc>
                <a:tc>
                  <a:txBody>
                    <a:bodyPr/>
                    <a:lstStyle/>
                    <a:p>
                      <a:pPr algn="ctr"/>
                      <a:r>
                        <a:rPr kumimoji="1" lang="en-US" altLang="ja-JP" sz="1000" dirty="0">
                          <a:solidFill>
                            <a:srgbClr val="FF0000"/>
                          </a:solidFill>
                        </a:rPr>
                        <a:t>64239</a:t>
                      </a:r>
                      <a:endParaRPr kumimoji="1" lang="ja-JP" altLang="en-US" sz="1000" dirty="0">
                        <a:solidFill>
                          <a:srgbClr val="FF0000"/>
                        </a:solidFill>
                      </a:endParaRPr>
                    </a:p>
                  </a:txBody>
                  <a:tcPr marL="65314" marR="65314" marT="32657" marB="32657" anchor="ctr"/>
                </a:tc>
                <a:tc>
                  <a:txBody>
                    <a:bodyPr/>
                    <a:lstStyle/>
                    <a:p>
                      <a:pPr algn="ctr"/>
                      <a:r>
                        <a:rPr kumimoji="1" lang="en-US" altLang="ja-JP" sz="1000" dirty="0">
                          <a:solidFill>
                            <a:srgbClr val="FF0000"/>
                          </a:solidFill>
                        </a:rPr>
                        <a:t>1.03</a:t>
                      </a:r>
                      <a:endParaRPr kumimoji="1" lang="ja-JP" altLang="en-US" sz="1000" dirty="0">
                        <a:solidFill>
                          <a:srgbClr val="FF0000"/>
                        </a:solidFill>
                      </a:endParaRPr>
                    </a:p>
                  </a:txBody>
                  <a:tcPr marL="65314" marR="65314" marT="32657" marB="32657" anchor="ctr"/>
                </a:tc>
                <a:tc>
                  <a:txBody>
                    <a:bodyPr/>
                    <a:lstStyle/>
                    <a:p>
                      <a:pPr algn="ctr"/>
                      <a:r>
                        <a:rPr kumimoji="1" lang="en-US" altLang="ja-JP" sz="1000" dirty="0">
                          <a:solidFill>
                            <a:srgbClr val="FF0000"/>
                          </a:solidFill>
                        </a:rPr>
                        <a:t>1.03</a:t>
                      </a:r>
                      <a:endParaRPr kumimoji="1" lang="ja-JP" altLang="en-US" sz="1000" dirty="0">
                        <a:solidFill>
                          <a:srgbClr val="FF0000"/>
                        </a:solidFill>
                      </a:endParaRPr>
                    </a:p>
                  </a:txBody>
                  <a:tcPr marL="65314" marR="65314" marT="32657" marB="32657" anchor="ctr"/>
                </a:tc>
                <a:tc>
                  <a:txBody>
                    <a:bodyPr/>
                    <a:lstStyle/>
                    <a:p>
                      <a:pPr algn="l"/>
                      <a:r>
                        <a:rPr kumimoji="1" lang="ja-JP" altLang="en-US" sz="1000" dirty="0">
                          <a:solidFill>
                            <a:srgbClr val="FF0000"/>
                          </a:solidFill>
                        </a:rPr>
                        <a:t>拡張出力追加対応</a:t>
                      </a:r>
                      <a:r>
                        <a:rPr kumimoji="1" lang="en-US" altLang="ja-JP" sz="1000" dirty="0">
                          <a:solidFill>
                            <a:srgbClr val="FF0000"/>
                          </a:solidFill>
                        </a:rPr>
                        <a:t>,</a:t>
                      </a:r>
                      <a:r>
                        <a:rPr kumimoji="1" lang="ja-JP" altLang="en-US" sz="1000" dirty="0">
                          <a:solidFill>
                            <a:srgbClr val="FF0000"/>
                          </a:solidFill>
                        </a:rPr>
                        <a:t>誤記訂正</a:t>
                      </a:r>
                      <a:endParaRPr kumimoji="1" lang="en-US" altLang="ja-JP" sz="1000" dirty="0">
                        <a:solidFill>
                          <a:srgbClr val="FF0000"/>
                        </a:solidFill>
                      </a:endParaRPr>
                    </a:p>
                  </a:txBody>
                  <a:tcPr marL="65314" marR="65314" marT="32657" marB="32657"/>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1000" dirty="0">
                          <a:solidFill>
                            <a:srgbClr val="FF0000"/>
                          </a:solidFill>
                        </a:rPr>
                        <a:t>星野</a:t>
                      </a:r>
                    </a:p>
                  </a:txBody>
                  <a:tcPr marL="65314" marR="65314" marT="32657" marB="32657" anchor="ctr"/>
                </a:tc>
                <a:extLst>
                  <a:ext uri="{0D108BD9-81ED-4DB2-BD59-A6C34878D82A}">
                    <a16:rowId xmlns:a16="http://schemas.microsoft.com/office/drawing/2014/main" val="2484284760"/>
                  </a:ext>
                </a:extLst>
              </a:tr>
            </a:tbl>
          </a:graphicData>
        </a:graphic>
      </p:graphicFrame>
      <p:graphicFrame>
        <p:nvGraphicFramePr>
          <p:cNvPr id="11" name="表 11">
            <a:extLst>
              <a:ext uri="{FF2B5EF4-FFF2-40B4-BE49-F238E27FC236}">
                <a16:creationId xmlns:a16="http://schemas.microsoft.com/office/drawing/2014/main" id="{147CB937-46EC-8478-4DC2-F90EF684F838}"/>
              </a:ext>
            </a:extLst>
          </p:cNvPr>
          <p:cNvGraphicFramePr>
            <a:graphicFrameLocks noGrp="1"/>
          </p:cNvGraphicFramePr>
          <p:nvPr>
            <p:extLst>
              <p:ext uri="{D42A27DB-BD31-4B8C-83A1-F6EECF244321}">
                <p14:modId xmlns:p14="http://schemas.microsoft.com/office/powerpoint/2010/main" val="2106730912"/>
              </p:ext>
            </p:extLst>
          </p:nvPr>
        </p:nvGraphicFramePr>
        <p:xfrm>
          <a:off x="407520" y="455757"/>
          <a:ext cx="778296" cy="927100"/>
        </p:xfrm>
        <a:graphic>
          <a:graphicData uri="http://schemas.openxmlformats.org/drawingml/2006/table">
            <a:tbl>
              <a:tblPr firstRow="1" bandRow="1">
                <a:tableStyleId>{5C22544A-7EE6-4342-B048-85BDC9FD1C3A}</a:tableStyleId>
              </a:tblPr>
              <a:tblGrid>
                <a:gridCol w="778296">
                  <a:extLst>
                    <a:ext uri="{9D8B030D-6E8A-4147-A177-3AD203B41FA5}">
                      <a16:colId xmlns:a16="http://schemas.microsoft.com/office/drawing/2014/main" val="3921361962"/>
                    </a:ext>
                  </a:extLst>
                </a:gridCol>
              </a:tblGrid>
              <a:tr h="249848">
                <a:tc>
                  <a:txBody>
                    <a:bodyPr/>
                    <a:lstStyle/>
                    <a:p>
                      <a:r>
                        <a:rPr kumimoji="1" lang="ja-JP" altLang="en-US" sz="900" dirty="0">
                          <a:solidFill>
                            <a:schemeClr val="tx1"/>
                          </a:solidFill>
                        </a:rPr>
                        <a:t>商品資料</a:t>
                      </a:r>
                    </a:p>
                  </a:txBody>
                  <a:tcPr anchor="ctr" anchorCtr="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8191524"/>
                  </a:ext>
                </a:extLst>
              </a:tr>
              <a:tr h="677252">
                <a:tc>
                  <a:txBody>
                    <a:bodyPr/>
                    <a:lstStyle/>
                    <a:p>
                      <a:endParaRPr kumimoji="1" lang="ja-JP" altLang="en-US" dirty="0">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961406"/>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10E9C699-0C03-33DE-782E-8634A3471D27}"/>
              </a:ext>
            </a:extLst>
          </p:cNvPr>
          <p:cNvGraphicFramePr>
            <a:graphicFrameLocks noGrp="1"/>
          </p:cNvGraphicFramePr>
          <p:nvPr>
            <p:extLst>
              <p:ext uri="{D42A27DB-BD31-4B8C-83A1-F6EECF244321}">
                <p14:modId xmlns:p14="http://schemas.microsoft.com/office/powerpoint/2010/main" val="671297196"/>
              </p:ext>
            </p:extLst>
          </p:nvPr>
        </p:nvGraphicFramePr>
        <p:xfrm>
          <a:off x="1111825" y="296737"/>
          <a:ext cx="7893779" cy="6733646"/>
        </p:xfrm>
        <a:graphic>
          <a:graphicData uri="http://schemas.openxmlformats.org/drawingml/2006/table">
            <a:tbl>
              <a:tblPr firstRow="1" bandRow="1">
                <a:tableStyleId>{5940675A-B579-460E-94D1-54222C63F5DA}</a:tableStyleId>
              </a:tblPr>
              <a:tblGrid>
                <a:gridCol w="360589">
                  <a:extLst>
                    <a:ext uri="{9D8B030D-6E8A-4147-A177-3AD203B41FA5}">
                      <a16:colId xmlns:a16="http://schemas.microsoft.com/office/drawing/2014/main" val="211006134"/>
                    </a:ext>
                  </a:extLst>
                </a:gridCol>
                <a:gridCol w="2241906">
                  <a:extLst>
                    <a:ext uri="{9D8B030D-6E8A-4147-A177-3AD203B41FA5}">
                      <a16:colId xmlns:a16="http://schemas.microsoft.com/office/drawing/2014/main" val="625884237"/>
                    </a:ext>
                  </a:extLst>
                </a:gridCol>
                <a:gridCol w="4580268">
                  <a:extLst>
                    <a:ext uri="{9D8B030D-6E8A-4147-A177-3AD203B41FA5}">
                      <a16:colId xmlns:a16="http://schemas.microsoft.com/office/drawing/2014/main" val="1074217283"/>
                    </a:ext>
                  </a:extLst>
                </a:gridCol>
                <a:gridCol w="711016">
                  <a:extLst>
                    <a:ext uri="{9D8B030D-6E8A-4147-A177-3AD203B41FA5}">
                      <a16:colId xmlns:a16="http://schemas.microsoft.com/office/drawing/2014/main" val="439745675"/>
                    </a:ext>
                  </a:extLst>
                </a:gridCol>
              </a:tblGrid>
              <a:tr h="221072">
                <a:tc>
                  <a:txBody>
                    <a:bodyPr/>
                    <a:lstStyle/>
                    <a:p>
                      <a:pPr algn="ctr"/>
                      <a:r>
                        <a:rPr kumimoji="1" lang="ja-JP" altLang="en-US" sz="800" dirty="0"/>
                        <a:t>△</a:t>
                      </a:r>
                    </a:p>
                  </a:txBody>
                  <a:tcPr marL="25714" marR="25714" marT="25714" marB="25714" anchor="ctr"/>
                </a:tc>
                <a:tc>
                  <a:txBody>
                    <a:bodyPr/>
                    <a:lstStyle/>
                    <a:p>
                      <a:pPr algn="ctr"/>
                      <a:r>
                        <a:rPr kumimoji="1" lang="ja-JP" altLang="en-US" sz="800" dirty="0"/>
                        <a:t>ページ</a:t>
                      </a:r>
                    </a:p>
                  </a:txBody>
                  <a:tcPr marL="25714" marR="25714" marT="25714" marB="25714" anchor="ctr"/>
                </a:tc>
                <a:tc>
                  <a:txBody>
                    <a:bodyPr/>
                    <a:lstStyle/>
                    <a:p>
                      <a:pPr algn="ctr"/>
                      <a:r>
                        <a:rPr kumimoji="1" lang="ja-JP" altLang="en-US" sz="800" dirty="0"/>
                        <a:t>変更内容</a:t>
                      </a:r>
                    </a:p>
                  </a:txBody>
                  <a:tcPr marL="25714" marR="25714" marT="25714" marB="25714" anchor="ctr"/>
                </a:tc>
                <a:tc>
                  <a:txBody>
                    <a:bodyPr/>
                    <a:lstStyle/>
                    <a:p>
                      <a:pPr algn="ctr"/>
                      <a:r>
                        <a:rPr kumimoji="1" lang="ja-JP" altLang="en-US" sz="800" dirty="0"/>
                        <a:t>担当</a:t>
                      </a:r>
                    </a:p>
                  </a:txBody>
                  <a:tcPr marL="25714" marR="25714" marT="25714" marB="25714" anchor="ctr"/>
                </a:tc>
                <a:extLst>
                  <a:ext uri="{0D108BD9-81ED-4DB2-BD59-A6C34878D82A}">
                    <a16:rowId xmlns:a16="http://schemas.microsoft.com/office/drawing/2014/main" val="2743679487"/>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t>03</a:t>
                      </a:r>
                      <a:endParaRPr kumimoji="1" lang="ja-JP" altLang="en-US" sz="800" dirty="0"/>
                    </a:p>
                  </a:txBody>
                  <a:tcPr marL="25714" marR="25714" marT="25714" marB="25714" anchor="ctr"/>
                </a:tc>
                <a:tc>
                  <a:txBody>
                    <a:bodyPr/>
                    <a:lstStyle/>
                    <a:p>
                      <a:pPr algn="ctr"/>
                      <a:r>
                        <a:rPr kumimoji="1" lang="en-US" altLang="ja-JP" sz="800" dirty="0"/>
                        <a:t>Home</a:t>
                      </a:r>
                      <a:r>
                        <a:rPr kumimoji="1" lang="ja-JP" altLang="en-US" sz="800" dirty="0"/>
                        <a:t>画面</a:t>
                      </a:r>
                    </a:p>
                  </a:txBody>
                  <a:tcPr marL="25714" marR="25714" marT="25714" marB="25714" anchor="ctr"/>
                </a:tc>
                <a:tc>
                  <a:txBody>
                    <a:bodyPr/>
                    <a:lstStyle/>
                    <a:p>
                      <a:pPr algn="l"/>
                      <a:r>
                        <a:rPr kumimoji="1" lang="en-US" altLang="ja-JP" sz="800" dirty="0"/>
                        <a:t>Input(Grip)</a:t>
                      </a:r>
                      <a:r>
                        <a:rPr kumimoji="1" lang="ja-JP" altLang="en-US" sz="800" dirty="0"/>
                        <a:t>ボタン追加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t>渡辺（孝）</a:t>
                      </a:r>
                    </a:p>
                  </a:txBody>
                  <a:tcPr marL="25714" marR="25714" marT="25714" marB="25714" anchor="ctr" anchorCtr="1"/>
                </a:tc>
                <a:extLst>
                  <a:ext uri="{0D108BD9-81ED-4DB2-BD59-A6C34878D82A}">
                    <a16:rowId xmlns:a16="http://schemas.microsoft.com/office/drawing/2014/main" val="1648508047"/>
                  </a:ext>
                </a:extLst>
              </a:tr>
              <a:tr h="221072">
                <a:tc>
                  <a:txBody>
                    <a:bodyPr/>
                    <a:lstStyle/>
                    <a:p>
                      <a:pPr algn="ctr"/>
                      <a:r>
                        <a:rPr kumimoji="1" lang="en-US" altLang="ja-JP" sz="800" dirty="0"/>
                        <a:t>03</a:t>
                      </a:r>
                      <a:endParaRPr kumimoji="1" lang="ja-JP" altLang="en-US" sz="800" dirty="0"/>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t>Input(Grip)</a:t>
                      </a:r>
                      <a:r>
                        <a:rPr lang="ja-JP" altLang="en-US" sz="800" dirty="0"/>
                        <a:t>画面</a:t>
                      </a:r>
                    </a:p>
                  </a:txBody>
                  <a:tcPr marL="25714" marR="25714" marT="25714" marB="25714" anchor="ctr"/>
                </a:tc>
                <a:tc>
                  <a:txBody>
                    <a:bodyPr/>
                    <a:lstStyle/>
                    <a:p>
                      <a:pPr algn="l"/>
                      <a:r>
                        <a:rPr kumimoji="1" lang="ja-JP" altLang="en-US" sz="800" dirty="0"/>
                        <a:t>多機能グリップのスイッチの状態を確認できるページを追加（営業要望）</a:t>
                      </a:r>
                    </a:p>
                  </a:txBody>
                  <a:tcPr marL="25714" marR="25714" marT="25714" marB="25714" anchor="ctr"/>
                </a:tc>
                <a:tc>
                  <a:txBody>
                    <a:bodyPr/>
                    <a:lstStyle/>
                    <a:p>
                      <a:pPr algn="ctr"/>
                      <a:r>
                        <a:rPr kumimoji="1" lang="ja-JP" altLang="en-US" sz="800" dirty="0"/>
                        <a:t>渡辺（孝）</a:t>
                      </a:r>
                    </a:p>
                  </a:txBody>
                  <a:tcPr marL="25714" marR="25714" marT="25714" marB="25714" anchor="ctr" anchorCtr="1"/>
                </a:tc>
                <a:extLst>
                  <a:ext uri="{0D108BD9-81ED-4DB2-BD59-A6C34878D82A}">
                    <a16:rowId xmlns:a16="http://schemas.microsoft.com/office/drawing/2014/main" val="3780269219"/>
                  </a:ext>
                </a:extLst>
              </a:tr>
              <a:tr h="221072">
                <a:tc>
                  <a:txBody>
                    <a:bodyPr/>
                    <a:lstStyle/>
                    <a:p>
                      <a:pPr algn="ctr"/>
                      <a:r>
                        <a:rPr kumimoji="1" lang="en-US" altLang="ja-JP" sz="800" dirty="0"/>
                        <a:t>03</a:t>
                      </a:r>
                      <a:endParaRPr kumimoji="1" lang="ja-JP" altLang="en-US" sz="800" dirty="0"/>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t>Engine auto stop</a:t>
                      </a:r>
                      <a:r>
                        <a:rPr lang="ja-JP" altLang="en-US" sz="800" dirty="0"/>
                        <a:t>画面</a:t>
                      </a:r>
                    </a:p>
                  </a:txBody>
                  <a:tcPr marL="25714" marR="25714" marT="25714" marB="25714" anchor="ctr"/>
                </a:tc>
                <a:tc>
                  <a:txBody>
                    <a:bodyPr/>
                    <a:lstStyle/>
                    <a:p>
                      <a:pPr algn="l"/>
                      <a:r>
                        <a:rPr kumimoji="1" lang="ja-JP" altLang="en-US" sz="800" dirty="0"/>
                        <a:t>試験</a:t>
                      </a:r>
                      <a:r>
                        <a:rPr kumimoji="1" lang="en-US" altLang="ja-JP" sz="800" dirty="0"/>
                        <a:t>ID18073</a:t>
                      </a:r>
                      <a:r>
                        <a:rPr kumimoji="1" lang="ja-JP" altLang="en-US" sz="800" dirty="0"/>
                        <a:t>での指摘により分かりやすい表現に変更</a:t>
                      </a:r>
                    </a:p>
                  </a:txBody>
                  <a:tcPr marL="25714" marR="25714" marT="25714" marB="25714" anchor="ctr"/>
                </a:tc>
                <a:tc>
                  <a:txBody>
                    <a:bodyPr/>
                    <a:lstStyle/>
                    <a:p>
                      <a:pPr algn="ctr"/>
                      <a:r>
                        <a:rPr kumimoji="1" lang="ja-JP" altLang="en-US" sz="800" dirty="0"/>
                        <a:t>渡辺（孝）</a:t>
                      </a:r>
                    </a:p>
                  </a:txBody>
                  <a:tcPr marL="25714" marR="25714" marT="25714" marB="25714" anchor="ctr" anchorCtr="1"/>
                </a:tc>
                <a:extLst>
                  <a:ext uri="{0D108BD9-81ED-4DB2-BD59-A6C34878D82A}">
                    <a16:rowId xmlns:a16="http://schemas.microsoft.com/office/drawing/2014/main" val="3329580384"/>
                  </a:ext>
                </a:extLst>
              </a:tr>
              <a:tr h="221072">
                <a:tc>
                  <a:txBody>
                    <a:bodyPr/>
                    <a:lstStyle/>
                    <a:p>
                      <a:pPr algn="ctr"/>
                      <a:r>
                        <a:rPr kumimoji="1" lang="en-US" altLang="ja-JP" sz="800" dirty="0"/>
                        <a:t>04</a:t>
                      </a:r>
                      <a:endParaRPr kumimoji="1" lang="ja-JP" altLang="en-US" sz="800" dirty="0"/>
                    </a:p>
                  </a:txBody>
                  <a:tcPr marL="25714" marR="25714" marT="25714" marB="25714" anchor="ctr"/>
                </a:tc>
                <a:tc>
                  <a:txBody>
                    <a:bodyPr/>
                    <a:lstStyle/>
                    <a:p>
                      <a:pPr algn="ctr"/>
                      <a:r>
                        <a:rPr kumimoji="1" lang="en-US" altLang="ja-JP" sz="800" dirty="0"/>
                        <a:t>Home</a:t>
                      </a:r>
                      <a:r>
                        <a:rPr kumimoji="1" lang="ja-JP" altLang="en-US" sz="800" dirty="0"/>
                        <a:t>画面</a:t>
                      </a:r>
                      <a:endParaRPr kumimoji="1" lang="en-US" altLang="ja-JP" sz="800" dirty="0"/>
                    </a:p>
                  </a:txBody>
                  <a:tcPr marL="25714" marR="25714" marT="25714" marB="25714" anchor="ctr"/>
                </a:tc>
                <a:tc>
                  <a:txBody>
                    <a:bodyPr/>
                    <a:lstStyle/>
                    <a:p>
                      <a:pPr algn="l"/>
                      <a:r>
                        <a:rPr kumimoji="1" lang="ja-JP" altLang="en-US" sz="800" dirty="0"/>
                        <a:t>エコプラスモード設定ボタンの説明を追記</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t>渡辺（孝）</a:t>
                      </a:r>
                    </a:p>
                  </a:txBody>
                  <a:tcPr marL="25714" marR="25714" marT="25714" marB="25714" anchor="ctr" anchorCtr="1"/>
                </a:tc>
                <a:extLst>
                  <a:ext uri="{0D108BD9-81ED-4DB2-BD59-A6C34878D82A}">
                    <a16:rowId xmlns:a16="http://schemas.microsoft.com/office/drawing/2014/main" val="2148210110"/>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t>04</a:t>
                      </a:r>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en-US" altLang="ja-JP" sz="800" dirty="0"/>
                        <a:t>Output(Main controller)</a:t>
                      </a:r>
                      <a:r>
                        <a:rPr kumimoji="1" lang="ja-JP" altLang="en-US" sz="800" dirty="0"/>
                        <a:t>画面</a:t>
                      </a:r>
                      <a:endParaRPr kumimoji="1" lang="en-US" altLang="ja-JP" sz="800" dirty="0"/>
                    </a:p>
                  </a:txBody>
                  <a:tcPr marL="25714" marR="25714" marT="25714" marB="25714" anchor="ctr"/>
                </a:tc>
                <a:tc>
                  <a:txBody>
                    <a:bodyPr/>
                    <a:lstStyle/>
                    <a:p>
                      <a:pPr algn="l"/>
                      <a:r>
                        <a:rPr kumimoji="1" lang="ja-JP" altLang="en-US" sz="800" dirty="0"/>
                        <a:t>画面内の表記修正  誤：</a:t>
                      </a:r>
                      <a:r>
                        <a:rPr kumimoji="1" lang="en-US" altLang="ja-JP" sz="800" dirty="0"/>
                        <a:t>Main ECU1</a:t>
                      </a:r>
                      <a:r>
                        <a:rPr kumimoji="1" lang="ja-JP" altLang="en-US" sz="800" dirty="0"/>
                        <a:t> ⇒正：</a:t>
                      </a:r>
                      <a:r>
                        <a:rPr kumimoji="1" lang="en-US" altLang="ja-JP" sz="800" dirty="0"/>
                        <a:t>Main</a:t>
                      </a:r>
                      <a:r>
                        <a:rPr kumimoji="1" lang="ja-JP" altLang="en-US" sz="800" dirty="0"/>
                        <a:t> </a:t>
                      </a:r>
                      <a:r>
                        <a:rPr kumimoji="1" lang="en-US" altLang="ja-JP" sz="800" dirty="0"/>
                        <a:t>controller</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t>渡辺（孝）</a:t>
                      </a:r>
                    </a:p>
                  </a:txBody>
                  <a:tcPr marL="25714" marR="25714" marT="25714" marB="25714" anchor="ctr" anchorCtr="1"/>
                </a:tc>
                <a:extLst>
                  <a:ext uri="{0D108BD9-81ED-4DB2-BD59-A6C34878D82A}">
                    <a16:rowId xmlns:a16="http://schemas.microsoft.com/office/drawing/2014/main" val="733996792"/>
                  </a:ext>
                </a:extLst>
              </a:tr>
              <a:tr h="221072">
                <a:tc>
                  <a:txBody>
                    <a:bodyPr/>
                    <a:lstStyle/>
                    <a:p>
                      <a:pPr algn="ctr"/>
                      <a:r>
                        <a:rPr kumimoji="1" lang="en-US" altLang="ja-JP" sz="800" dirty="0"/>
                        <a:t>04</a:t>
                      </a:r>
                      <a:endParaRPr kumimoji="1" lang="ja-JP" altLang="en-US" sz="800" dirty="0"/>
                    </a:p>
                  </a:txBody>
                  <a:tcPr marL="25714" marR="25714" marT="25714" marB="25714" anchor="ctr"/>
                </a:tc>
                <a:tc>
                  <a:txBody>
                    <a:bodyPr/>
                    <a:lstStyle/>
                    <a:p>
                      <a:pPr algn="ctr"/>
                      <a:r>
                        <a:rPr kumimoji="1" lang="en-US" altLang="ja-JP" sz="800" dirty="0"/>
                        <a:t>Engine</a:t>
                      </a:r>
                      <a:r>
                        <a:rPr kumimoji="1" lang="ja-JP" altLang="en-US" sz="800" dirty="0"/>
                        <a:t> </a:t>
                      </a:r>
                      <a:r>
                        <a:rPr kumimoji="1" lang="en-US" altLang="ja-JP" sz="800" dirty="0"/>
                        <a:t>auto</a:t>
                      </a:r>
                      <a:r>
                        <a:rPr kumimoji="1" lang="ja-JP" altLang="en-US" sz="800" dirty="0"/>
                        <a:t> </a:t>
                      </a:r>
                      <a:r>
                        <a:rPr kumimoji="1" lang="en-US" altLang="ja-JP" sz="800" dirty="0"/>
                        <a:t>stop</a:t>
                      </a:r>
                      <a:r>
                        <a:rPr kumimoji="1" lang="ja-JP" altLang="en-US" sz="800" dirty="0"/>
                        <a:t>画面</a:t>
                      </a:r>
                    </a:p>
                  </a:txBody>
                  <a:tcPr marL="25714" marR="25714" marT="25714" marB="25714" anchor="ctr"/>
                </a:tc>
                <a:tc>
                  <a:txBody>
                    <a:bodyPr/>
                    <a:lstStyle/>
                    <a:p>
                      <a:pPr algn="l"/>
                      <a:r>
                        <a:rPr kumimoji="1" lang="en-US" altLang="ja-JP" sz="800" dirty="0" err="1"/>
                        <a:t>Misc</a:t>
                      </a:r>
                      <a:r>
                        <a:rPr kumimoji="1" lang="ja-JP" altLang="en-US" sz="800" dirty="0"/>
                        <a:t>画面に合わせてパラメータの名称を変更 </a:t>
                      </a:r>
                      <a:r>
                        <a:rPr lang="en-US" altLang="ja-JP" sz="800" dirty="0"/>
                        <a:t>Idling time</a:t>
                      </a:r>
                      <a:r>
                        <a:rPr lang="ja-JP" altLang="en-US" sz="800" dirty="0"/>
                        <a:t> → </a:t>
                      </a:r>
                      <a:r>
                        <a:rPr kumimoji="1" lang="en-US" altLang="ja-JP" sz="800" dirty="0"/>
                        <a:t>Engine</a:t>
                      </a:r>
                      <a:r>
                        <a:rPr kumimoji="1" lang="ja-JP" altLang="en-US" sz="800" dirty="0"/>
                        <a:t> </a:t>
                      </a:r>
                      <a:r>
                        <a:rPr kumimoji="1" lang="en-US" altLang="ja-JP" sz="800" dirty="0"/>
                        <a:t>auto stop time</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t>渡辺（孝）</a:t>
                      </a:r>
                    </a:p>
                  </a:txBody>
                  <a:tcPr marL="25714" marR="25714" marT="25714" marB="25714" anchor="ctr" anchorCtr="1"/>
                </a:tc>
                <a:extLst>
                  <a:ext uri="{0D108BD9-81ED-4DB2-BD59-A6C34878D82A}">
                    <a16:rowId xmlns:a16="http://schemas.microsoft.com/office/drawing/2014/main" val="3421556452"/>
                  </a:ext>
                </a:extLst>
              </a:tr>
              <a:tr h="221072">
                <a:tc>
                  <a:txBody>
                    <a:bodyPr/>
                    <a:lstStyle/>
                    <a:p>
                      <a:pPr algn="ctr"/>
                      <a:r>
                        <a:rPr kumimoji="1" lang="en-US" altLang="ja-JP" sz="800" dirty="0">
                          <a:solidFill>
                            <a:schemeClr val="tx1"/>
                          </a:solidFill>
                        </a:rPr>
                        <a:t>05</a:t>
                      </a:r>
                      <a:endParaRPr kumimoji="1" lang="ja-JP" altLang="en-US" sz="800" dirty="0">
                        <a:solidFill>
                          <a:schemeClr val="tx1"/>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chemeClr val="tx1"/>
                          </a:solidFill>
                        </a:rPr>
                        <a:t>Vehicle status</a:t>
                      </a:r>
                      <a:r>
                        <a:rPr lang="ja-JP" altLang="en-US" sz="800" dirty="0">
                          <a:solidFill>
                            <a:schemeClr val="tx1"/>
                          </a:solidFill>
                        </a:rPr>
                        <a:t>画面</a:t>
                      </a:r>
                    </a:p>
                  </a:txBody>
                  <a:tcPr marL="25714" marR="25714" marT="25714" marB="25714" anchor="ctr"/>
                </a:tc>
                <a:tc>
                  <a:txBody>
                    <a:bodyPr/>
                    <a:lstStyle/>
                    <a:p>
                      <a:pPr algn="l"/>
                      <a:r>
                        <a:rPr kumimoji="1" lang="ja-JP" altLang="en-US" sz="800" dirty="0">
                          <a:solidFill>
                            <a:schemeClr val="tx1"/>
                          </a:solidFill>
                        </a:rPr>
                        <a:t>誤記訂正 （</a:t>
                      </a:r>
                      <a:r>
                        <a:rPr kumimoji="1" lang="en-US" altLang="ja-JP" sz="800" dirty="0">
                          <a:solidFill>
                            <a:schemeClr val="tx1"/>
                          </a:solidFill>
                        </a:rPr>
                        <a:t>DPF</a:t>
                      </a:r>
                      <a:r>
                        <a:rPr kumimoji="1" lang="ja-JP" altLang="en-US" sz="800" dirty="0">
                          <a:solidFill>
                            <a:schemeClr val="tx1"/>
                          </a:solidFill>
                        </a:rPr>
                        <a:t>の説明削除）</a:t>
                      </a:r>
                      <a:r>
                        <a:rPr kumimoji="1" lang="en-US" altLang="ja-JP" sz="800" dirty="0">
                          <a:solidFill>
                            <a:schemeClr val="tx1"/>
                          </a:solidFill>
                        </a:rPr>
                        <a:t>,</a:t>
                      </a:r>
                      <a:r>
                        <a:rPr kumimoji="1" lang="ja-JP" altLang="en-US" sz="800" dirty="0">
                          <a:solidFill>
                            <a:schemeClr val="tx1"/>
                          </a:solidFill>
                        </a:rPr>
                        <a:t>項目名変更、画像イメージ変更</a:t>
                      </a:r>
                      <a:endParaRPr kumimoji="1" lang="en-US" altLang="ja-JP" sz="800" dirty="0">
                        <a:solidFill>
                          <a:schemeClr val="tx1"/>
                        </a:solidFill>
                      </a:endParaRP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渡辺（孝）</a:t>
                      </a:r>
                    </a:p>
                  </a:txBody>
                  <a:tcPr marL="25714" marR="25714" marT="25714" marB="25714" anchor="ctr" anchorCtr="1"/>
                </a:tc>
                <a:extLst>
                  <a:ext uri="{0D108BD9-81ED-4DB2-BD59-A6C34878D82A}">
                    <a16:rowId xmlns:a16="http://schemas.microsoft.com/office/drawing/2014/main" val="166484127"/>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chemeClr val="tx1"/>
                          </a:solidFill>
                        </a:rPr>
                        <a:t>05</a:t>
                      </a:r>
                      <a:endParaRPr kumimoji="1" lang="ja-JP" altLang="en-US" sz="800" dirty="0">
                        <a:solidFill>
                          <a:schemeClr val="tx1"/>
                        </a:solidFill>
                      </a:endParaRPr>
                    </a:p>
                    <a:p>
                      <a:pPr algn="ctr"/>
                      <a:endParaRPr kumimoji="1" lang="ja-JP" altLang="en-US" sz="800" dirty="0">
                        <a:solidFill>
                          <a:schemeClr val="tx1"/>
                        </a:solidFill>
                      </a:endParaRPr>
                    </a:p>
                  </a:txBody>
                  <a:tcPr marL="25714" marR="25714" marT="25714" marB="25714" anchor="ctr"/>
                </a:tc>
                <a:tc>
                  <a:txBody>
                    <a:bodyPr/>
                    <a:lstStyle/>
                    <a:p>
                      <a:pPr algn="ctr"/>
                      <a:r>
                        <a:rPr kumimoji="1" lang="en-US" altLang="ja-JP" sz="800" dirty="0">
                          <a:solidFill>
                            <a:schemeClr val="tx1"/>
                          </a:solidFill>
                        </a:rPr>
                        <a:t>Injector Injection Stop</a:t>
                      </a:r>
                      <a:br>
                        <a:rPr kumimoji="1" lang="en-US" altLang="ja-JP" sz="800" dirty="0">
                          <a:solidFill>
                            <a:schemeClr val="tx1"/>
                          </a:solidFill>
                        </a:rPr>
                      </a:br>
                      <a:r>
                        <a:rPr kumimoji="1" lang="en-US" altLang="ja-JP" sz="800" dirty="0">
                          <a:solidFill>
                            <a:schemeClr val="tx1"/>
                          </a:solidFill>
                        </a:rPr>
                        <a:t>EGR</a:t>
                      </a:r>
                      <a:r>
                        <a:rPr kumimoji="1" lang="ja-JP" altLang="en-US" sz="800" dirty="0">
                          <a:solidFill>
                            <a:schemeClr val="tx1"/>
                          </a:solidFill>
                        </a:rPr>
                        <a:t> </a:t>
                      </a:r>
                      <a:r>
                        <a:rPr kumimoji="1" lang="en-US" altLang="ja-JP" sz="800" dirty="0">
                          <a:solidFill>
                            <a:schemeClr val="tx1"/>
                          </a:solidFill>
                        </a:rPr>
                        <a:t>Value</a:t>
                      </a:r>
                      <a:r>
                        <a:rPr kumimoji="1" lang="ja-JP" altLang="en-US" sz="800" dirty="0">
                          <a:solidFill>
                            <a:schemeClr val="tx1"/>
                          </a:solidFill>
                        </a:rPr>
                        <a:t> </a:t>
                      </a:r>
                      <a:r>
                        <a:rPr kumimoji="1" lang="en-US" altLang="ja-JP" sz="800" dirty="0">
                          <a:solidFill>
                            <a:schemeClr val="tx1"/>
                          </a:solidFill>
                        </a:rPr>
                        <a:t>ON/OFF</a:t>
                      </a:r>
                      <a:r>
                        <a:rPr kumimoji="1" lang="ja-JP" altLang="en-US" sz="800" dirty="0">
                          <a:solidFill>
                            <a:schemeClr val="tx1"/>
                          </a:solidFill>
                        </a:rPr>
                        <a:t> </a:t>
                      </a:r>
                      <a:r>
                        <a:rPr kumimoji="1" lang="en-US" altLang="ja-JP" sz="800" dirty="0">
                          <a:solidFill>
                            <a:schemeClr val="tx1"/>
                          </a:solidFill>
                        </a:rPr>
                        <a:t>Function</a:t>
                      </a:r>
                    </a:p>
                    <a:p>
                      <a:pPr algn="ctr"/>
                      <a:r>
                        <a:rPr kumimoji="1" lang="en-US" altLang="ja-JP" sz="800" dirty="0">
                          <a:solidFill>
                            <a:schemeClr val="tx1"/>
                          </a:solidFill>
                        </a:rPr>
                        <a:t>Intake</a:t>
                      </a:r>
                      <a:r>
                        <a:rPr kumimoji="1" lang="ja-JP" altLang="en-US" sz="800" dirty="0">
                          <a:solidFill>
                            <a:schemeClr val="tx1"/>
                          </a:solidFill>
                        </a:rPr>
                        <a:t> </a:t>
                      </a:r>
                      <a:r>
                        <a:rPr kumimoji="1" lang="en-US" altLang="ja-JP" sz="800" dirty="0">
                          <a:solidFill>
                            <a:schemeClr val="tx1"/>
                          </a:solidFill>
                        </a:rPr>
                        <a:t>throttle Valve ON/OFF Function</a:t>
                      </a:r>
                    </a:p>
                    <a:p>
                      <a:pPr algn="ctr"/>
                      <a:r>
                        <a:rPr kumimoji="1" lang="en-US" altLang="ja-JP" sz="800" dirty="0">
                          <a:solidFill>
                            <a:schemeClr val="tx1"/>
                          </a:solidFill>
                        </a:rPr>
                        <a:t>Injector compensation(ECU)</a:t>
                      </a:r>
                      <a:br>
                        <a:rPr kumimoji="1" lang="en-US" altLang="ja-JP" sz="800" dirty="0">
                          <a:solidFill>
                            <a:schemeClr val="tx1"/>
                          </a:solidFill>
                        </a:rPr>
                      </a:br>
                      <a:r>
                        <a:rPr kumimoji="1" lang="en-US" altLang="ja-JP" sz="800" dirty="0">
                          <a:solidFill>
                            <a:schemeClr val="tx1"/>
                          </a:solidFill>
                        </a:rPr>
                        <a:t>DPF Soot Rest/Regeneration interval Time Reset</a:t>
                      </a:r>
                    </a:p>
                    <a:p>
                      <a:pPr algn="ctr"/>
                      <a:r>
                        <a:rPr kumimoji="1" lang="en-US" altLang="ja-JP" sz="800" dirty="0">
                          <a:solidFill>
                            <a:schemeClr val="tx1"/>
                          </a:solidFill>
                        </a:rPr>
                        <a:t>DPF Manual Regeneration Request Function</a:t>
                      </a:r>
                    </a:p>
                    <a:p>
                      <a:pPr algn="ctr"/>
                      <a:r>
                        <a:rPr kumimoji="1" lang="en-US" altLang="ja-JP" sz="800" dirty="0">
                          <a:solidFill>
                            <a:schemeClr val="tx1"/>
                          </a:solidFill>
                        </a:rPr>
                        <a:t>Fuel supply pump </a:t>
                      </a:r>
                      <a:r>
                        <a:rPr kumimoji="1" lang="en-US" altLang="ja-JP" sz="800" dirty="0" err="1">
                          <a:solidFill>
                            <a:schemeClr val="tx1"/>
                          </a:solidFill>
                        </a:rPr>
                        <a:t>leaming</a:t>
                      </a:r>
                      <a:endParaRPr kumimoji="1" lang="ja-JP" altLang="en-US" sz="800" dirty="0">
                        <a:solidFill>
                          <a:schemeClr val="tx1"/>
                        </a:solidFill>
                      </a:endParaRPr>
                    </a:p>
                  </a:txBody>
                  <a:tcPr marL="25714" marR="25714" marT="25714" marB="25714" anchor="ctr"/>
                </a:tc>
                <a:tc>
                  <a:txBody>
                    <a:bodyPr/>
                    <a:lstStyle/>
                    <a:p>
                      <a:pPr algn="l"/>
                      <a:r>
                        <a:rPr kumimoji="1" lang="ja-JP" altLang="en-US" sz="800" dirty="0">
                          <a:solidFill>
                            <a:schemeClr val="tx1"/>
                          </a:solidFill>
                        </a:rPr>
                        <a:t>画面イメージ変更</a:t>
                      </a:r>
                      <a:endParaRPr kumimoji="1" lang="en-US" altLang="ja-JP" sz="800" dirty="0">
                        <a:solidFill>
                          <a:schemeClr val="tx1"/>
                        </a:solidFill>
                      </a:endParaRP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渡辺（孝）</a:t>
                      </a:r>
                    </a:p>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solidFill>
                          <a:schemeClr val="tx1"/>
                        </a:solidFill>
                      </a:endParaRPr>
                    </a:p>
                  </a:txBody>
                  <a:tcPr marL="25714" marR="25714" marT="25714" marB="25714" anchor="ctr" anchorCtr="1"/>
                </a:tc>
                <a:extLst>
                  <a:ext uri="{0D108BD9-81ED-4DB2-BD59-A6C34878D82A}">
                    <a16:rowId xmlns:a16="http://schemas.microsoft.com/office/drawing/2014/main" val="664922235"/>
                  </a:ext>
                </a:extLst>
              </a:tr>
              <a:tr h="221072">
                <a:tc>
                  <a:txBody>
                    <a:bodyPr/>
                    <a:lstStyle/>
                    <a:p>
                      <a:pPr algn="ctr"/>
                      <a:r>
                        <a:rPr kumimoji="1" lang="en-US" altLang="ja-JP" sz="800" dirty="0">
                          <a:solidFill>
                            <a:schemeClr val="tx1"/>
                          </a:solidFill>
                        </a:rPr>
                        <a:t>06</a:t>
                      </a:r>
                      <a:endParaRPr kumimoji="1" lang="ja-JP" altLang="en-US" sz="800" dirty="0">
                        <a:solidFill>
                          <a:schemeClr val="tx1"/>
                        </a:solidFill>
                      </a:endParaRPr>
                    </a:p>
                  </a:txBody>
                  <a:tcPr marL="25714" marR="25714" marT="25714" marB="25714" anchor="ctr"/>
                </a:tc>
                <a:tc>
                  <a:txBody>
                    <a:bodyPr/>
                    <a:lstStyle/>
                    <a:p>
                      <a:pPr algn="ctr"/>
                      <a:r>
                        <a:rPr kumimoji="1" lang="en-US" altLang="ja-JP" sz="800" dirty="0">
                          <a:solidFill>
                            <a:schemeClr val="tx1"/>
                          </a:solidFill>
                        </a:rPr>
                        <a:t>MISC</a:t>
                      </a:r>
                      <a:r>
                        <a:rPr kumimoji="1" lang="ja-JP" altLang="en-US" sz="800" dirty="0">
                          <a:solidFill>
                            <a:schemeClr val="tx1"/>
                          </a:solidFill>
                        </a:rPr>
                        <a:t>画面</a:t>
                      </a:r>
                      <a:endParaRPr kumimoji="1" lang="en-US" altLang="ja-JP" sz="800" dirty="0">
                        <a:solidFill>
                          <a:schemeClr val="tx1"/>
                        </a:solidFill>
                      </a:endParaRPr>
                    </a:p>
                  </a:txBody>
                  <a:tcPr marL="25714" marR="25714" marT="25714" marB="25714" anchor="ctr"/>
                </a:tc>
                <a:tc>
                  <a:txBody>
                    <a:bodyPr/>
                    <a:lstStyle/>
                    <a:p>
                      <a:pPr algn="l"/>
                      <a:r>
                        <a:rPr kumimoji="1" lang="en-US" altLang="ja-JP" sz="800" dirty="0">
                          <a:solidFill>
                            <a:schemeClr val="tx1"/>
                          </a:solidFill>
                        </a:rPr>
                        <a:t>Startup swing/adjust mode</a:t>
                      </a:r>
                      <a:r>
                        <a:rPr kumimoji="1" lang="ja-JP" altLang="en-US" sz="800" dirty="0">
                          <a:solidFill>
                            <a:schemeClr val="tx1"/>
                          </a:solidFill>
                        </a:rPr>
                        <a:t>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星野</a:t>
                      </a:r>
                    </a:p>
                  </a:txBody>
                  <a:tcPr marL="25714" marR="25714" marT="25714" marB="25714" anchor="ctr" anchorCtr="1"/>
                </a:tc>
                <a:extLst>
                  <a:ext uri="{0D108BD9-81ED-4DB2-BD59-A6C34878D82A}">
                    <a16:rowId xmlns:a16="http://schemas.microsoft.com/office/drawing/2014/main" val="493848408"/>
                  </a:ext>
                </a:extLst>
              </a:tr>
              <a:tr h="221072">
                <a:tc>
                  <a:txBody>
                    <a:bodyPr/>
                    <a:lstStyle/>
                    <a:p>
                      <a:pPr algn="ctr" rtl="0" fontAlgn="base">
                        <a:lnSpc>
                          <a:spcPts val="900"/>
                        </a:lnSpc>
                        <a:buNone/>
                      </a:pPr>
                      <a:r>
                        <a:rPr lang="en-US" altLang="ja-JP" sz="800" b="0" i="0" dirty="0">
                          <a:solidFill>
                            <a:schemeClr val="tx1"/>
                          </a:solidFill>
                          <a:effectLst/>
                          <a:latin typeface="Calibri" panose="020F0502020204030204" pitchFamily="34" charset="0"/>
                          <a:ea typeface="Calibri" panose="020F0502020204030204" pitchFamily="34" charset="0"/>
                        </a:rPr>
                        <a:t>06</a:t>
                      </a:r>
                      <a:r>
                        <a:rPr lang="en-US" altLang="ja-JP" sz="800" b="0" i="0" dirty="0">
                          <a:solidFill>
                            <a:schemeClr val="tx1"/>
                          </a:solidFill>
                          <a:effectLst/>
                          <a:ea typeface="Calibri" panose="020F0502020204030204" pitchFamily="34" charset="0"/>
                        </a:rPr>
                        <a:t>​</a:t>
                      </a:r>
                      <a:endParaRPr lang="en-US" altLang="ja-JP" sz="1200" b="0" i="0" dirty="0">
                        <a:solidFill>
                          <a:schemeClr val="tx1"/>
                        </a:solidFill>
                        <a:effectLst/>
                      </a:endParaRPr>
                    </a:p>
                  </a:txBody>
                  <a:tcPr anchor="ctr"/>
                </a:tc>
                <a:tc>
                  <a:txBody>
                    <a:bodyPr/>
                    <a:lstStyle/>
                    <a:p>
                      <a:pPr algn="ctr" rtl="0" fontAlgn="base">
                        <a:lnSpc>
                          <a:spcPts val="900"/>
                        </a:lnSpc>
                        <a:buNone/>
                      </a:pPr>
                      <a:r>
                        <a:rPr lang="en-US" sz="800" b="0" i="0" dirty="0">
                          <a:solidFill>
                            <a:schemeClr val="tx1"/>
                          </a:solidFill>
                          <a:effectLst/>
                          <a:latin typeface="Meiryo UI" panose="020B0604030504040204" pitchFamily="50" charset="-128"/>
                        </a:rPr>
                        <a:t>Outputs(</a:t>
                      </a:r>
                      <a:r>
                        <a:rPr lang="en-US" sz="800" b="0" i="0" dirty="0" err="1">
                          <a:solidFill>
                            <a:schemeClr val="tx1"/>
                          </a:solidFill>
                          <a:effectLst/>
                          <a:latin typeface="Meiryo UI" panose="020B0604030504040204" pitchFamily="50" charset="-128"/>
                        </a:rPr>
                        <a:t>Sub,Uc</a:t>
                      </a:r>
                      <a:r>
                        <a:rPr lang="en-US" sz="800" b="0" i="0" dirty="0">
                          <a:solidFill>
                            <a:schemeClr val="tx1"/>
                          </a:solidFill>
                          <a:effectLst/>
                          <a:latin typeface="Meiryo UI" panose="020B0604030504040204" pitchFamily="50" charset="-128"/>
                        </a:rPr>
                        <a:t>)</a:t>
                      </a:r>
                      <a:r>
                        <a:rPr lang="ja-JP" altLang="en-US" sz="800" b="0" i="0" dirty="0">
                          <a:solidFill>
                            <a:schemeClr val="tx1"/>
                          </a:solidFill>
                          <a:effectLst/>
                          <a:ea typeface="Meiryo UI" panose="020B0604030504040204" pitchFamily="50" charset="-128"/>
                        </a:rPr>
                        <a:t>画面</a:t>
                      </a:r>
                      <a:r>
                        <a:rPr lang="ja-JP" altLang="en-US" sz="800" b="0" i="0" dirty="0">
                          <a:solidFill>
                            <a:schemeClr val="tx1"/>
                          </a:solidFill>
                          <a:effectLst/>
                          <a:latin typeface="Meiryo UI" panose="020B0604030504040204" pitchFamily="50" charset="-128"/>
                        </a:rPr>
                        <a:t>​</a:t>
                      </a:r>
                      <a:endParaRPr lang="ja-JP" altLang="en-US" sz="1200" b="0" i="0" dirty="0">
                        <a:solidFill>
                          <a:schemeClr val="tx1"/>
                        </a:solidFill>
                        <a:effectLst/>
                      </a:endParaRPr>
                    </a:p>
                  </a:txBody>
                  <a:tcPr anchor="ctr"/>
                </a:tc>
                <a:tc>
                  <a:txBody>
                    <a:bodyPr/>
                    <a:lstStyle/>
                    <a:p>
                      <a:pPr algn="l" rtl="0" fontAlgn="base">
                        <a:lnSpc>
                          <a:spcPts val="900"/>
                        </a:lnSpc>
                        <a:buNone/>
                      </a:pPr>
                      <a:r>
                        <a:rPr lang="ja-JP" altLang="en-US" sz="800" b="0" i="0" dirty="0">
                          <a:solidFill>
                            <a:schemeClr val="tx1"/>
                          </a:solidFill>
                          <a:effectLst/>
                          <a:ea typeface="MS PGothic" panose="020B0600070205080204" pitchFamily="50" charset="-128"/>
                        </a:rPr>
                        <a:t>緊急ステアリングソレノイド出力ピン追加</a:t>
                      </a:r>
                      <a:r>
                        <a:rPr lang="ja-JP" altLang="en-US" sz="800" b="0" i="0" dirty="0">
                          <a:solidFill>
                            <a:schemeClr val="tx1"/>
                          </a:solidFill>
                          <a:effectLst/>
                          <a:latin typeface="MS PGothic" panose="020B0600070205080204" pitchFamily="50" charset="-128"/>
                        </a:rPr>
                        <a:t>​</a:t>
                      </a:r>
                      <a:endParaRPr lang="ja-JP" altLang="en-US" sz="1200" b="0" i="0" dirty="0">
                        <a:solidFill>
                          <a:schemeClr val="tx1"/>
                        </a:solidFill>
                        <a:effectLst/>
                      </a:endParaRPr>
                    </a:p>
                  </a:txBody>
                  <a:tcPr anchor="ctr"/>
                </a:tc>
                <a:tc>
                  <a:txBody>
                    <a:bodyPr/>
                    <a:lstStyle/>
                    <a:p>
                      <a:pPr algn="ctr" rtl="0" fontAlgn="base">
                        <a:lnSpc>
                          <a:spcPts val="900"/>
                        </a:lnSpc>
                        <a:buNone/>
                      </a:pPr>
                      <a:r>
                        <a:rPr lang="ja-JP" altLang="en-US" sz="800" b="0" i="0" dirty="0">
                          <a:solidFill>
                            <a:schemeClr val="tx1"/>
                          </a:solidFill>
                          <a:effectLst/>
                          <a:ea typeface="MS PGothic" panose="020B0600070205080204" pitchFamily="50" charset="-128"/>
                        </a:rPr>
                        <a:t>星野</a:t>
                      </a:r>
                      <a:r>
                        <a:rPr lang="ja-JP" altLang="en-US" sz="800" b="0" i="0" dirty="0">
                          <a:solidFill>
                            <a:schemeClr val="tx1"/>
                          </a:solidFill>
                          <a:effectLst/>
                          <a:latin typeface="MS PGothic" panose="020B0600070205080204" pitchFamily="50" charset="-128"/>
                        </a:rPr>
                        <a:t>​</a:t>
                      </a:r>
                      <a:endParaRPr lang="ja-JP" altLang="en-US" sz="1200" b="0" i="0" dirty="0">
                        <a:solidFill>
                          <a:schemeClr val="tx1"/>
                        </a:solidFill>
                        <a:effectLst/>
                      </a:endParaRPr>
                    </a:p>
                  </a:txBody>
                  <a:tcPr anchor="ctr"/>
                </a:tc>
                <a:extLst>
                  <a:ext uri="{0D108BD9-81ED-4DB2-BD59-A6C34878D82A}">
                    <a16:rowId xmlns:a16="http://schemas.microsoft.com/office/drawing/2014/main" val="1317811236"/>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FF0000"/>
                          </a:solidFill>
                        </a:rPr>
                        <a:t>Inputs(Main)_1</a:t>
                      </a:r>
                      <a:r>
                        <a:rPr lang="ja-JP" altLang="en-US" sz="800" dirty="0">
                          <a:solidFill>
                            <a:srgbClr val="FF0000"/>
                          </a:solidFill>
                        </a:rPr>
                        <a:t>画面</a:t>
                      </a:r>
                    </a:p>
                  </a:txBody>
                  <a:tcPr marL="25714" marR="25714" marT="25714" marB="25714" anchor="ctr"/>
                </a:tc>
                <a:tc>
                  <a:txBody>
                    <a:bodyPr/>
                    <a:lstStyle/>
                    <a:p>
                      <a:pPr algn="l"/>
                      <a:r>
                        <a:rPr kumimoji="1" lang="en-US" altLang="ja-JP" sz="800" dirty="0">
                          <a:solidFill>
                            <a:srgbClr val="FF0000"/>
                          </a:solidFill>
                        </a:rPr>
                        <a:t>Swing</a:t>
                      </a:r>
                      <a:r>
                        <a:rPr kumimoji="1" lang="ja-JP" altLang="en-US" sz="800" dirty="0">
                          <a:solidFill>
                            <a:srgbClr val="FF0000"/>
                          </a:solidFill>
                        </a:rPr>
                        <a:t> </a:t>
                      </a:r>
                      <a:r>
                        <a:rPr kumimoji="1" lang="en-US" altLang="ja-JP" sz="800" dirty="0">
                          <a:solidFill>
                            <a:srgbClr val="FF0000"/>
                          </a:solidFill>
                        </a:rPr>
                        <a:t>pedal</a:t>
                      </a:r>
                      <a:r>
                        <a:rPr kumimoji="1" lang="ja-JP" altLang="en-US" sz="800" dirty="0">
                          <a:solidFill>
                            <a:srgbClr val="FF0000"/>
                          </a:solidFill>
                        </a:rPr>
                        <a:t> 値範囲修正</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rPr>
                        <a:t>星野​</a:t>
                      </a:r>
                    </a:p>
                  </a:txBody>
                  <a:tcPr marL="25714" marR="25714" marT="25714" marB="25714" anchor="ctr" anchorCtr="1"/>
                </a:tc>
                <a:extLst>
                  <a:ext uri="{0D108BD9-81ED-4DB2-BD59-A6C34878D82A}">
                    <a16:rowId xmlns:a16="http://schemas.microsoft.com/office/drawing/2014/main" val="775800020"/>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FF0000"/>
                          </a:solidFill>
                        </a:rPr>
                        <a:t>Inputs(Main)_2</a:t>
                      </a:r>
                      <a:r>
                        <a:rPr lang="ja-JP" altLang="en-US" sz="800" dirty="0">
                          <a:solidFill>
                            <a:srgbClr val="FF0000"/>
                          </a:solidFill>
                        </a:rPr>
                        <a:t>画面</a:t>
                      </a:r>
                    </a:p>
                  </a:txBody>
                  <a:tcPr marL="25714" marR="25714" marT="25714" marB="25714" anchor="ctr"/>
                </a:tc>
                <a:tc>
                  <a:txBody>
                    <a:bodyPr/>
                    <a:lstStyle/>
                    <a:p>
                      <a:pPr algn="l"/>
                      <a:r>
                        <a:rPr kumimoji="1" lang="en-US" altLang="ja-JP" sz="800" dirty="0">
                          <a:solidFill>
                            <a:srgbClr val="FF0000"/>
                          </a:solidFill>
                        </a:rPr>
                        <a:t>Blade lever </a:t>
                      </a:r>
                      <a:r>
                        <a:rPr kumimoji="1" lang="ja-JP" altLang="en-US" sz="800" dirty="0">
                          <a:solidFill>
                            <a:srgbClr val="FF0000"/>
                          </a:solidFill>
                        </a:rPr>
                        <a:t> 値範囲修正</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rPr>
                        <a:t>星野​</a:t>
                      </a:r>
                    </a:p>
                  </a:txBody>
                  <a:tcPr marL="25714" marR="25714" marT="25714" marB="25714" anchor="ctr" anchorCtr="1"/>
                </a:tc>
                <a:extLst>
                  <a:ext uri="{0D108BD9-81ED-4DB2-BD59-A6C34878D82A}">
                    <a16:rowId xmlns:a16="http://schemas.microsoft.com/office/drawing/2014/main" val="1930956733"/>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algn="ctr"/>
                      <a:r>
                        <a:rPr kumimoji="1" lang="en-US" altLang="ja-JP" sz="800" dirty="0">
                          <a:solidFill>
                            <a:srgbClr val="FF0000"/>
                          </a:solidFill>
                        </a:rPr>
                        <a:t>Outputs(Main)</a:t>
                      </a:r>
                      <a:r>
                        <a:rPr kumimoji="1" lang="ja-JP" altLang="en-US" sz="800" dirty="0">
                          <a:solidFill>
                            <a:srgbClr val="FF0000"/>
                          </a:solidFill>
                        </a:rPr>
                        <a:t>画面</a:t>
                      </a:r>
                    </a:p>
                  </a:txBody>
                  <a:tcPr marL="25714" marR="25714" marT="25714" marB="25714" anchor="ctr"/>
                </a:tc>
                <a:tc>
                  <a:txBody>
                    <a:bodyPr/>
                    <a:lstStyle/>
                    <a:p>
                      <a:pPr algn="l"/>
                      <a:r>
                        <a:rPr kumimoji="1" lang="ja-JP" altLang="en-US" sz="800" dirty="0">
                          <a:solidFill>
                            <a:srgbClr val="FF0000"/>
                          </a:solidFill>
                        </a:rPr>
                        <a:t>拡張種直</a:t>
                      </a:r>
                      <a:r>
                        <a:rPr kumimoji="1" lang="en-US" altLang="ja-JP" sz="800" dirty="0">
                          <a:solidFill>
                            <a:srgbClr val="FF0000"/>
                          </a:solidFill>
                        </a:rPr>
                        <a:t>1,2,5AB</a:t>
                      </a:r>
                      <a:r>
                        <a:rPr kumimoji="1" lang="ja-JP" altLang="en-US" sz="800" dirty="0">
                          <a:solidFill>
                            <a:srgbClr val="FF0000"/>
                          </a:solidFill>
                        </a:rPr>
                        <a:t>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r>
                        <a:rPr lang="ja-JP" altLang="en-US" sz="800" b="0" i="0" dirty="0">
                          <a:solidFill>
                            <a:srgbClr val="FF0000"/>
                          </a:solidFill>
                          <a:effectLst/>
                          <a:latin typeface="MS PGothic" panose="020B0600070205080204" pitchFamily="50" charset="-128"/>
                        </a:rPr>
                        <a:t>​</a:t>
                      </a:r>
                      <a:endParaRPr lang="ja-JP" altLang="en-US" sz="1200" b="0" i="0" dirty="0">
                        <a:solidFill>
                          <a:srgbClr val="FF0000"/>
                        </a:solidFill>
                        <a:effectLst/>
                      </a:endParaRPr>
                    </a:p>
                  </a:txBody>
                  <a:tcPr marL="25714" marR="25714" marT="25714" marB="25714" anchor="ctr" anchorCtr="1"/>
                </a:tc>
                <a:extLst>
                  <a:ext uri="{0D108BD9-81ED-4DB2-BD59-A6C34878D82A}">
                    <a16:rowId xmlns:a16="http://schemas.microsoft.com/office/drawing/2014/main" val="2454252859"/>
                  </a:ext>
                </a:extLst>
              </a:tr>
              <a:tr h="221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FF0000"/>
                          </a:solidFill>
                        </a:rPr>
                        <a:t>Outputs(</a:t>
                      </a:r>
                      <a:r>
                        <a:rPr lang="en-US" altLang="ja-JP" sz="800" dirty="0" err="1">
                          <a:solidFill>
                            <a:srgbClr val="FF0000"/>
                          </a:solidFill>
                        </a:rPr>
                        <a:t>Sub,Uc</a:t>
                      </a:r>
                      <a:r>
                        <a:rPr lang="en-US" altLang="ja-JP" sz="800" dirty="0">
                          <a:solidFill>
                            <a:srgbClr val="FF0000"/>
                          </a:solidFill>
                        </a:rPr>
                        <a:t>)</a:t>
                      </a:r>
                      <a:r>
                        <a:rPr lang="ja-JP" altLang="en-US" sz="800" dirty="0">
                          <a:solidFill>
                            <a:srgbClr val="FF0000"/>
                          </a:solidFill>
                        </a:rPr>
                        <a:t>画面</a:t>
                      </a:r>
                    </a:p>
                  </a:txBody>
                  <a:tcPr marL="25714" marR="25714" marT="25714" marB="2571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rPr>
                        <a:t>拡張種直</a:t>
                      </a:r>
                      <a:r>
                        <a:rPr kumimoji="1" lang="en-US" altLang="ja-JP" sz="800" dirty="0">
                          <a:solidFill>
                            <a:srgbClr val="FF0000"/>
                          </a:solidFill>
                        </a:rPr>
                        <a:t>3,4</a:t>
                      </a:r>
                      <a:r>
                        <a:rPr kumimoji="1" lang="ja-JP" altLang="en-US" sz="800" dirty="0">
                          <a:solidFill>
                            <a:srgbClr val="FF0000"/>
                          </a:solidFill>
                        </a:rPr>
                        <a:t>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2231432898"/>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err="1">
                          <a:solidFill>
                            <a:srgbClr val="FF0000"/>
                          </a:solidFill>
                        </a:rPr>
                        <a:t>Feadback</a:t>
                      </a:r>
                      <a:r>
                        <a:rPr lang="ja-JP" altLang="en-US" sz="800" dirty="0">
                          <a:solidFill>
                            <a:srgbClr val="FF0000"/>
                          </a:solidFill>
                        </a:rPr>
                        <a:t>画面</a:t>
                      </a:r>
                    </a:p>
                  </a:txBody>
                  <a:tcPr marL="25714" marR="25714" marT="25714" marB="25714" anchor="ctr"/>
                </a:tc>
                <a:tc>
                  <a:txBody>
                    <a:bodyPr/>
                    <a:lstStyle/>
                    <a:p>
                      <a:pPr algn="l"/>
                      <a:r>
                        <a:rPr kumimoji="1" lang="ja-JP" altLang="en-US" sz="800" dirty="0">
                          <a:solidFill>
                            <a:srgbClr val="FF0000"/>
                          </a:solidFill>
                        </a:rPr>
                        <a:t>拡張出力</a:t>
                      </a:r>
                      <a:r>
                        <a:rPr kumimoji="1" lang="en-US" altLang="ja-JP" sz="800" dirty="0">
                          <a:solidFill>
                            <a:srgbClr val="FF0000"/>
                          </a:solidFill>
                        </a:rPr>
                        <a:t>5AB</a:t>
                      </a:r>
                      <a:r>
                        <a:rPr kumimoji="1" lang="ja-JP" altLang="en-US" sz="800" dirty="0">
                          <a:solidFill>
                            <a:srgbClr val="FF0000"/>
                          </a:solidFill>
                        </a:rPr>
                        <a:t>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958856956"/>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algn="ctr"/>
                      <a:r>
                        <a:rPr lang="en-US" altLang="ja-JP" sz="800" dirty="0">
                          <a:solidFill>
                            <a:srgbClr val="FF0000"/>
                          </a:solidFill>
                        </a:rPr>
                        <a:t>Operating lever switch(Multi-Function Grip)</a:t>
                      </a:r>
                      <a:r>
                        <a:rPr lang="ja-JP" altLang="en-US" sz="800" dirty="0">
                          <a:solidFill>
                            <a:srgbClr val="FF0000"/>
                          </a:solidFill>
                        </a:rPr>
                        <a:t>画面</a:t>
                      </a:r>
                      <a:endParaRPr lang="en-US" altLang="ja-JP" sz="800" dirty="0">
                        <a:solidFill>
                          <a:srgbClr val="FF0000"/>
                        </a:solidFill>
                      </a:endParaRPr>
                    </a:p>
                  </a:txBody>
                  <a:tcPr marL="25714" marR="25714" marT="25714" marB="25714" anchor="ctr"/>
                </a:tc>
                <a:tc>
                  <a:txBody>
                    <a:bodyPr/>
                    <a:lstStyle/>
                    <a:p>
                      <a:pPr algn="l"/>
                      <a:r>
                        <a:rPr kumimoji="1" lang="ja-JP" altLang="en-US" sz="800" dirty="0">
                          <a:solidFill>
                            <a:srgbClr val="FF0000"/>
                          </a:solidFill>
                        </a:rPr>
                        <a:t>拡張出力選択肢追加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240558580"/>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FF0000"/>
                          </a:solidFill>
                        </a:rPr>
                        <a:t>Option</a:t>
                      </a:r>
                      <a:r>
                        <a:rPr lang="ja-JP" altLang="en-US" sz="800" dirty="0">
                          <a:solidFill>
                            <a:srgbClr val="FF0000"/>
                          </a:solidFill>
                        </a:rPr>
                        <a:t> </a:t>
                      </a:r>
                      <a:r>
                        <a:rPr lang="en-US" altLang="ja-JP" sz="800" dirty="0">
                          <a:solidFill>
                            <a:srgbClr val="FF0000"/>
                          </a:solidFill>
                        </a:rPr>
                        <a:t>setting</a:t>
                      </a:r>
                      <a:r>
                        <a:rPr lang="ja-JP" altLang="en-US" sz="800" dirty="0">
                          <a:solidFill>
                            <a:srgbClr val="FF0000"/>
                          </a:solidFill>
                        </a:rPr>
                        <a:t>画面</a:t>
                      </a:r>
                    </a:p>
                  </a:txBody>
                  <a:tcPr marL="25714" marR="25714" marT="25714" marB="25714" anchor="ctr"/>
                </a:tc>
                <a:tc>
                  <a:txBody>
                    <a:bodyPr/>
                    <a:lstStyle/>
                    <a:p>
                      <a:pPr algn="l"/>
                      <a:r>
                        <a:rPr kumimoji="1" lang="ja-JP" altLang="en-US" sz="800" dirty="0">
                          <a:solidFill>
                            <a:srgbClr val="FF0000"/>
                          </a:solidFill>
                        </a:rPr>
                        <a:t>拡張出力仕様追加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953827533"/>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rgbClr val="FF0000"/>
                          </a:solidFill>
                        </a:rPr>
                        <a:t>Extension Output</a:t>
                      </a:r>
                      <a:r>
                        <a:rPr kumimoji="1" lang="ja-JP" altLang="en-US" sz="800" dirty="0">
                          <a:solidFill>
                            <a:srgbClr val="FF0000"/>
                          </a:solidFill>
                        </a:rPr>
                        <a:t>画面</a:t>
                      </a:r>
                    </a:p>
                  </a:txBody>
                  <a:tcPr marL="25714" marR="25714" marT="25714" marB="25714" anchor="ctr"/>
                </a:tc>
                <a:tc>
                  <a:txBody>
                    <a:bodyPr/>
                    <a:lstStyle/>
                    <a:p>
                      <a:pPr algn="l"/>
                      <a:r>
                        <a:rPr kumimoji="1" lang="ja-JP" altLang="en-US" sz="800" dirty="0">
                          <a:solidFill>
                            <a:srgbClr val="FF0000"/>
                          </a:solidFill>
                        </a:rPr>
                        <a:t>新規ページ追加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983833541"/>
                  </a:ext>
                </a:extLst>
              </a:tr>
              <a:tr h="221072">
                <a:tc>
                  <a:txBody>
                    <a:bodyPr/>
                    <a:lstStyle/>
                    <a:p>
                      <a:pPr algn="ctr"/>
                      <a:r>
                        <a:rPr kumimoji="1" lang="en-US" altLang="ja-JP" sz="800" dirty="0">
                          <a:solidFill>
                            <a:srgbClr val="FF0000"/>
                          </a:solidFill>
                        </a:rPr>
                        <a:t>07</a:t>
                      </a:r>
                      <a:endParaRPr kumimoji="1" lang="ja-JP" altLang="en-US" sz="800" dirty="0">
                        <a:solidFill>
                          <a:srgbClr val="FF0000"/>
                        </a:solidFill>
                      </a:endParaRPr>
                    </a:p>
                  </a:txBody>
                  <a:tcPr marL="25714" marR="25714" marT="25714" marB="2571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solidFill>
                            <a:srgbClr val="FF0000"/>
                          </a:solidFill>
                        </a:rPr>
                        <a:t>Extension output 5 current</a:t>
                      </a:r>
                      <a:r>
                        <a:rPr kumimoji="1" lang="ja-JP" altLang="en-US" sz="800" dirty="0">
                          <a:solidFill>
                            <a:srgbClr val="FF0000"/>
                          </a:solidFill>
                        </a:rPr>
                        <a:t>画面</a:t>
                      </a:r>
                    </a:p>
                  </a:txBody>
                  <a:tcPr marL="25714" marR="25714" marT="25714" marB="25714"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rgbClr val="FF0000"/>
                          </a:solidFill>
                        </a:rPr>
                        <a:t>新規ページ追加</a:t>
                      </a:r>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r>
                        <a:rPr lang="ja-JP" altLang="en-US" sz="800" b="0" i="0" dirty="0">
                          <a:solidFill>
                            <a:srgbClr val="FF0000"/>
                          </a:solidFill>
                          <a:effectLst/>
                          <a:ea typeface="MS PGothic" panose="020B0600070205080204" pitchFamily="50" charset="-128"/>
                        </a:rPr>
                        <a:t>星野</a:t>
                      </a:r>
                      <a:endParaRPr kumimoji="1" lang="ja-JP" altLang="en-US" sz="800" dirty="0">
                        <a:solidFill>
                          <a:srgbClr val="FF0000"/>
                        </a:solidFill>
                      </a:endParaRPr>
                    </a:p>
                  </a:txBody>
                  <a:tcPr marL="25714" marR="25714" marT="25714" marB="25714" anchor="ctr" anchorCtr="1"/>
                </a:tc>
                <a:extLst>
                  <a:ext uri="{0D108BD9-81ED-4DB2-BD59-A6C34878D82A}">
                    <a16:rowId xmlns:a16="http://schemas.microsoft.com/office/drawing/2014/main" val="2955123116"/>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3043702392"/>
                  </a:ext>
                </a:extLst>
              </a:tr>
              <a:tr h="301978">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200365874"/>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1768354087"/>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1642368662"/>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1032796061"/>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3162541343"/>
                  </a:ext>
                </a:extLst>
              </a:tr>
              <a:tr h="221072">
                <a:tc>
                  <a:txBody>
                    <a:bodyPr/>
                    <a:lstStyle/>
                    <a:p>
                      <a:pPr algn="ctr"/>
                      <a:endParaRPr kumimoji="1" lang="ja-JP" altLang="en-US" sz="800" dirty="0"/>
                    </a:p>
                  </a:txBody>
                  <a:tcPr marL="25714" marR="25714" marT="25714" marB="25714" anchor="ctr"/>
                </a:tc>
                <a:tc>
                  <a:txBody>
                    <a:bodyPr/>
                    <a:lstStyle/>
                    <a:p>
                      <a:pPr algn="ctr"/>
                      <a:endParaRPr kumimoji="1" lang="ja-JP" altLang="en-US" sz="800" dirty="0"/>
                    </a:p>
                  </a:txBody>
                  <a:tcPr marL="25714" marR="25714" marT="25714" marB="25714" anchor="ctr"/>
                </a:tc>
                <a:tc>
                  <a:txBody>
                    <a:bodyPr/>
                    <a:lstStyle/>
                    <a:p>
                      <a:pPr algn="l"/>
                      <a:endParaRPr kumimoji="1" lang="ja-JP" altLang="en-US" sz="800" dirty="0"/>
                    </a:p>
                  </a:txBody>
                  <a:tcPr marL="25714" marR="25714" marT="25714" marB="25714" anchor="ctr"/>
                </a:tc>
                <a:tc>
                  <a:txBody>
                    <a:bodyPr/>
                    <a:lstStyle/>
                    <a:p>
                      <a:pPr marL="0" marR="0" lvl="0" indent="0" algn="ctr" defTabSz="1280160" rtl="0" eaLnBrk="1" fontAlgn="auto" latinLnBrk="0" hangingPunct="1">
                        <a:lnSpc>
                          <a:spcPct val="100000"/>
                        </a:lnSpc>
                        <a:spcBef>
                          <a:spcPts val="0"/>
                        </a:spcBef>
                        <a:spcAft>
                          <a:spcPts val="0"/>
                        </a:spcAft>
                        <a:buClrTx/>
                        <a:buSzTx/>
                        <a:buFontTx/>
                        <a:buNone/>
                        <a:tabLst/>
                        <a:defRPr/>
                      </a:pPr>
                      <a:endParaRPr kumimoji="1" lang="ja-JP" altLang="en-US" sz="800" dirty="0"/>
                    </a:p>
                  </a:txBody>
                  <a:tcPr marL="25714" marR="25714" marT="25714" marB="25714" anchor="ctr" anchorCtr="1"/>
                </a:tc>
                <a:extLst>
                  <a:ext uri="{0D108BD9-81ED-4DB2-BD59-A6C34878D82A}">
                    <a16:rowId xmlns:a16="http://schemas.microsoft.com/office/drawing/2014/main" val="760647876"/>
                  </a:ext>
                </a:extLst>
              </a:tr>
            </a:tbl>
          </a:graphicData>
        </a:graphic>
      </p:graphicFrame>
      <p:sp>
        <p:nvSpPr>
          <p:cNvPr id="5" name="テキスト ボックス 4">
            <a:extLst>
              <a:ext uri="{FF2B5EF4-FFF2-40B4-BE49-F238E27FC236}">
                <a16:creationId xmlns:a16="http://schemas.microsoft.com/office/drawing/2014/main" id="{647ED4A9-8D95-FE90-8E81-B0DFBB36D146}"/>
              </a:ext>
            </a:extLst>
          </p:cNvPr>
          <p:cNvSpPr txBox="1"/>
          <p:nvPr/>
        </p:nvSpPr>
        <p:spPr>
          <a:xfrm>
            <a:off x="1000987" y="109872"/>
            <a:ext cx="588623" cy="213264"/>
          </a:xfrm>
          <a:prstGeom prst="rect">
            <a:avLst/>
          </a:prstGeom>
          <a:noFill/>
        </p:spPr>
        <p:txBody>
          <a:bodyPr wrap="none" rtlCol="0">
            <a:spAutoFit/>
          </a:bodyPr>
          <a:lstStyle/>
          <a:p>
            <a:r>
              <a:rPr lang="ja-JP" altLang="en-US" sz="786" dirty="0"/>
              <a:t>変更内容</a:t>
            </a:r>
          </a:p>
        </p:txBody>
      </p:sp>
    </p:spTree>
    <p:extLst>
      <p:ext uri="{BB962C8B-B14F-4D97-AF65-F5344CB8AC3E}">
        <p14:creationId xmlns:p14="http://schemas.microsoft.com/office/powerpoint/2010/main" val="62072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F42F218-B08E-1529-1E9F-6A32E0FC9CF1}"/>
              </a:ext>
            </a:extLst>
          </p:cNvPr>
          <p:cNvPicPr>
            <a:picLocks noChangeAspect="1"/>
          </p:cNvPicPr>
          <p:nvPr/>
        </p:nvPicPr>
        <p:blipFill>
          <a:blip r:embed="rId2"/>
          <a:stretch>
            <a:fillRect/>
          </a:stretch>
        </p:blipFill>
        <p:spPr>
          <a:xfrm>
            <a:off x="344488" y="665121"/>
            <a:ext cx="4857142" cy="3355637"/>
          </a:xfrm>
          <a:prstGeom prst="rect">
            <a:avLst/>
          </a:prstGeom>
        </p:spPr>
      </p:pic>
      <p:sp>
        <p:nvSpPr>
          <p:cNvPr id="9" name="円/楕円 8"/>
          <p:cNvSpPr/>
          <p:nvPr/>
        </p:nvSpPr>
        <p:spPr>
          <a:xfrm>
            <a:off x="3566361" y="1141876"/>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13" name="円/楕円 12"/>
          <p:cNvSpPr/>
          <p:nvPr/>
        </p:nvSpPr>
        <p:spPr>
          <a:xfrm>
            <a:off x="199172" y="1168071"/>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sp>
        <p:nvSpPr>
          <p:cNvPr id="24" name="円/楕円 23"/>
          <p:cNvSpPr/>
          <p:nvPr/>
        </p:nvSpPr>
        <p:spPr>
          <a:xfrm>
            <a:off x="204218" y="2681479"/>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sp>
        <p:nvSpPr>
          <p:cNvPr id="28" name="円/楕円 27"/>
          <p:cNvSpPr/>
          <p:nvPr/>
        </p:nvSpPr>
        <p:spPr>
          <a:xfrm>
            <a:off x="4537524" y="7399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sp>
        <p:nvSpPr>
          <p:cNvPr id="18" name="円/楕円 17"/>
          <p:cNvSpPr/>
          <p:nvPr/>
        </p:nvSpPr>
        <p:spPr>
          <a:xfrm>
            <a:off x="217102" y="2260065"/>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sp>
        <p:nvSpPr>
          <p:cNvPr id="6" name="テキスト ボックス 5"/>
          <p:cNvSpPr txBox="1"/>
          <p:nvPr/>
        </p:nvSpPr>
        <p:spPr>
          <a:xfrm>
            <a:off x="5421313" y="657225"/>
            <a:ext cx="4205699" cy="5763822"/>
          </a:xfrm>
          <a:prstGeom prst="rect">
            <a:avLst/>
          </a:prstGeom>
          <a:solidFill>
            <a:schemeClr val="bg1"/>
          </a:solidFill>
          <a:ln w="6350">
            <a:solidFill>
              <a:schemeClr val="tx1"/>
            </a:solidFill>
          </a:ln>
        </p:spPr>
        <p:txBody>
          <a:bodyPr wrap="square" rtlCol="0">
            <a:spAutoFit/>
          </a:bodyPr>
          <a:lstStyle/>
          <a:p>
            <a:r>
              <a:rPr lang="ja-JP" altLang="en-US" sz="857" dirty="0">
                <a:ea typeface="メイリオ" panose="020B0604030504040204" pitchFamily="50" charset="-128"/>
                <a:cs typeface="メイリオ" panose="020B0604030504040204" pitchFamily="50" charset="-128"/>
              </a:rPr>
              <a:t>各ボタンをクリックすると各画面に移動します</a:t>
            </a:r>
            <a:endParaRPr lang="en-US" altLang="ja-JP" sz="857" dirty="0">
              <a:ea typeface="メイリオ" panose="020B0604030504040204" pitchFamily="50" charset="-128"/>
              <a:cs typeface="メイリオ" panose="020B0604030504040204" pitchFamily="50" charset="-128"/>
            </a:endParaRPr>
          </a:p>
          <a:p>
            <a:pPr>
              <a:lnSpc>
                <a:spcPct val="200000"/>
              </a:lnSpc>
            </a:pPr>
            <a:r>
              <a:rPr lang="ja-JP" altLang="en-US" sz="857" dirty="0">
                <a:ea typeface="メイリオ" panose="020B0604030504040204" pitchFamily="50" charset="-128"/>
                <a:cs typeface="メイリオ" panose="020B0604030504040204" pitchFamily="50" charset="-128"/>
              </a:rPr>
              <a:t>①</a:t>
            </a:r>
            <a:r>
              <a:rPr lang="en-US" altLang="ja-JP" sz="857" dirty="0">
                <a:ea typeface="メイリオ" panose="020B0604030504040204" pitchFamily="50" charset="-128"/>
                <a:cs typeface="メイリオ" panose="020B0604030504040204" pitchFamily="50" charset="-128"/>
              </a:rPr>
              <a:t>Program version</a:t>
            </a:r>
          </a:p>
          <a:p>
            <a:r>
              <a:rPr lang="ja-JP" altLang="en-US" sz="857" dirty="0">
                <a:ea typeface="メイリオ" panose="020B0604030504040204" pitchFamily="50" charset="-128"/>
                <a:cs typeface="メイリオ" panose="020B0604030504040204" pitchFamily="50" charset="-128"/>
              </a:rPr>
              <a:t>コントローラプログラムバージョンを確認できます</a:t>
            </a:r>
            <a:endParaRPr lang="en-US" altLang="ja-JP" sz="857" dirty="0">
              <a:ea typeface="メイリオ" panose="020B0604030504040204" pitchFamily="50" charset="-128"/>
              <a:cs typeface="メイリオ" panose="020B0604030504040204" pitchFamily="50" charset="-128"/>
            </a:endParaRPr>
          </a:p>
          <a:p>
            <a:pPr>
              <a:lnSpc>
                <a:spcPct val="200000"/>
              </a:lnSpc>
            </a:pPr>
            <a:r>
              <a:rPr lang="ja-JP" altLang="en-US" sz="857" dirty="0">
                <a:ea typeface="メイリオ" panose="020B0604030504040204" pitchFamily="50" charset="-128"/>
                <a:cs typeface="メイリオ" panose="020B0604030504040204" pitchFamily="50" charset="-128"/>
              </a:rPr>
              <a:t>②</a:t>
            </a:r>
            <a:r>
              <a:rPr lang="en-US" altLang="ja-JP" sz="857" dirty="0">
                <a:ea typeface="メイリオ" panose="020B0604030504040204" pitchFamily="50" charset="-128"/>
                <a:cs typeface="メイリオ" panose="020B0604030504040204" pitchFamily="50" charset="-128"/>
              </a:rPr>
              <a:t>Machine status</a:t>
            </a:r>
          </a:p>
          <a:p>
            <a:r>
              <a:rPr lang="ja-JP" altLang="en-US" sz="857" dirty="0">
                <a:ea typeface="メイリオ" panose="020B0604030504040204" pitchFamily="50" charset="-128"/>
                <a:cs typeface="メイリオ" panose="020B0604030504040204" pitchFamily="50" charset="-128"/>
              </a:rPr>
              <a:t>各種車両状況が確認できます</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Inputs(MC)_1	:</a:t>
            </a:r>
            <a:r>
              <a:rPr lang="ja-JP" altLang="en-US" sz="857" dirty="0">
                <a:ea typeface="メイリオ" panose="020B0604030504040204" pitchFamily="50" charset="-128"/>
                <a:cs typeface="メイリオ" panose="020B0604030504040204" pitchFamily="50" charset="-128"/>
              </a:rPr>
              <a:t>メインコントローラの入力１</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Inputs(MC)_2	:</a:t>
            </a:r>
            <a:r>
              <a:rPr lang="ja-JP" altLang="en-US" sz="857" dirty="0">
                <a:ea typeface="メイリオ" panose="020B0604030504040204" pitchFamily="50" charset="-128"/>
                <a:cs typeface="メイリオ" panose="020B0604030504040204" pitchFamily="50" charset="-128"/>
              </a:rPr>
              <a:t>メインコントローラの入力２</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Inputs(</a:t>
            </a:r>
            <a:r>
              <a:rPr lang="en-US" altLang="ja-JP" sz="857" dirty="0" err="1">
                <a:ea typeface="メイリオ" panose="020B0604030504040204" pitchFamily="50" charset="-128"/>
                <a:cs typeface="メイリオ" panose="020B0604030504040204" pitchFamily="50" charset="-128"/>
              </a:rPr>
              <a:t>Sub,Uc</a:t>
            </a:r>
            <a:r>
              <a:rPr lang="en-US" altLang="ja-JP" sz="857" dirty="0">
                <a:ea typeface="メイリオ" panose="020B0604030504040204" pitchFamily="50" charset="-128"/>
                <a:cs typeface="メイリオ" panose="020B0604030504040204" pitchFamily="50" charset="-128"/>
              </a:rPr>
              <a:t>)	:</a:t>
            </a:r>
            <a:r>
              <a:rPr lang="ja-JP" altLang="en-US" sz="857" dirty="0">
                <a:ea typeface="メイリオ" panose="020B0604030504040204" pitchFamily="50" charset="-128"/>
                <a:cs typeface="メイリオ" panose="020B0604030504040204" pitchFamily="50" charset="-128"/>
              </a:rPr>
              <a:t>サブコントローラと下部体コントローラの入力</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Outputs(MC)	:</a:t>
            </a:r>
            <a:r>
              <a:rPr lang="ja-JP" altLang="en-US" sz="857" dirty="0">
                <a:ea typeface="メイリオ" panose="020B0604030504040204" pitchFamily="50" charset="-128"/>
                <a:cs typeface="メイリオ" panose="020B0604030504040204" pitchFamily="50" charset="-128"/>
              </a:rPr>
              <a:t>メインコントローラの出力</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Outputs(</a:t>
            </a:r>
            <a:r>
              <a:rPr lang="en-US" altLang="ja-JP" sz="857" dirty="0" err="1">
                <a:ea typeface="メイリオ" panose="020B0604030504040204" pitchFamily="50" charset="-128"/>
                <a:cs typeface="メイリオ" panose="020B0604030504040204" pitchFamily="50" charset="-128"/>
              </a:rPr>
              <a:t>Sub,Uc</a:t>
            </a:r>
            <a:r>
              <a:rPr lang="en-US" altLang="ja-JP" sz="857" dirty="0">
                <a:ea typeface="メイリオ" panose="020B0604030504040204" pitchFamily="50" charset="-128"/>
                <a:cs typeface="メイリオ" panose="020B0604030504040204" pitchFamily="50" charset="-128"/>
              </a:rPr>
              <a:t>)	:</a:t>
            </a:r>
            <a:r>
              <a:rPr lang="ja-JP" altLang="en-US" sz="857" dirty="0">
                <a:ea typeface="メイリオ" panose="020B0604030504040204" pitchFamily="50" charset="-128"/>
                <a:cs typeface="メイリオ" panose="020B0604030504040204" pitchFamily="50" charset="-128"/>
              </a:rPr>
              <a:t>サブコントローラと下部体コントローラの出力</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CAN	:</a:t>
            </a:r>
            <a:r>
              <a:rPr lang="ja-JP" altLang="en-US" sz="857" dirty="0">
                <a:ea typeface="メイリオ" panose="020B0604030504040204" pitchFamily="50" charset="-128"/>
                <a:cs typeface="メイリオ" panose="020B0604030504040204" pitchFamily="50" charset="-128"/>
              </a:rPr>
              <a:t> 各機器からの</a:t>
            </a:r>
            <a:r>
              <a:rPr lang="en-US" altLang="ja-JP" sz="857" dirty="0">
                <a:ea typeface="メイリオ" panose="020B0604030504040204" pitchFamily="50" charset="-128"/>
                <a:cs typeface="メイリオ" panose="020B0604030504040204" pitchFamily="50" charset="-128"/>
              </a:rPr>
              <a:t>CAN</a:t>
            </a:r>
            <a:r>
              <a:rPr lang="ja-JP" altLang="en-US" sz="857" dirty="0">
                <a:ea typeface="メイリオ" panose="020B0604030504040204" pitchFamily="50" charset="-128"/>
                <a:cs typeface="メイリオ" panose="020B0604030504040204" pitchFamily="50" charset="-128"/>
              </a:rPr>
              <a:t>受信状態</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Feedback	:</a:t>
            </a:r>
            <a:r>
              <a:rPr lang="ja-JP" altLang="en-US" sz="857" dirty="0">
                <a:ea typeface="メイリオ" panose="020B0604030504040204" pitchFamily="50" charset="-128"/>
                <a:cs typeface="メイリオ" panose="020B0604030504040204" pitchFamily="50" charset="-128"/>
              </a:rPr>
              <a:t> 実際のコントローラからの出力値</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Error Code	:</a:t>
            </a:r>
            <a:r>
              <a:rPr lang="ja-JP" altLang="en-US" sz="857" dirty="0">
                <a:ea typeface="メイリオ" panose="020B0604030504040204" pitchFamily="50" charset="-128"/>
                <a:cs typeface="メイリオ" panose="020B0604030504040204" pitchFamily="50" charset="-128"/>
              </a:rPr>
              <a:t> 機械のエラーコード</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Vehicle status	:</a:t>
            </a:r>
            <a:r>
              <a:rPr lang="ja-JP" altLang="en-US" sz="857" dirty="0">
                <a:ea typeface="メイリオ" panose="020B0604030504040204" pitchFamily="50" charset="-128"/>
                <a:cs typeface="メイリオ" panose="020B0604030504040204" pitchFamily="50" charset="-128"/>
              </a:rPr>
              <a:t> 車両の各種状況</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Input(Grip)	:</a:t>
            </a:r>
            <a:r>
              <a:rPr lang="ja-JP" altLang="en-US" sz="857" dirty="0">
                <a:ea typeface="メイリオ" panose="020B0604030504040204" pitchFamily="50" charset="-128"/>
                <a:cs typeface="メイリオ" panose="020B0604030504040204" pitchFamily="50" charset="-128"/>
              </a:rPr>
              <a:t> 多機能グリップの状態を確認</a:t>
            </a:r>
            <a:endParaRPr lang="en-US" altLang="ja-JP" sz="857" dirty="0">
              <a:ea typeface="メイリオ" panose="020B0604030504040204" pitchFamily="50" charset="-128"/>
              <a:cs typeface="メイリオ" panose="020B0604030504040204" pitchFamily="50" charset="-128"/>
            </a:endParaRPr>
          </a:p>
          <a:p>
            <a:pPr>
              <a:lnSpc>
                <a:spcPct val="200000"/>
              </a:lnSpc>
            </a:pPr>
            <a:r>
              <a:rPr lang="ja-JP" altLang="en-US" sz="857" dirty="0">
                <a:ea typeface="メイリオ" panose="020B0604030504040204" pitchFamily="50" charset="-128"/>
                <a:cs typeface="メイリオ" panose="020B0604030504040204" pitchFamily="50" charset="-128"/>
              </a:rPr>
              <a:t>③</a:t>
            </a:r>
            <a:r>
              <a:rPr lang="en-US" altLang="ja-JP" sz="857" dirty="0">
                <a:ea typeface="メイリオ" panose="020B0604030504040204" pitchFamily="50" charset="-128"/>
                <a:cs typeface="メイリオ" panose="020B0604030504040204" pitchFamily="50" charset="-128"/>
              </a:rPr>
              <a:t>Engine status</a:t>
            </a:r>
          </a:p>
          <a:p>
            <a:r>
              <a:rPr lang="ja-JP" altLang="en-US" sz="857" dirty="0">
                <a:ea typeface="メイリオ" panose="020B0604030504040204" pitchFamily="50" charset="-128"/>
                <a:cs typeface="メイリオ" panose="020B0604030504040204" pitchFamily="50" charset="-128"/>
              </a:rPr>
              <a:t>エンジン状況が確認可能</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Status	:</a:t>
            </a:r>
            <a:r>
              <a:rPr lang="ja-JP" altLang="en-US" sz="857" dirty="0">
                <a:ea typeface="メイリオ" panose="020B0604030504040204" pitchFamily="50" charset="-128"/>
                <a:cs typeface="メイリオ" panose="020B0604030504040204" pitchFamily="50" charset="-128"/>
              </a:rPr>
              <a:t>エンジンのスイッチ入力、制限の状況</a:t>
            </a:r>
            <a:endParaRPr lang="en-US" altLang="ja-JP" sz="857" dirty="0">
              <a:ea typeface="メイリオ" panose="020B0604030504040204" pitchFamily="50" charset="-128"/>
              <a:cs typeface="メイリオ" panose="020B0604030504040204" pitchFamily="50" charset="-128"/>
            </a:endParaRPr>
          </a:p>
          <a:p>
            <a:pPr>
              <a:lnSpc>
                <a:spcPct val="200000"/>
              </a:lnSpc>
            </a:pPr>
            <a:r>
              <a:rPr lang="ja-JP" altLang="en-US" sz="857" dirty="0">
                <a:ea typeface="メイリオ" panose="020B0604030504040204" pitchFamily="50" charset="-128"/>
                <a:cs typeface="メイリオ" panose="020B0604030504040204" pitchFamily="50" charset="-128"/>
              </a:rPr>
              <a:t>④</a:t>
            </a:r>
            <a:r>
              <a:rPr lang="en-US" altLang="ja-JP" sz="857" dirty="0">
                <a:ea typeface="メイリオ" panose="020B0604030504040204" pitchFamily="50" charset="-128"/>
                <a:cs typeface="メイリオ" panose="020B0604030504040204" pitchFamily="50" charset="-128"/>
              </a:rPr>
              <a:t>Settings</a:t>
            </a:r>
          </a:p>
          <a:p>
            <a:r>
              <a:rPr lang="ja-JP" altLang="en-US" sz="857" dirty="0">
                <a:ea typeface="メイリオ" panose="020B0604030504040204" pitchFamily="50" charset="-128"/>
                <a:cs typeface="メイリオ" panose="020B0604030504040204" pitchFamily="50" charset="-128"/>
              </a:rPr>
              <a:t>その他、機能ごとに設定状況の確認と設定ができます</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AUX1	: </a:t>
            </a:r>
            <a:r>
              <a:rPr lang="ja-JP" altLang="en-US" sz="857" dirty="0">
                <a:ea typeface="メイリオ" panose="020B0604030504040204" pitchFamily="50" charset="-128"/>
                <a:cs typeface="メイリオ" panose="020B0604030504040204" pitchFamily="50" charset="-128"/>
              </a:rPr>
              <a:t>第</a:t>
            </a:r>
            <a:r>
              <a:rPr lang="en-US" altLang="ja-JP" sz="857" dirty="0">
                <a:ea typeface="メイリオ" panose="020B0604030504040204" pitchFamily="50" charset="-128"/>
                <a:cs typeface="メイリオ" panose="020B0604030504040204" pitchFamily="50" charset="-128"/>
              </a:rPr>
              <a:t>1</a:t>
            </a:r>
            <a:r>
              <a:rPr lang="ja-JP" altLang="en-US" sz="857" dirty="0">
                <a:ea typeface="メイリオ" panose="020B0604030504040204" pitchFamily="50" charset="-128"/>
                <a:cs typeface="メイリオ" panose="020B0604030504040204" pitchFamily="50" charset="-128"/>
              </a:rPr>
              <a:t>サービスに関する機能の確認と設定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AUX2	:</a:t>
            </a:r>
            <a:r>
              <a:rPr lang="ja-JP" altLang="en-US" sz="857" dirty="0">
                <a:ea typeface="メイリオ" panose="020B0604030504040204" pitchFamily="50" charset="-128"/>
                <a:cs typeface="メイリオ" panose="020B0604030504040204" pitchFamily="50" charset="-128"/>
              </a:rPr>
              <a:t> 第</a:t>
            </a:r>
            <a:r>
              <a:rPr lang="en-US" altLang="ja-JP" sz="857" dirty="0">
                <a:ea typeface="メイリオ" panose="020B0604030504040204" pitchFamily="50" charset="-128"/>
                <a:cs typeface="メイリオ" panose="020B0604030504040204" pitchFamily="50" charset="-128"/>
              </a:rPr>
              <a:t>2</a:t>
            </a:r>
            <a:r>
              <a:rPr lang="ja-JP" altLang="en-US" sz="857" dirty="0">
                <a:ea typeface="メイリオ" panose="020B0604030504040204" pitchFamily="50" charset="-128"/>
                <a:cs typeface="メイリオ" panose="020B0604030504040204" pitchFamily="50" charset="-128"/>
              </a:rPr>
              <a:t>サービスに関する機能の確認と設定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AUX4	:</a:t>
            </a:r>
            <a:r>
              <a:rPr lang="ja-JP" altLang="en-US" sz="857" dirty="0">
                <a:ea typeface="メイリオ" panose="020B0604030504040204" pitchFamily="50" charset="-128"/>
                <a:cs typeface="メイリオ" panose="020B0604030504040204" pitchFamily="50" charset="-128"/>
              </a:rPr>
              <a:t> 第</a:t>
            </a:r>
            <a:r>
              <a:rPr lang="en-US" altLang="ja-JP" sz="857" dirty="0">
                <a:ea typeface="メイリオ" panose="020B0604030504040204" pitchFamily="50" charset="-128"/>
                <a:cs typeface="メイリオ" panose="020B0604030504040204" pitchFamily="50" charset="-128"/>
              </a:rPr>
              <a:t>4</a:t>
            </a:r>
            <a:r>
              <a:rPr lang="ja-JP" altLang="en-US" sz="857" dirty="0">
                <a:ea typeface="メイリオ" panose="020B0604030504040204" pitchFamily="50" charset="-128"/>
                <a:cs typeface="メイリオ" panose="020B0604030504040204" pitchFamily="50" charset="-128"/>
              </a:rPr>
              <a:t>サービスに関する機能の確認と設定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Swing	: </a:t>
            </a:r>
            <a:r>
              <a:rPr lang="ja-JP" altLang="en-US" sz="857" dirty="0">
                <a:ea typeface="メイリオ" panose="020B0604030504040204" pitchFamily="50" charset="-128"/>
                <a:cs typeface="メイリオ" panose="020B0604030504040204" pitchFamily="50" charset="-128"/>
              </a:rPr>
              <a:t>スイング操作に関する機能の確認と設定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Blade	: </a:t>
            </a:r>
            <a:r>
              <a:rPr lang="ja-JP" altLang="en-US" sz="857" dirty="0">
                <a:ea typeface="メイリオ" panose="020B0604030504040204" pitchFamily="50" charset="-128"/>
                <a:cs typeface="メイリオ" panose="020B0604030504040204" pitchFamily="50" charset="-128"/>
              </a:rPr>
              <a:t>ブレード操作に関する機能の確認と設定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Adjust	: </a:t>
            </a:r>
            <a:r>
              <a:rPr lang="ja-JP" altLang="en-US" sz="857" dirty="0">
                <a:ea typeface="メイリオ" panose="020B0604030504040204" pitchFamily="50" charset="-128"/>
                <a:cs typeface="メイリオ" panose="020B0604030504040204" pitchFamily="50" charset="-128"/>
              </a:rPr>
              <a:t>アジャスト操作に関する機能の確認と設定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Hour</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meter	: </a:t>
            </a:r>
            <a:r>
              <a:rPr lang="ja-JP" altLang="en-US" sz="857" dirty="0">
                <a:ea typeface="メイリオ" panose="020B0604030504040204" pitchFamily="50" charset="-128"/>
                <a:cs typeface="メイリオ" panose="020B0604030504040204" pitchFamily="50" charset="-128"/>
              </a:rPr>
              <a:t>アワメータの確認と設定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Lift</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alarm	:</a:t>
            </a:r>
            <a:r>
              <a:rPr lang="ja-JP" altLang="en-US" sz="857" dirty="0">
                <a:ea typeface="メイリオ" panose="020B0604030504040204" pitchFamily="50" charset="-128"/>
                <a:cs typeface="メイリオ" panose="020B0604030504040204" pitchFamily="50" charset="-128"/>
              </a:rPr>
              <a:t> リフトアラームに関する機能の確認と設定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Auto grease	:</a:t>
            </a:r>
            <a:r>
              <a:rPr lang="ja-JP" altLang="en-US" sz="857" dirty="0">
                <a:ea typeface="メイリオ" panose="020B0604030504040204" pitchFamily="50" charset="-128"/>
                <a:cs typeface="メイリオ" panose="020B0604030504040204" pitchFamily="50" charset="-128"/>
              </a:rPr>
              <a:t> オートグリスに関する機能の確認と設定が可能</a:t>
            </a:r>
          </a:p>
          <a:p>
            <a:pPr marL="128574">
              <a:tabLst>
                <a:tab pos="900018" algn="l"/>
              </a:tabLst>
            </a:pPr>
            <a:r>
              <a:rPr lang="en-US" altLang="ja-JP" sz="857" dirty="0">
                <a:ea typeface="メイリオ" panose="020B0604030504040204" pitchFamily="50" charset="-128"/>
                <a:cs typeface="メイリオ" panose="020B0604030504040204" pitchFamily="50" charset="-128"/>
              </a:rPr>
              <a:t>Pattern Change	: </a:t>
            </a:r>
            <a:r>
              <a:rPr lang="ja-JP" altLang="en-US" sz="857" dirty="0">
                <a:ea typeface="メイリオ" panose="020B0604030504040204" pitchFamily="50" charset="-128"/>
                <a:cs typeface="メイリオ" panose="020B0604030504040204" pitchFamily="50" charset="-128"/>
              </a:rPr>
              <a:t>標準グリップのスイッチパターンを設定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Pattern</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Change(MF):</a:t>
            </a:r>
            <a:r>
              <a:rPr lang="ja-JP" altLang="en-US" sz="857" dirty="0">
                <a:ea typeface="メイリオ" panose="020B0604030504040204" pitchFamily="50" charset="-128"/>
                <a:cs typeface="メイリオ" panose="020B0604030504040204" pitchFamily="50" charset="-128"/>
              </a:rPr>
              <a:t> 多機能グリップのスイッチパターンを設定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270deg Camera	: 270</a:t>
            </a:r>
            <a:r>
              <a:rPr lang="ja-JP" altLang="en-US" sz="857" dirty="0">
                <a:ea typeface="メイリオ" panose="020B0604030504040204" pitchFamily="50" charset="-128"/>
                <a:cs typeface="メイリオ" panose="020B0604030504040204" pitchFamily="50" charset="-128"/>
              </a:rPr>
              <a:t>度カメラの設定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Engine auto stop	:</a:t>
            </a:r>
            <a:r>
              <a:rPr lang="ja-JP" altLang="en-US" sz="857" dirty="0">
                <a:ea typeface="メイリオ" panose="020B0604030504040204" pitchFamily="50" charset="-128"/>
                <a:cs typeface="メイリオ" panose="020B0604030504040204" pitchFamily="50" charset="-128"/>
              </a:rPr>
              <a:t> エンジンオートストップに関する機能の確認と設定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ea typeface="メイリオ" panose="020B0604030504040204" pitchFamily="50" charset="-128"/>
                <a:cs typeface="メイリオ" panose="020B0604030504040204" pitchFamily="50" charset="-128"/>
              </a:rPr>
              <a:t>Options	: </a:t>
            </a:r>
            <a:r>
              <a:rPr lang="ja-JP" altLang="en-US" sz="857" dirty="0">
                <a:ea typeface="メイリオ" panose="020B0604030504040204" pitchFamily="50" charset="-128"/>
                <a:cs typeface="メイリオ" panose="020B0604030504040204" pitchFamily="50" charset="-128"/>
              </a:rPr>
              <a:t>オプション機能の確認と設定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err="1">
                <a:ea typeface="メイリオ" panose="020B0604030504040204" pitchFamily="50" charset="-128"/>
                <a:cs typeface="メイリオ" panose="020B0604030504040204" pitchFamily="50" charset="-128"/>
              </a:rPr>
              <a:t>Misc</a:t>
            </a:r>
            <a:r>
              <a:rPr lang="en-US" altLang="ja-JP" sz="857" dirty="0">
                <a:ea typeface="メイリオ" panose="020B0604030504040204" pitchFamily="50" charset="-128"/>
                <a:cs typeface="メイリオ" panose="020B0604030504040204" pitchFamily="50" charset="-128"/>
              </a:rPr>
              <a:t>	:</a:t>
            </a:r>
            <a:r>
              <a:rPr lang="ja-JP" altLang="en-US" sz="857" dirty="0">
                <a:ea typeface="メイリオ" panose="020B0604030504040204" pitchFamily="50" charset="-128"/>
                <a:cs typeface="メイリオ" panose="020B0604030504040204" pitchFamily="50" charset="-128"/>
              </a:rPr>
              <a:t> 間欠ワイパー、スイッチランプに関する機能の確認と設定</a:t>
            </a:r>
            <a:endParaRPr lang="en-US" altLang="ja-JP" sz="857" dirty="0">
              <a:ea typeface="メイリオ" panose="020B0604030504040204" pitchFamily="50" charset="-128"/>
              <a:cs typeface="メイリオ" panose="020B0604030504040204" pitchFamily="50" charset="-128"/>
            </a:endParaRPr>
          </a:p>
          <a:p>
            <a:pPr marL="128574">
              <a:tabLst>
                <a:tab pos="900018" algn="l"/>
              </a:tabLst>
            </a:pPr>
            <a:r>
              <a:rPr lang="en-US" altLang="ja-JP" sz="857" dirty="0">
                <a:solidFill>
                  <a:srgbClr val="FF0000"/>
                </a:solidFill>
                <a:ea typeface="メイリオ" panose="020B0604030504040204" pitchFamily="50" charset="-128"/>
                <a:cs typeface="メイリオ" panose="020B0604030504040204" pitchFamily="50" charset="-128"/>
              </a:rPr>
              <a:t>Eco plus mode	:</a:t>
            </a:r>
            <a:r>
              <a:rPr lang="ja-JP" altLang="en-US" sz="857" dirty="0">
                <a:solidFill>
                  <a:srgbClr val="FF0000"/>
                </a:solidFill>
                <a:ea typeface="メイリオ" panose="020B0604030504040204" pitchFamily="50" charset="-128"/>
                <a:cs typeface="メイリオ" panose="020B0604030504040204" pitchFamily="50" charset="-128"/>
              </a:rPr>
              <a:t> エコプラスモードの設定</a:t>
            </a:r>
            <a:endParaRPr lang="en-US" altLang="ja-JP" sz="857" dirty="0">
              <a:solidFill>
                <a:srgbClr val="FF0000"/>
              </a:solidFill>
              <a:ea typeface="メイリオ" panose="020B0604030504040204" pitchFamily="50" charset="-128"/>
              <a:cs typeface="メイリオ" panose="020B0604030504040204" pitchFamily="50" charset="-128"/>
            </a:endParaRPr>
          </a:p>
          <a:p>
            <a:pPr>
              <a:lnSpc>
                <a:spcPct val="200000"/>
              </a:lnSpc>
              <a:tabLst>
                <a:tab pos="900018" algn="l"/>
              </a:tabLst>
            </a:pPr>
            <a:r>
              <a:rPr lang="ja-JP" altLang="en-US" sz="857" dirty="0">
                <a:ea typeface="メイリオ" panose="020B0604030504040204" pitchFamily="50" charset="-128"/>
                <a:cs typeface="メイリオ" panose="020B0604030504040204" pitchFamily="50" charset="-128"/>
              </a:rPr>
              <a:t>⑤</a:t>
            </a:r>
            <a:r>
              <a:rPr lang="en-US" altLang="ja-JP" sz="857" dirty="0">
                <a:ea typeface="メイリオ" panose="020B0604030504040204" pitchFamily="50" charset="-128"/>
                <a:cs typeface="メイリオ" panose="020B0604030504040204" pitchFamily="50" charset="-128"/>
              </a:rPr>
              <a:t>Version</a:t>
            </a:r>
          </a:p>
          <a:p>
            <a:pPr>
              <a:tabLst>
                <a:tab pos="900018" algn="l"/>
              </a:tabLst>
            </a:pPr>
            <a:r>
              <a:rPr lang="ja-JP" altLang="en-US" sz="857" dirty="0">
                <a:ea typeface="メイリオ" panose="020B0604030504040204" pitchFamily="50" charset="-128"/>
                <a:cs typeface="メイリオ" panose="020B0604030504040204" pitchFamily="50" charset="-128"/>
              </a:rPr>
              <a:t>サービスツールのバージョンを確認できます</a:t>
            </a:r>
            <a:endParaRPr lang="en-US" altLang="ja-JP" sz="857" dirty="0">
              <a:ea typeface="メイリオ" panose="020B0604030504040204" pitchFamily="50" charset="-128"/>
              <a:cs typeface="メイリオ" panose="020B0604030504040204" pitchFamily="50" charset="-128"/>
            </a:endParaRPr>
          </a:p>
        </p:txBody>
      </p:sp>
      <p:sp>
        <p:nvSpPr>
          <p:cNvPr id="8" name="テキスト プレースホルダー 7">
            <a:extLst>
              <a:ext uri="{FF2B5EF4-FFF2-40B4-BE49-F238E27FC236}">
                <a16:creationId xmlns:a16="http://schemas.microsoft.com/office/drawing/2014/main" id="{537CFA36-DC4C-CD31-80B9-12F59E09DD33}"/>
              </a:ext>
            </a:extLst>
          </p:cNvPr>
          <p:cNvSpPr>
            <a:spLocks noGrp="1"/>
          </p:cNvSpPr>
          <p:nvPr>
            <p:ph type="body" sz="quarter" idx="10"/>
          </p:nvPr>
        </p:nvSpPr>
        <p:spPr/>
        <p:txBody>
          <a:bodyPr/>
          <a:lstStyle/>
          <a:p>
            <a:r>
              <a:rPr lang="en-US" altLang="ja-JP" dirty="0"/>
              <a:t>Home</a:t>
            </a:r>
            <a:r>
              <a:rPr lang="ja-JP" altLang="en-US" dirty="0"/>
              <a:t>画面</a:t>
            </a:r>
          </a:p>
        </p:txBody>
      </p:sp>
      <p:sp>
        <p:nvSpPr>
          <p:cNvPr id="2" name="テキスト ボックス 1">
            <a:extLst>
              <a:ext uri="{FF2B5EF4-FFF2-40B4-BE49-F238E27FC236}">
                <a16:creationId xmlns:a16="http://schemas.microsoft.com/office/drawing/2014/main" id="{A7243969-FFBB-180B-984F-2DF37E24FF0D}"/>
              </a:ext>
            </a:extLst>
          </p:cNvPr>
          <p:cNvSpPr txBox="1"/>
          <p:nvPr/>
        </p:nvSpPr>
        <p:spPr>
          <a:xfrm>
            <a:off x="4652907" y="5780536"/>
            <a:ext cx="768406" cy="195814"/>
          </a:xfrm>
          <a:prstGeom prst="rect">
            <a:avLst/>
          </a:prstGeom>
          <a:noFill/>
        </p:spPr>
        <p:txBody>
          <a:bodyPr wrap="none" lIns="36000" tIns="36000" rIns="36000" bIns="36000" rtlCol="0">
            <a:spAutoFit/>
          </a:bodyPr>
          <a:lstStyle/>
          <a:p>
            <a:r>
              <a:rPr kumimoji="1" lang="en-US" altLang="ja-JP" sz="800" dirty="0">
                <a:solidFill>
                  <a:srgbClr val="FF0000"/>
                </a:solidFill>
              </a:rPr>
              <a:t>Δ04</a:t>
            </a:r>
            <a:r>
              <a:rPr kumimoji="1" lang="ja-JP" altLang="en-US" sz="800" dirty="0">
                <a:solidFill>
                  <a:srgbClr val="FF0000"/>
                </a:solidFill>
              </a:rPr>
              <a:t> ページ追加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D3A807D-2132-FC82-8816-BE2E1AA83FCC}"/>
              </a:ext>
            </a:extLst>
          </p:cNvPr>
          <p:cNvPicPr>
            <a:picLocks noChangeAspect="1"/>
          </p:cNvPicPr>
          <p:nvPr/>
        </p:nvPicPr>
        <p:blipFill>
          <a:blip r:embed="rId2"/>
          <a:stretch>
            <a:fillRect/>
          </a:stretch>
        </p:blipFill>
        <p:spPr>
          <a:xfrm>
            <a:off x="344488" y="665121"/>
            <a:ext cx="4857137" cy="3355633"/>
          </a:xfrm>
          <a:prstGeom prst="rect">
            <a:avLst/>
          </a:prstGeom>
        </p:spPr>
      </p:pic>
      <p:sp>
        <p:nvSpPr>
          <p:cNvPr id="6" name="テキスト ボックス 5"/>
          <p:cNvSpPr txBox="1"/>
          <p:nvPr/>
        </p:nvSpPr>
        <p:spPr>
          <a:xfrm>
            <a:off x="5421313" y="657225"/>
            <a:ext cx="4205699" cy="1806970"/>
          </a:xfrm>
          <a:prstGeom prst="rect">
            <a:avLst/>
          </a:prstGeom>
          <a:solidFill>
            <a:schemeClr val="bg1"/>
          </a:solidFill>
          <a:ln w="6350">
            <a:solidFill>
              <a:schemeClr val="tx1"/>
            </a:solidFill>
          </a:ln>
        </p:spPr>
        <p:txBody>
          <a:bodyPr wrap="square" rtlCol="0">
            <a:spAutoFit/>
          </a:bodyPr>
          <a:lstStyle/>
          <a:p>
            <a:r>
              <a:rPr lang="ja-JP" altLang="en-US" sz="857" dirty="0">
                <a:ea typeface="メイリオ" panose="020B0604030504040204" pitchFamily="50" charset="-128"/>
                <a:cs typeface="メイリオ" panose="020B0604030504040204" pitchFamily="50" charset="-128"/>
              </a:rPr>
              <a:t>ライセンス付きサービスツールでは、以下のボタンた追加され、エンジンサービスツールの機能を使用できます。</a:t>
            </a:r>
            <a:endParaRPr lang="en-US" altLang="ja-JP" sz="857" dirty="0">
              <a:ea typeface="メイリオ" panose="020B0604030504040204" pitchFamily="50" charset="-128"/>
              <a:cs typeface="メイリオ" panose="020B0604030504040204" pitchFamily="50" charset="-128"/>
            </a:endParaRPr>
          </a:p>
          <a:p>
            <a:pPr>
              <a:lnSpc>
                <a:spcPct val="200000"/>
              </a:lnSpc>
              <a:tabLst>
                <a:tab pos="900018" algn="l"/>
              </a:tabLst>
            </a:pPr>
            <a:r>
              <a:rPr lang="ja-JP" altLang="en-US" sz="857" dirty="0">
                <a:ea typeface="メイリオ" panose="020B0604030504040204" pitchFamily="50" charset="-128"/>
                <a:cs typeface="メイリオ" panose="020B0604030504040204" pitchFamily="50" charset="-128"/>
              </a:rPr>
              <a:t>⑥ライセンス付版サービスツールのバージョンを確認できます</a:t>
            </a:r>
          </a:p>
          <a:p>
            <a:pPr>
              <a:lnSpc>
                <a:spcPct val="200000"/>
              </a:lnSpc>
              <a:tabLst>
                <a:tab pos="1257300" algn="l"/>
              </a:tabLst>
            </a:pPr>
            <a:r>
              <a:rPr lang="ja-JP" altLang="en-US" sz="857" dirty="0">
                <a:ea typeface="メイリオ" panose="020B0604030504040204" pitchFamily="50" charset="-128"/>
                <a:cs typeface="メイリオ" panose="020B0604030504040204" pitchFamily="50" charset="-128"/>
              </a:rPr>
              <a:t>⑦ </a:t>
            </a:r>
            <a:r>
              <a:rPr lang="en-US" altLang="ja-JP" sz="857" dirty="0">
                <a:ea typeface="メイリオ" panose="020B0604030504040204" pitchFamily="50" charset="-128"/>
                <a:cs typeface="メイリオ" panose="020B0604030504040204" pitchFamily="50" charset="-128"/>
              </a:rPr>
              <a:t>Over</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Speed</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Status	:</a:t>
            </a:r>
            <a:r>
              <a:rPr lang="ja-JP" altLang="en-US" sz="857" dirty="0">
                <a:ea typeface="メイリオ" panose="020B0604030504040204" pitchFamily="50" charset="-128"/>
                <a:cs typeface="メイリオ" panose="020B0604030504040204" pitchFamily="50" charset="-128"/>
              </a:rPr>
              <a:t> エンジン過回転のログを確認</a:t>
            </a:r>
            <a:r>
              <a:rPr lang="en-US" altLang="ja-JP" sz="857" dirty="0">
                <a:ea typeface="メイリオ" panose="020B0604030504040204" pitchFamily="50" charset="-128"/>
                <a:cs typeface="メイリオ" panose="020B0604030504040204" pitchFamily="50" charset="-128"/>
              </a:rPr>
              <a:t>/</a:t>
            </a:r>
            <a:r>
              <a:rPr lang="ja-JP" altLang="en-US" sz="857" dirty="0">
                <a:ea typeface="メイリオ" panose="020B0604030504040204" pitchFamily="50" charset="-128"/>
                <a:cs typeface="メイリオ" panose="020B0604030504040204" pitchFamily="50" charset="-128"/>
              </a:rPr>
              <a:t>消去できます</a:t>
            </a:r>
            <a:endParaRPr lang="en-US" altLang="ja-JP" sz="857" dirty="0">
              <a:ea typeface="メイリオ" panose="020B0604030504040204" pitchFamily="50" charset="-128"/>
              <a:cs typeface="メイリオ" panose="020B0604030504040204" pitchFamily="50" charset="-128"/>
            </a:endParaRPr>
          </a:p>
          <a:p>
            <a:pPr>
              <a:lnSpc>
                <a:spcPct val="200000"/>
              </a:lnSpc>
              <a:tabLst>
                <a:tab pos="1257300" algn="l"/>
              </a:tabLst>
            </a:pPr>
            <a:r>
              <a:rPr lang="ja-JP" altLang="en-US" sz="857" dirty="0">
                <a:ea typeface="メイリオ" panose="020B0604030504040204" pitchFamily="50" charset="-128"/>
                <a:cs typeface="メイリオ" panose="020B0604030504040204" pitchFamily="50" charset="-128"/>
              </a:rPr>
              <a:t>⑧</a:t>
            </a:r>
            <a:r>
              <a:rPr lang="en-US" altLang="ja-JP" sz="857" dirty="0">
                <a:ea typeface="メイリオ" panose="020B0604030504040204" pitchFamily="50" charset="-128"/>
                <a:cs typeface="メイリオ" panose="020B0604030504040204" pitchFamily="50" charset="-128"/>
              </a:rPr>
              <a:t>TFM Command	: TFM</a:t>
            </a:r>
            <a:r>
              <a:rPr lang="ja-JP" altLang="en-US" sz="857" dirty="0">
                <a:ea typeface="メイリオ" panose="020B0604030504040204" pitchFamily="50" charset="-128"/>
                <a:cs typeface="メイリオ" panose="020B0604030504040204" pitchFamily="50" charset="-128"/>
              </a:rPr>
              <a:t>コマンドの変更</a:t>
            </a:r>
          </a:p>
          <a:p>
            <a:pPr>
              <a:lnSpc>
                <a:spcPct val="200000"/>
              </a:lnSpc>
              <a:tabLst>
                <a:tab pos="900018" algn="l"/>
              </a:tabLst>
            </a:pPr>
            <a:r>
              <a:rPr lang="ja-JP" altLang="en-US" sz="857" dirty="0">
                <a:ea typeface="メイリオ" panose="020B0604030504040204" pitchFamily="50" charset="-128"/>
                <a:cs typeface="メイリオ" panose="020B0604030504040204" pitchFamily="50" charset="-128"/>
              </a:rPr>
              <a:t>⑨</a:t>
            </a:r>
            <a:r>
              <a:rPr lang="en-US" altLang="ja-JP" sz="857" dirty="0">
                <a:ea typeface="メイリオ" panose="020B0604030504040204" pitchFamily="50" charset="-128"/>
                <a:cs typeface="メイリオ" panose="020B0604030504040204" pitchFamily="50" charset="-128"/>
              </a:rPr>
              <a:t>Engine</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maintenance</a:t>
            </a:r>
          </a:p>
          <a:p>
            <a:pPr marL="127003" defTabSz="639549">
              <a:tabLst>
                <a:tab pos="898089" algn="l"/>
              </a:tabLst>
            </a:pPr>
            <a:r>
              <a:rPr lang="en-US" altLang="ja-JP" sz="857" dirty="0">
                <a:ea typeface="メイリオ" panose="020B0604030504040204" pitchFamily="50" charset="-128"/>
                <a:cs typeface="メイリオ" panose="020B0604030504040204" pitchFamily="50" charset="-128"/>
              </a:rPr>
              <a:t>Data</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monitor(SI Unit)	: </a:t>
            </a:r>
            <a:r>
              <a:rPr lang="ja-JP" altLang="en-US" sz="857" dirty="0">
                <a:ea typeface="メイリオ" panose="020B0604030504040204" pitchFamily="50" charset="-128"/>
                <a:cs typeface="メイリオ" panose="020B0604030504040204" pitchFamily="50" charset="-128"/>
              </a:rPr>
              <a:t>エンジンの詳細情報を確認できます（</a:t>
            </a:r>
            <a:r>
              <a:rPr lang="en-US" altLang="ja-JP" sz="857" dirty="0">
                <a:ea typeface="メイリオ" panose="020B0604030504040204" pitchFamily="50" charset="-128"/>
                <a:cs typeface="メイリオ" panose="020B0604030504040204" pitchFamily="50" charset="-128"/>
              </a:rPr>
              <a:t>SI</a:t>
            </a:r>
            <a:r>
              <a:rPr lang="ja-JP" altLang="en-US" sz="857" dirty="0">
                <a:ea typeface="メイリオ" panose="020B0604030504040204" pitchFamily="50" charset="-128"/>
                <a:cs typeface="メイリオ" panose="020B0604030504040204" pitchFamily="50" charset="-128"/>
              </a:rPr>
              <a:t>単位）</a:t>
            </a:r>
            <a:endParaRPr lang="en-US" altLang="ja-JP" sz="857" dirty="0">
              <a:ea typeface="メイリオ" panose="020B0604030504040204" pitchFamily="50" charset="-128"/>
              <a:cs typeface="メイリオ" panose="020B0604030504040204" pitchFamily="50" charset="-128"/>
            </a:endParaRPr>
          </a:p>
          <a:p>
            <a:pPr marL="127003" defTabSz="639549">
              <a:tabLst>
                <a:tab pos="898089" algn="l"/>
              </a:tabLst>
            </a:pPr>
            <a:r>
              <a:rPr lang="en-US" altLang="ja-JP" sz="857" dirty="0">
                <a:ea typeface="メイリオ" panose="020B0604030504040204" pitchFamily="50" charset="-128"/>
                <a:cs typeface="メイリオ" panose="020B0604030504040204" pitchFamily="50" charset="-128"/>
              </a:rPr>
              <a:t>Data</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monitor(US</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Unit)	:</a:t>
            </a:r>
            <a:r>
              <a:rPr lang="ja-JP" altLang="en-US" sz="857" dirty="0">
                <a:ea typeface="メイリオ" panose="020B0604030504040204" pitchFamily="50" charset="-128"/>
                <a:cs typeface="メイリオ" panose="020B0604030504040204" pitchFamily="50" charset="-128"/>
              </a:rPr>
              <a:t> エンジンの詳細情報を確認できます（</a:t>
            </a:r>
            <a:r>
              <a:rPr lang="en-US" altLang="ja-JP" sz="857" dirty="0">
                <a:ea typeface="メイリオ" panose="020B0604030504040204" pitchFamily="50" charset="-128"/>
                <a:cs typeface="メイリオ" panose="020B0604030504040204" pitchFamily="50" charset="-128"/>
              </a:rPr>
              <a:t>US</a:t>
            </a:r>
            <a:r>
              <a:rPr lang="ja-JP" altLang="en-US" sz="857" dirty="0">
                <a:ea typeface="メイリオ" panose="020B0604030504040204" pitchFamily="50" charset="-128"/>
                <a:cs typeface="メイリオ" panose="020B0604030504040204" pitchFamily="50" charset="-128"/>
              </a:rPr>
              <a:t>単位）</a:t>
            </a:r>
            <a:endParaRPr lang="en-US" altLang="ja-JP" sz="857" dirty="0">
              <a:ea typeface="メイリオ" panose="020B0604030504040204" pitchFamily="50" charset="-128"/>
              <a:cs typeface="メイリオ" panose="020B0604030504040204" pitchFamily="50" charset="-128"/>
            </a:endParaRPr>
          </a:p>
          <a:p>
            <a:pPr marL="127003" defTabSz="639549">
              <a:tabLst>
                <a:tab pos="898089" algn="l"/>
              </a:tabLst>
            </a:pPr>
            <a:r>
              <a:rPr lang="en-US" altLang="ja-JP" sz="857" dirty="0">
                <a:ea typeface="メイリオ" panose="020B0604030504040204" pitchFamily="50" charset="-128"/>
                <a:cs typeface="メイリオ" panose="020B0604030504040204" pitchFamily="50" charset="-128"/>
              </a:rPr>
              <a:t>Active</a:t>
            </a:r>
            <a:r>
              <a:rPr lang="ja-JP" altLang="en-US" sz="857" dirty="0">
                <a:ea typeface="メイリオ" panose="020B0604030504040204" pitchFamily="50" charset="-128"/>
                <a:cs typeface="メイリオ" panose="020B0604030504040204" pitchFamily="50" charset="-128"/>
              </a:rPr>
              <a:t> </a:t>
            </a:r>
            <a:r>
              <a:rPr lang="en-US" altLang="ja-JP" sz="857" dirty="0">
                <a:ea typeface="メイリオ" panose="020B0604030504040204" pitchFamily="50" charset="-128"/>
                <a:cs typeface="メイリオ" panose="020B0604030504040204" pitchFamily="50" charset="-128"/>
              </a:rPr>
              <a:t>test		:</a:t>
            </a:r>
            <a:r>
              <a:rPr lang="ja-JP" altLang="en-US" sz="857" dirty="0">
                <a:ea typeface="メイリオ" panose="020B0604030504040204" pitchFamily="50" charset="-128"/>
                <a:cs typeface="メイリオ" panose="020B0604030504040204" pitchFamily="50" charset="-128"/>
              </a:rPr>
              <a:t> エンジンのアクティブテストを実行できます。</a:t>
            </a:r>
            <a:endParaRPr lang="en-US" altLang="ja-JP" sz="857" dirty="0">
              <a:ea typeface="メイリオ" panose="020B0604030504040204" pitchFamily="50" charset="-128"/>
              <a:cs typeface="メイリオ" panose="020B0604030504040204" pitchFamily="50" charset="-128"/>
            </a:endParaRPr>
          </a:p>
        </p:txBody>
      </p:sp>
      <p:sp>
        <p:nvSpPr>
          <p:cNvPr id="8" name="テキスト プレースホルダー 7">
            <a:extLst>
              <a:ext uri="{FF2B5EF4-FFF2-40B4-BE49-F238E27FC236}">
                <a16:creationId xmlns:a16="http://schemas.microsoft.com/office/drawing/2014/main" id="{537CFA36-DC4C-CD31-80B9-12F59E09DD33}"/>
              </a:ext>
            </a:extLst>
          </p:cNvPr>
          <p:cNvSpPr>
            <a:spLocks noGrp="1"/>
          </p:cNvSpPr>
          <p:nvPr>
            <p:ph type="body" sz="quarter" idx="10"/>
          </p:nvPr>
        </p:nvSpPr>
        <p:spPr>
          <a:xfrm>
            <a:off x="132671" y="179162"/>
            <a:ext cx="1680890" cy="253545"/>
          </a:xfrm>
        </p:spPr>
        <p:txBody>
          <a:bodyPr/>
          <a:lstStyle/>
          <a:p>
            <a:r>
              <a:rPr lang="en-US" altLang="ja-JP" dirty="0"/>
              <a:t>Home</a:t>
            </a:r>
            <a:r>
              <a:rPr lang="ja-JP" altLang="en-US" dirty="0"/>
              <a:t>画面</a:t>
            </a:r>
            <a:endParaRPr lang="ja-JP" altLang="en-US" b="1" dirty="0">
              <a:solidFill>
                <a:schemeClr val="accent2"/>
              </a:solidFill>
            </a:endParaRPr>
          </a:p>
        </p:txBody>
      </p:sp>
      <p:sp>
        <p:nvSpPr>
          <p:cNvPr id="5" name="円/楕円 27">
            <a:extLst>
              <a:ext uri="{FF2B5EF4-FFF2-40B4-BE49-F238E27FC236}">
                <a16:creationId xmlns:a16="http://schemas.microsoft.com/office/drawing/2014/main" id="{AA8DEA8E-A625-5E99-5C3D-96892B8D2E17}"/>
              </a:ext>
            </a:extLst>
          </p:cNvPr>
          <p:cNvSpPr/>
          <p:nvPr/>
        </p:nvSpPr>
        <p:spPr>
          <a:xfrm>
            <a:off x="4537524" y="7399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6</a:t>
            </a:r>
            <a:endParaRPr lang="ja-JP" altLang="en-US" sz="1286" dirty="0">
              <a:solidFill>
                <a:srgbClr val="FF0000"/>
              </a:solidFill>
            </a:endParaRPr>
          </a:p>
        </p:txBody>
      </p:sp>
      <p:grpSp>
        <p:nvGrpSpPr>
          <p:cNvPr id="16" name="グループ化 15">
            <a:extLst>
              <a:ext uri="{FF2B5EF4-FFF2-40B4-BE49-F238E27FC236}">
                <a16:creationId xmlns:a16="http://schemas.microsoft.com/office/drawing/2014/main" id="{4950180C-641A-48C5-6EBE-0E6220EC1703}"/>
              </a:ext>
            </a:extLst>
          </p:cNvPr>
          <p:cNvGrpSpPr/>
          <p:nvPr/>
        </p:nvGrpSpPr>
        <p:grpSpPr>
          <a:xfrm>
            <a:off x="2786139" y="3698875"/>
            <a:ext cx="760336" cy="606354"/>
            <a:chOff x="2011439" y="3648075"/>
            <a:chExt cx="760336" cy="606354"/>
          </a:xfrm>
        </p:grpSpPr>
        <p:sp>
          <p:nvSpPr>
            <p:cNvPr id="24" name="円/楕円 23"/>
            <p:cNvSpPr/>
            <p:nvPr/>
          </p:nvSpPr>
          <p:spPr>
            <a:xfrm>
              <a:off x="2288750" y="4048715"/>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8</a:t>
              </a:r>
              <a:endParaRPr lang="ja-JP" altLang="en-US" sz="1286" dirty="0">
                <a:solidFill>
                  <a:srgbClr val="FF0000"/>
                </a:solidFill>
              </a:endParaRPr>
            </a:p>
          </p:txBody>
        </p:sp>
        <p:sp>
          <p:nvSpPr>
            <p:cNvPr id="10" name="角丸四角形 9">
              <a:extLst>
                <a:ext uri="{FF2B5EF4-FFF2-40B4-BE49-F238E27FC236}">
                  <a16:creationId xmlns:a16="http://schemas.microsoft.com/office/drawing/2014/main" id="{24404A29-E740-2D0A-C376-F5151520D9FD}"/>
                </a:ext>
              </a:extLst>
            </p:cNvPr>
            <p:cNvSpPr/>
            <p:nvPr/>
          </p:nvSpPr>
          <p:spPr>
            <a:xfrm>
              <a:off x="2011439" y="3648075"/>
              <a:ext cx="760336" cy="26193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a:extLst>
                <a:ext uri="{FF2B5EF4-FFF2-40B4-BE49-F238E27FC236}">
                  <a16:creationId xmlns:a16="http://schemas.microsoft.com/office/drawing/2014/main" id="{C77E67EF-B03A-2691-69E4-B4E5EC866F7C}"/>
                </a:ext>
              </a:extLst>
            </p:cNvPr>
            <p:cNvCxnSpPr>
              <a:cxnSpLocks/>
              <a:stCxn id="24" idx="0"/>
              <a:endCxn id="10" idx="2"/>
            </p:cNvCxnSpPr>
            <p:nvPr/>
          </p:nvCxnSpPr>
          <p:spPr>
            <a:xfrm flipV="1">
              <a:off x="2391607" y="3910013"/>
              <a:ext cx="0" cy="13870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020C614D-33C9-E01A-DF0B-5BC0EF9804DA}"/>
              </a:ext>
            </a:extLst>
          </p:cNvPr>
          <p:cNvGrpSpPr/>
          <p:nvPr/>
        </p:nvGrpSpPr>
        <p:grpSpPr>
          <a:xfrm>
            <a:off x="3709736" y="2162454"/>
            <a:ext cx="1485217" cy="1858300"/>
            <a:chOff x="3709736" y="2162454"/>
            <a:chExt cx="1485217" cy="1858300"/>
          </a:xfrm>
        </p:grpSpPr>
        <p:sp>
          <p:nvSpPr>
            <p:cNvPr id="7" name="円/楕円 27">
              <a:extLst>
                <a:ext uri="{FF2B5EF4-FFF2-40B4-BE49-F238E27FC236}">
                  <a16:creationId xmlns:a16="http://schemas.microsoft.com/office/drawing/2014/main" id="{8F047D1A-BC08-E351-D9CA-68BCF7BFB70C}"/>
                </a:ext>
              </a:extLst>
            </p:cNvPr>
            <p:cNvSpPr/>
            <p:nvPr/>
          </p:nvSpPr>
          <p:spPr>
            <a:xfrm>
              <a:off x="4349488" y="2162454"/>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9</a:t>
              </a:r>
              <a:endParaRPr lang="ja-JP" altLang="en-US" sz="1286" dirty="0">
                <a:solidFill>
                  <a:srgbClr val="FF0000"/>
                </a:solidFill>
              </a:endParaRPr>
            </a:p>
          </p:txBody>
        </p:sp>
        <p:sp>
          <p:nvSpPr>
            <p:cNvPr id="17" name="角丸四角形 9">
              <a:extLst>
                <a:ext uri="{FF2B5EF4-FFF2-40B4-BE49-F238E27FC236}">
                  <a16:creationId xmlns:a16="http://schemas.microsoft.com/office/drawing/2014/main" id="{F989B7A7-E7EF-67ED-66B1-17EA5E5D8817}"/>
                </a:ext>
              </a:extLst>
            </p:cNvPr>
            <p:cNvSpPr/>
            <p:nvPr/>
          </p:nvSpPr>
          <p:spPr>
            <a:xfrm>
              <a:off x="3709736" y="2489829"/>
              <a:ext cx="1485217" cy="1530925"/>
            </a:xfrm>
            <a:prstGeom prst="roundRect">
              <a:avLst>
                <a:gd name="adj" fmla="val 7376"/>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grpSp>
      <p:cxnSp>
        <p:nvCxnSpPr>
          <p:cNvPr id="19" name="直線矢印コネクタ 18">
            <a:extLst>
              <a:ext uri="{FF2B5EF4-FFF2-40B4-BE49-F238E27FC236}">
                <a16:creationId xmlns:a16="http://schemas.microsoft.com/office/drawing/2014/main" id="{ABD1B8BD-FF85-BEFB-AB1F-9CF28D56C8F4}"/>
              </a:ext>
            </a:extLst>
          </p:cNvPr>
          <p:cNvCxnSpPr>
            <a:cxnSpLocks/>
            <a:stCxn id="7" idx="4"/>
            <a:endCxn id="17" idx="0"/>
          </p:cNvCxnSpPr>
          <p:nvPr/>
        </p:nvCxnSpPr>
        <p:spPr>
          <a:xfrm>
            <a:off x="4452345" y="2368168"/>
            <a:ext cx="0" cy="12166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B942E540-F980-628C-9D84-6ADCDCC409DB}"/>
              </a:ext>
            </a:extLst>
          </p:cNvPr>
          <p:cNvSpPr txBox="1"/>
          <p:nvPr/>
        </p:nvSpPr>
        <p:spPr>
          <a:xfrm>
            <a:off x="7643842" y="121268"/>
            <a:ext cx="1800493" cy="369332"/>
          </a:xfrm>
          <a:prstGeom prst="rect">
            <a:avLst/>
          </a:prstGeom>
          <a:noFill/>
        </p:spPr>
        <p:txBody>
          <a:bodyPr wrap="none" rtlCol="0">
            <a:spAutoFit/>
          </a:bodyPr>
          <a:lstStyle/>
          <a:p>
            <a:r>
              <a:rPr kumimoji="1" lang="ja-JP" altLang="en-US" b="1" dirty="0">
                <a:solidFill>
                  <a:schemeClr val="accent2"/>
                </a:solidFill>
              </a:rPr>
              <a:t>ライセンス付版</a:t>
            </a:r>
          </a:p>
        </p:txBody>
      </p:sp>
      <p:grpSp>
        <p:nvGrpSpPr>
          <p:cNvPr id="22" name="グループ化 21">
            <a:extLst>
              <a:ext uri="{FF2B5EF4-FFF2-40B4-BE49-F238E27FC236}">
                <a16:creationId xmlns:a16="http://schemas.microsoft.com/office/drawing/2014/main" id="{110A52A4-9C5A-F30A-A0E3-B7621002F88B}"/>
              </a:ext>
            </a:extLst>
          </p:cNvPr>
          <p:cNvGrpSpPr/>
          <p:nvPr/>
        </p:nvGrpSpPr>
        <p:grpSpPr>
          <a:xfrm>
            <a:off x="1268488" y="2428875"/>
            <a:ext cx="1156793" cy="261938"/>
            <a:chOff x="2011438" y="3648075"/>
            <a:chExt cx="1156793" cy="261938"/>
          </a:xfrm>
        </p:grpSpPr>
        <p:sp>
          <p:nvSpPr>
            <p:cNvPr id="23" name="円/楕円 23">
              <a:extLst>
                <a:ext uri="{FF2B5EF4-FFF2-40B4-BE49-F238E27FC236}">
                  <a16:creationId xmlns:a16="http://schemas.microsoft.com/office/drawing/2014/main" id="{F215B6C7-DBD1-C073-2493-F0F7DCF78BE9}"/>
                </a:ext>
              </a:extLst>
            </p:cNvPr>
            <p:cNvSpPr/>
            <p:nvPr/>
          </p:nvSpPr>
          <p:spPr>
            <a:xfrm>
              <a:off x="2962517" y="3676187"/>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7</a:t>
              </a:r>
              <a:endParaRPr lang="ja-JP" altLang="en-US" sz="1286" dirty="0">
                <a:solidFill>
                  <a:srgbClr val="FF0000"/>
                </a:solidFill>
              </a:endParaRPr>
            </a:p>
          </p:txBody>
        </p:sp>
        <p:sp>
          <p:nvSpPr>
            <p:cNvPr id="25" name="角丸四角形 9">
              <a:extLst>
                <a:ext uri="{FF2B5EF4-FFF2-40B4-BE49-F238E27FC236}">
                  <a16:creationId xmlns:a16="http://schemas.microsoft.com/office/drawing/2014/main" id="{3A6A5493-C275-9C34-2E73-9F80E4DBE04C}"/>
                </a:ext>
              </a:extLst>
            </p:cNvPr>
            <p:cNvSpPr/>
            <p:nvPr/>
          </p:nvSpPr>
          <p:spPr>
            <a:xfrm>
              <a:off x="2011438" y="3648075"/>
              <a:ext cx="820661" cy="26193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7" name="直線矢印コネクタ 26">
              <a:extLst>
                <a:ext uri="{FF2B5EF4-FFF2-40B4-BE49-F238E27FC236}">
                  <a16:creationId xmlns:a16="http://schemas.microsoft.com/office/drawing/2014/main" id="{C1412063-1EE1-1886-AA77-36E99B40CB19}"/>
                </a:ext>
              </a:extLst>
            </p:cNvPr>
            <p:cNvCxnSpPr>
              <a:cxnSpLocks/>
              <a:stCxn id="23" idx="2"/>
              <a:endCxn id="25" idx="3"/>
            </p:cNvCxnSpPr>
            <p:nvPr/>
          </p:nvCxnSpPr>
          <p:spPr>
            <a:xfrm flipH="1">
              <a:off x="2832099" y="3779044"/>
              <a:ext cx="13041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テキスト ボックス 8">
            <a:extLst>
              <a:ext uri="{FF2B5EF4-FFF2-40B4-BE49-F238E27FC236}">
                <a16:creationId xmlns:a16="http://schemas.microsoft.com/office/drawing/2014/main" id="{32BDA83F-E2A1-791E-C480-26CBC9905EF2}"/>
              </a:ext>
            </a:extLst>
          </p:cNvPr>
          <p:cNvSpPr txBox="1"/>
          <p:nvPr/>
        </p:nvSpPr>
        <p:spPr>
          <a:xfrm>
            <a:off x="350176" y="4057358"/>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Δ03</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126833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A0698000-E8E3-BF05-2B48-3DA8E1305047}"/>
              </a:ext>
            </a:extLst>
          </p:cNvPr>
          <p:cNvPicPr>
            <a:picLocks noChangeAspect="1"/>
          </p:cNvPicPr>
          <p:nvPr/>
        </p:nvPicPr>
        <p:blipFill>
          <a:blip r:embed="rId2"/>
          <a:stretch>
            <a:fillRect/>
          </a:stretch>
        </p:blipFill>
        <p:spPr>
          <a:xfrm>
            <a:off x="344488" y="657225"/>
            <a:ext cx="4857143" cy="3363514"/>
          </a:xfrm>
          <a:prstGeom prst="rect">
            <a:avLst/>
          </a:prstGeom>
        </p:spPr>
      </p:pic>
      <p:sp>
        <p:nvSpPr>
          <p:cNvPr id="7" name="テキスト ボックス 6"/>
          <p:cNvSpPr txBox="1"/>
          <p:nvPr/>
        </p:nvSpPr>
        <p:spPr>
          <a:xfrm>
            <a:off x="5421313" y="657225"/>
            <a:ext cx="3863115" cy="3408049"/>
          </a:xfrm>
          <a:prstGeom prst="rect">
            <a:avLst/>
          </a:prstGeom>
          <a:solidFill>
            <a:schemeClr val="bg1"/>
          </a:solidFill>
          <a:ln w="6350">
            <a:solidFill>
              <a:schemeClr val="tx1"/>
            </a:solidFill>
          </a:ln>
        </p:spPr>
        <p:txBody>
          <a:bodyPr wrap="square" rtlCol="0">
            <a:spAutoFit/>
          </a:bodyPr>
          <a:lstStyle/>
          <a:p>
            <a:pPr>
              <a:spcAft>
                <a:spcPts val="429"/>
              </a:spcAf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メインコントローラに入力されるデジタル信号、アナログ信号を確認できます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Main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controller</a:t>
            </a: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C1P05: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スタータスイッチ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ACC</a:t>
            </a: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C1P06: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アクセルペダル１</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C1P07: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アクセルペダル２</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スイングペダル１</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スイングペダル２</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リフトアラーム圧力センサ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作動油温度センサ抵抗値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上部体旋回ポジションスイッチ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前輪ブレーキ圧力センサ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C1P19: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後輪ブレーキ圧力センサ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ブレーキアキュームレータ圧力センサ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コントロールバルブメイン圧力センサ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コントロールバルブサブ圧力センサ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燃料センダ抵抗値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燃料満タン検出スイッチ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間欠ワイパスイッチ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連続ワイパスイッチ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C1P29: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ヘッドライトハイビーム</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C1P30: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グリースアラームスイッチ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96227" y="879217"/>
            <a:ext cx="632477" cy="3008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12466" y="744162"/>
            <a:ext cx="0" cy="13505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9609" y="53844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6" name="テキスト プレースホルダー 5">
            <a:extLst>
              <a:ext uri="{FF2B5EF4-FFF2-40B4-BE49-F238E27FC236}">
                <a16:creationId xmlns:a16="http://schemas.microsoft.com/office/drawing/2014/main" id="{65B3292A-6A20-90B9-7BD3-77293445F796}"/>
              </a:ext>
            </a:extLst>
          </p:cNvPr>
          <p:cNvSpPr>
            <a:spLocks noGrp="1"/>
          </p:cNvSpPr>
          <p:nvPr>
            <p:ph type="body" sz="quarter" idx="10"/>
          </p:nvPr>
        </p:nvSpPr>
        <p:spPr/>
        <p:txBody>
          <a:bodyPr/>
          <a:lstStyle/>
          <a:p>
            <a:r>
              <a:rPr lang="en-US" altLang="ja-JP" dirty="0"/>
              <a:t>Inputs(Main)_1</a:t>
            </a:r>
            <a:r>
              <a:rPr lang="ja-JP" altLang="en-US" dirty="0"/>
              <a:t>画面</a:t>
            </a:r>
          </a:p>
        </p:txBody>
      </p:sp>
      <p:sp>
        <p:nvSpPr>
          <p:cNvPr id="5" name="テキスト ボックス 4">
            <a:extLst>
              <a:ext uri="{FF2B5EF4-FFF2-40B4-BE49-F238E27FC236}">
                <a16:creationId xmlns:a16="http://schemas.microsoft.com/office/drawing/2014/main" id="{57D8B50E-8EE1-35B8-35E6-D1A6B9463670}"/>
              </a:ext>
            </a:extLst>
          </p:cNvPr>
          <p:cNvSpPr txBox="1"/>
          <p:nvPr/>
        </p:nvSpPr>
        <p:spPr>
          <a:xfrm>
            <a:off x="274638" y="4031794"/>
            <a:ext cx="1936749" cy="215444"/>
          </a:xfrm>
          <a:prstGeom prst="rect">
            <a:avLst/>
          </a:prstGeom>
          <a:noFill/>
        </p:spPr>
        <p:txBody>
          <a:bodyPr wrap="none" rtlCol="0">
            <a:spAutoFit/>
          </a:bodyPr>
          <a:lstStyle/>
          <a:p>
            <a:r>
              <a:rPr kumimoji="1" lang="en-US" altLang="ja-JP" sz="800" dirty="0">
                <a:solidFill>
                  <a:srgbClr val="FF0000"/>
                </a:solidFill>
              </a:rPr>
              <a:t>Δ7 Swing pedal (0 </a:t>
            </a:r>
            <a:r>
              <a:rPr kumimoji="1" lang="ja-JP" altLang="en-US" sz="800" dirty="0">
                <a:solidFill>
                  <a:srgbClr val="FF0000"/>
                </a:solidFill>
              </a:rPr>
              <a:t>～</a:t>
            </a:r>
            <a:r>
              <a:rPr kumimoji="1" lang="en-US" altLang="ja-JP" sz="800" dirty="0">
                <a:solidFill>
                  <a:srgbClr val="FF0000"/>
                </a:solidFill>
              </a:rPr>
              <a:t> 100) </a:t>
            </a:r>
            <a:r>
              <a:rPr kumimoji="1" lang="ja-JP" altLang="en-US" sz="800" dirty="0">
                <a:solidFill>
                  <a:srgbClr val="FF0000"/>
                </a:solidFill>
              </a:rPr>
              <a:t>⇒ </a:t>
            </a:r>
            <a:r>
              <a:rPr kumimoji="1" lang="en-US" altLang="ja-JP" sz="800" dirty="0">
                <a:solidFill>
                  <a:srgbClr val="FF0000"/>
                </a:solidFill>
              </a:rPr>
              <a:t>(-100 </a:t>
            </a:r>
            <a:r>
              <a:rPr kumimoji="1" lang="ja-JP" altLang="en-US" sz="800" dirty="0">
                <a:solidFill>
                  <a:srgbClr val="FF0000"/>
                </a:solidFill>
              </a:rPr>
              <a:t>～ </a:t>
            </a:r>
            <a:r>
              <a:rPr kumimoji="1" lang="en-US" altLang="ja-JP" sz="800" dirty="0">
                <a:solidFill>
                  <a:srgbClr val="FF0000"/>
                </a:solidFill>
              </a:rPr>
              <a:t>100)</a:t>
            </a:r>
            <a:endParaRPr kumimoji="1" lang="ja-JP" altLang="en-US" sz="800"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164BAF97-9B17-A3E3-1435-456E70619221}"/>
              </a:ext>
            </a:extLst>
          </p:cNvPr>
          <p:cNvPicPr>
            <a:picLocks noChangeAspect="1"/>
          </p:cNvPicPr>
          <p:nvPr/>
        </p:nvPicPr>
        <p:blipFill>
          <a:blip r:embed="rId3"/>
          <a:stretch>
            <a:fillRect/>
          </a:stretch>
        </p:blipFill>
        <p:spPr>
          <a:xfrm>
            <a:off x="344489" y="665121"/>
            <a:ext cx="4843822" cy="3350357"/>
          </a:xfrm>
          <a:prstGeom prst="rect">
            <a:avLst/>
          </a:prstGeom>
        </p:spPr>
      </p:pic>
      <p:sp>
        <p:nvSpPr>
          <p:cNvPr id="7" name="テキスト ボックス 6"/>
          <p:cNvSpPr txBox="1"/>
          <p:nvPr/>
        </p:nvSpPr>
        <p:spPr>
          <a:xfrm>
            <a:off x="5421313" y="657225"/>
            <a:ext cx="3863115" cy="4331314"/>
          </a:xfrm>
          <a:prstGeom prst="rect">
            <a:avLst/>
          </a:prstGeom>
          <a:solidFill>
            <a:schemeClr val="bg1"/>
          </a:solidFill>
          <a:ln w="6350">
            <a:solidFill>
              <a:schemeClr val="tx1"/>
            </a:solidFill>
          </a:ln>
        </p:spPr>
        <p:txBody>
          <a:bodyPr wrap="square" rtlCol="0">
            <a:spAutoFit/>
          </a:bodyPr>
          <a:lstStyle/>
          <a:p>
            <a:pPr>
              <a:spcAft>
                <a:spcPts val="429"/>
              </a:spcAf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メインコントローラに入力されるデジタル信号、アナログ信号を確認できます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Main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controller</a:t>
            </a: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エンジンスロットルノブ</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レバーロックスイッチ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ブレードレバー１</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ブレードレバー２</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走行変速 低速スイッチ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ブームサスペンションスイッチ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C2P08: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オートディギングブレーキスイッチ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パーキングブレーキスイッチ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燃料給油スイッチ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フートアクセルモードスイッチ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オルタネータステータス</a:t>
            </a:r>
            <a:endParaRPr lang="en-US" altLang="ja-JP" sz="857" strike="sngStrike"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走行変速 高速スイッチ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ターンシグナル右</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ターンシグナル左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ラムオートスイッチ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C2P19: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ラムフリースイッチ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ラムロックスイッチ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ウォータセパレータスイッチ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ラインフィルタ目詰まりスイッチ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ワンタッチデセルスイッチ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前進スイッチ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後進スイッチ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アタッチロックスイッチ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キースイッチ</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en-US" altLang="ja-JP" sz="857" dirty="0">
                <a:latin typeface="Meiryo UI" panose="020B0604030504040204" pitchFamily="50" charset="-128"/>
                <a:ea typeface="Meiryo UI" panose="020B0604030504040204" pitchFamily="50" charset="-128"/>
                <a:cs typeface="Meiryo UI" panose="020B0604030504040204" pitchFamily="50" charset="-128"/>
              </a:rPr>
              <a:t>C2P28: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エアクリーナフィルタスイッチ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C2P29: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オートクルーズセット</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ダウン 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C2P30: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オートクルーズレジューム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アップ 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604183" y="893764"/>
            <a:ext cx="643225" cy="2949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flipH="1">
            <a:off x="4925796" y="760082"/>
            <a:ext cx="27204" cy="1336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50143" y="5543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6" name="テキスト プレースホルダー 5">
            <a:extLst>
              <a:ext uri="{FF2B5EF4-FFF2-40B4-BE49-F238E27FC236}">
                <a16:creationId xmlns:a16="http://schemas.microsoft.com/office/drawing/2014/main" id="{46685DCE-D440-9CCC-32AB-10C6701F9824}"/>
              </a:ext>
            </a:extLst>
          </p:cNvPr>
          <p:cNvSpPr>
            <a:spLocks noGrp="1"/>
          </p:cNvSpPr>
          <p:nvPr>
            <p:ph type="body" sz="quarter" idx="10"/>
          </p:nvPr>
        </p:nvSpPr>
        <p:spPr/>
        <p:txBody>
          <a:bodyPr/>
          <a:lstStyle/>
          <a:p>
            <a:r>
              <a:rPr lang="en-US" altLang="ja-JP" dirty="0"/>
              <a:t>Inputs(Main)_2</a:t>
            </a:r>
            <a:r>
              <a:rPr lang="ja-JP" altLang="en-US" dirty="0"/>
              <a:t>画面</a:t>
            </a:r>
          </a:p>
        </p:txBody>
      </p:sp>
      <p:sp>
        <p:nvSpPr>
          <p:cNvPr id="2" name="右中かっこ 1">
            <a:extLst>
              <a:ext uri="{FF2B5EF4-FFF2-40B4-BE49-F238E27FC236}">
                <a16:creationId xmlns:a16="http://schemas.microsoft.com/office/drawing/2014/main" id="{F77C9788-2118-9C38-53AD-1B27D718884D}"/>
              </a:ext>
            </a:extLst>
          </p:cNvPr>
          <p:cNvSpPr/>
          <p:nvPr/>
        </p:nvSpPr>
        <p:spPr>
          <a:xfrm>
            <a:off x="8255000" y="3867149"/>
            <a:ext cx="82550" cy="390525"/>
          </a:xfrm>
          <a:prstGeom prst="rightBrace">
            <a:avLst>
              <a:gd name="adj1" fmla="val 40064"/>
              <a:gd name="adj2"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52D4C32-2932-CE1C-B0A3-BE4635C16950}"/>
              </a:ext>
            </a:extLst>
          </p:cNvPr>
          <p:cNvSpPr txBox="1"/>
          <p:nvPr/>
        </p:nvSpPr>
        <p:spPr>
          <a:xfrm>
            <a:off x="8337550" y="3964504"/>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
        <p:nvSpPr>
          <p:cNvPr id="5" name="テキスト ボックス 4">
            <a:extLst>
              <a:ext uri="{FF2B5EF4-FFF2-40B4-BE49-F238E27FC236}">
                <a16:creationId xmlns:a16="http://schemas.microsoft.com/office/drawing/2014/main" id="{EB04F3ED-5C7C-A096-1CDC-C0B381E1DEF8}"/>
              </a:ext>
            </a:extLst>
          </p:cNvPr>
          <p:cNvSpPr txBox="1"/>
          <p:nvPr/>
        </p:nvSpPr>
        <p:spPr>
          <a:xfrm>
            <a:off x="274638" y="4031794"/>
            <a:ext cx="1954381" cy="215444"/>
          </a:xfrm>
          <a:prstGeom prst="rect">
            <a:avLst/>
          </a:prstGeom>
          <a:noFill/>
        </p:spPr>
        <p:txBody>
          <a:bodyPr wrap="none" rtlCol="0">
            <a:spAutoFit/>
          </a:bodyPr>
          <a:lstStyle/>
          <a:p>
            <a:r>
              <a:rPr kumimoji="1" lang="en-US" altLang="ja-JP" sz="800" dirty="0">
                <a:solidFill>
                  <a:srgbClr val="FF0000"/>
                </a:solidFill>
              </a:rPr>
              <a:t>Δ7 Blade lever (0 </a:t>
            </a:r>
            <a:r>
              <a:rPr kumimoji="1" lang="ja-JP" altLang="en-US" sz="800" dirty="0">
                <a:solidFill>
                  <a:srgbClr val="FF0000"/>
                </a:solidFill>
              </a:rPr>
              <a:t>～</a:t>
            </a:r>
            <a:r>
              <a:rPr kumimoji="1" lang="en-US" altLang="ja-JP" sz="800" dirty="0">
                <a:solidFill>
                  <a:srgbClr val="FF0000"/>
                </a:solidFill>
              </a:rPr>
              <a:t> 100) </a:t>
            </a:r>
            <a:r>
              <a:rPr kumimoji="1" lang="ja-JP" altLang="en-US" sz="800" dirty="0">
                <a:solidFill>
                  <a:srgbClr val="FF0000"/>
                </a:solidFill>
              </a:rPr>
              <a:t>⇒ </a:t>
            </a:r>
            <a:r>
              <a:rPr kumimoji="1" lang="en-US" altLang="ja-JP" sz="800" dirty="0">
                <a:solidFill>
                  <a:srgbClr val="FF0000"/>
                </a:solidFill>
              </a:rPr>
              <a:t>(-100 </a:t>
            </a:r>
            <a:r>
              <a:rPr kumimoji="1" lang="ja-JP" altLang="en-US" sz="800" dirty="0">
                <a:solidFill>
                  <a:srgbClr val="FF0000"/>
                </a:solidFill>
              </a:rPr>
              <a:t>～ </a:t>
            </a:r>
            <a:r>
              <a:rPr kumimoji="1" lang="en-US" altLang="ja-JP" sz="800" dirty="0">
                <a:solidFill>
                  <a:srgbClr val="FF0000"/>
                </a:solidFill>
              </a:rPr>
              <a:t>100)</a:t>
            </a:r>
            <a:endParaRPr kumimoji="1" lang="ja-JP" altLang="en-US" sz="800" dirty="0">
              <a:solidFill>
                <a:srgbClr val="FF0000"/>
              </a:solidFill>
            </a:endParaRPr>
          </a:p>
        </p:txBody>
      </p:sp>
    </p:spTree>
    <p:extLst>
      <p:ext uri="{BB962C8B-B14F-4D97-AF65-F5344CB8AC3E}">
        <p14:creationId xmlns:p14="http://schemas.microsoft.com/office/powerpoint/2010/main" val="3688233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descr="グラフィカル ユーザー インターフェイス&#10;&#10;自動的に生成された説明">
            <a:extLst>
              <a:ext uri="{FF2B5EF4-FFF2-40B4-BE49-F238E27FC236}">
                <a16:creationId xmlns:a16="http://schemas.microsoft.com/office/drawing/2014/main" id="{0D99CCA6-A6BB-47B6-D78D-B79F73CE4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sp>
        <p:nvSpPr>
          <p:cNvPr id="7" name="テキスト ボックス 6"/>
          <p:cNvSpPr txBox="1"/>
          <p:nvPr/>
        </p:nvSpPr>
        <p:spPr>
          <a:xfrm>
            <a:off x="5421313" y="657225"/>
            <a:ext cx="3863115" cy="2697277"/>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コントローラに入力されるデジタル信号、アナログ信号を確認できます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Sub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C1P06: 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フートスイッチ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C1P07: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グリップスイッチ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右グリップスライドスイッチ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左グリップスライドスイッチ</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左グリップスイッチ１</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左グリップスイッチ３</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左グリップスイッチ４</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グリップ仕様時のみ）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アウトリガー切替スイッチ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アウトリガ左スイッチ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アウトリガ右スイッチ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UC</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C1P06: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ギヤ１ポジションスイッチ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C1P07: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ギヤ２ポジションスイッチ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C1P10: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車速センサ</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88498" y="903540"/>
            <a:ext cx="642978" cy="25677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11" name="直線矢印コネクタ 10"/>
          <p:cNvCxnSpPr>
            <a:cxnSpLocks/>
            <a:stCxn id="12" idx="4"/>
            <a:endCxn id="10" idx="0"/>
          </p:cNvCxnSpPr>
          <p:nvPr/>
        </p:nvCxnSpPr>
        <p:spPr>
          <a:xfrm>
            <a:off x="4909987" y="760082"/>
            <a:ext cx="0" cy="1434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7130" y="5543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6" name="テキスト プレースホルダー 5">
            <a:extLst>
              <a:ext uri="{FF2B5EF4-FFF2-40B4-BE49-F238E27FC236}">
                <a16:creationId xmlns:a16="http://schemas.microsoft.com/office/drawing/2014/main" id="{62495B7F-7BD6-7521-D227-AC525E44C678}"/>
              </a:ext>
            </a:extLst>
          </p:cNvPr>
          <p:cNvSpPr>
            <a:spLocks noGrp="1"/>
          </p:cNvSpPr>
          <p:nvPr>
            <p:ph type="body" sz="quarter" idx="10"/>
          </p:nvPr>
        </p:nvSpPr>
        <p:spPr/>
        <p:txBody>
          <a:bodyPr/>
          <a:lstStyle/>
          <a:p>
            <a:r>
              <a:rPr lang="en-US" altLang="ja-JP" dirty="0"/>
              <a:t>Inputs(</a:t>
            </a:r>
            <a:r>
              <a:rPr lang="en-US" altLang="ja-JP" dirty="0" err="1"/>
              <a:t>Sub,Uc</a:t>
            </a:r>
            <a:r>
              <a:rPr lang="en-US" altLang="ja-JP" dirty="0"/>
              <a:t>)</a:t>
            </a:r>
            <a:r>
              <a:rPr lang="ja-JP" altLang="en-US" dirty="0"/>
              <a:t>画面</a:t>
            </a:r>
          </a:p>
        </p:txBody>
      </p:sp>
      <p:sp>
        <p:nvSpPr>
          <p:cNvPr id="2" name="右中かっこ 1">
            <a:extLst>
              <a:ext uri="{FF2B5EF4-FFF2-40B4-BE49-F238E27FC236}">
                <a16:creationId xmlns:a16="http://schemas.microsoft.com/office/drawing/2014/main" id="{A9CD1F30-C272-C5E2-A86F-FCFDA88A7ABF}"/>
              </a:ext>
            </a:extLst>
          </p:cNvPr>
          <p:cNvSpPr/>
          <p:nvPr/>
        </p:nvSpPr>
        <p:spPr>
          <a:xfrm>
            <a:off x="8318500" y="1479549"/>
            <a:ext cx="82550" cy="773114"/>
          </a:xfrm>
          <a:prstGeom prst="rightBrace">
            <a:avLst>
              <a:gd name="adj1" fmla="val 40064"/>
              <a:gd name="adj2"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27E17CA1-B036-CC01-9506-D90B1A9CFB83}"/>
              </a:ext>
            </a:extLst>
          </p:cNvPr>
          <p:cNvSpPr txBox="1"/>
          <p:nvPr/>
        </p:nvSpPr>
        <p:spPr>
          <a:xfrm>
            <a:off x="8401050" y="1788835"/>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Tree>
    <p:extLst>
      <p:ext uri="{BB962C8B-B14F-4D97-AF65-F5344CB8AC3E}">
        <p14:creationId xmlns:p14="http://schemas.microsoft.com/office/powerpoint/2010/main" val="3946065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6C6E634-3CBB-B0C4-CC72-B093FD92F0D3}"/>
              </a:ext>
            </a:extLst>
          </p:cNvPr>
          <p:cNvPicPr>
            <a:picLocks noChangeAspect="1"/>
          </p:cNvPicPr>
          <p:nvPr/>
        </p:nvPicPr>
        <p:blipFill>
          <a:blip r:embed="rId2"/>
          <a:stretch>
            <a:fillRect/>
          </a:stretch>
        </p:blipFill>
        <p:spPr>
          <a:xfrm>
            <a:off x="350175" y="676811"/>
            <a:ext cx="4865957" cy="3355637"/>
          </a:xfrm>
          <a:prstGeom prst="rect">
            <a:avLst/>
          </a:prstGeom>
        </p:spPr>
      </p:pic>
      <p:sp>
        <p:nvSpPr>
          <p:cNvPr id="7" name="テキスト ボックス 6"/>
          <p:cNvSpPr txBox="1"/>
          <p:nvPr/>
        </p:nvSpPr>
        <p:spPr>
          <a:xfrm>
            <a:off x="5421313" y="539128"/>
            <a:ext cx="3863115" cy="6274923"/>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コントローラから出力されるデジタル信号、アナログ信号を確認できます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Main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ECU</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C1P31: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グリースポンプ</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C1P32: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オートディギングブレーキソレノイド１</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給油ポンプリレー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ワークライト前リレー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サイドライトリレー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バッテリリレー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後進ソレノイド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前進ソレノイド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油圧ポンプソレノイド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COM</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ディギングブレーキソレノイド２</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レバーロックソレノイド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C1P43: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ディギングブレーキソレノイド３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ヘッドライトリレー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オートランプリレー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C1P46:</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ブレード上げソレノイド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ブレード下げソレノイド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ターンシグナル左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C1P50: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アジャスト伸び側ソレノイド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アジャスト縮み側ソレノイド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ワークライト後リレー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リフトアラームリレー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ブームサスペンションソレノイド１</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ブームサスペンションソレノイド２</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メインリレー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C2P38:</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C2P39: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C2P39: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5A</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C2P40: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C2P40: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5B</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ポジションランプリレー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ワイパリレー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ブレーキランプ</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リバースランプ</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ビーコンリレー</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バックアラーム</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ターンシグナル右</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C2P50: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スイッチイルミネーション</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91482" y="910102"/>
            <a:ext cx="643458" cy="2460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13211" y="760082"/>
            <a:ext cx="0" cy="15002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10354" y="5543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5" name="テキスト プレースホルダー 4">
            <a:extLst>
              <a:ext uri="{FF2B5EF4-FFF2-40B4-BE49-F238E27FC236}">
                <a16:creationId xmlns:a16="http://schemas.microsoft.com/office/drawing/2014/main" id="{C74098A7-7E08-1D89-02F0-B6FAC633BBB5}"/>
              </a:ext>
            </a:extLst>
          </p:cNvPr>
          <p:cNvSpPr>
            <a:spLocks noGrp="1"/>
          </p:cNvSpPr>
          <p:nvPr>
            <p:ph type="body" sz="quarter" idx="10"/>
          </p:nvPr>
        </p:nvSpPr>
        <p:spPr/>
        <p:txBody>
          <a:bodyPr/>
          <a:lstStyle/>
          <a:p>
            <a:r>
              <a:rPr lang="en-US" altLang="ja-JP" dirty="0"/>
              <a:t>Outputs(Main)</a:t>
            </a:r>
            <a:r>
              <a:rPr lang="ja-JP" altLang="en-US" dirty="0"/>
              <a:t>画面</a:t>
            </a:r>
          </a:p>
        </p:txBody>
      </p:sp>
      <p:sp>
        <p:nvSpPr>
          <p:cNvPr id="19" name="テキスト ボックス 18">
            <a:extLst>
              <a:ext uri="{FF2B5EF4-FFF2-40B4-BE49-F238E27FC236}">
                <a16:creationId xmlns:a16="http://schemas.microsoft.com/office/drawing/2014/main" id="{EEE34C43-FA50-75B3-A02D-3EFB431C5FEB}"/>
              </a:ext>
            </a:extLst>
          </p:cNvPr>
          <p:cNvSpPr txBox="1"/>
          <p:nvPr/>
        </p:nvSpPr>
        <p:spPr>
          <a:xfrm>
            <a:off x="350175" y="4080738"/>
            <a:ext cx="1281367" cy="195814"/>
          </a:xfrm>
          <a:prstGeom prst="rect">
            <a:avLst/>
          </a:prstGeom>
          <a:noFill/>
        </p:spPr>
        <p:txBody>
          <a:bodyPr wrap="none" lIns="36000" tIns="36000" rIns="36000" bIns="36000" rtlCol="0">
            <a:spAutoFit/>
          </a:bodyPr>
          <a:lstStyle/>
          <a:p>
            <a:r>
              <a:rPr kumimoji="1" lang="en-US" altLang="ja-JP" sz="800" dirty="0">
                <a:solidFill>
                  <a:srgbClr val="FF0000"/>
                </a:solidFill>
              </a:rPr>
              <a:t>Δ04 Δ07 </a:t>
            </a:r>
            <a:r>
              <a:rPr kumimoji="1" lang="ja-JP" altLang="en-US" sz="800" dirty="0">
                <a:solidFill>
                  <a:srgbClr val="FF0000"/>
                </a:solidFill>
              </a:rPr>
              <a:t> 画面イメージ更新</a:t>
            </a:r>
          </a:p>
        </p:txBody>
      </p:sp>
      <p:sp>
        <p:nvSpPr>
          <p:cNvPr id="4" name="テキスト ボックス 3">
            <a:extLst>
              <a:ext uri="{FF2B5EF4-FFF2-40B4-BE49-F238E27FC236}">
                <a16:creationId xmlns:a16="http://schemas.microsoft.com/office/drawing/2014/main" id="{8B691372-6CFE-20CA-F829-8B2D70AB5C7C}"/>
              </a:ext>
            </a:extLst>
          </p:cNvPr>
          <p:cNvSpPr txBox="1"/>
          <p:nvPr/>
        </p:nvSpPr>
        <p:spPr>
          <a:xfrm>
            <a:off x="5421313" y="4858973"/>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6" name="テキスト ボックス 5">
            <a:extLst>
              <a:ext uri="{FF2B5EF4-FFF2-40B4-BE49-F238E27FC236}">
                <a16:creationId xmlns:a16="http://schemas.microsoft.com/office/drawing/2014/main" id="{607887F4-92D0-F4F8-1A6C-74EEA44D4C71}"/>
              </a:ext>
            </a:extLst>
          </p:cNvPr>
          <p:cNvSpPr txBox="1"/>
          <p:nvPr/>
        </p:nvSpPr>
        <p:spPr>
          <a:xfrm>
            <a:off x="5421313" y="4986783"/>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8" name="テキスト ボックス 7">
            <a:extLst>
              <a:ext uri="{FF2B5EF4-FFF2-40B4-BE49-F238E27FC236}">
                <a16:creationId xmlns:a16="http://schemas.microsoft.com/office/drawing/2014/main" id="{54831DA5-0EF0-383F-D16A-3FAAFCFFA8D6}"/>
              </a:ext>
            </a:extLst>
          </p:cNvPr>
          <p:cNvSpPr txBox="1"/>
          <p:nvPr/>
        </p:nvSpPr>
        <p:spPr>
          <a:xfrm>
            <a:off x="5421313" y="5114593"/>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9" name="テキスト ボックス 8">
            <a:extLst>
              <a:ext uri="{FF2B5EF4-FFF2-40B4-BE49-F238E27FC236}">
                <a16:creationId xmlns:a16="http://schemas.microsoft.com/office/drawing/2014/main" id="{4F4D7957-F833-7296-4639-BD594C3E0E83}"/>
              </a:ext>
            </a:extLst>
          </p:cNvPr>
          <p:cNvSpPr txBox="1"/>
          <p:nvPr/>
        </p:nvSpPr>
        <p:spPr>
          <a:xfrm>
            <a:off x="5421313" y="5242404"/>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Tree>
    <p:extLst>
      <p:ext uri="{BB962C8B-B14F-4D97-AF65-F5344CB8AC3E}">
        <p14:creationId xmlns:p14="http://schemas.microsoft.com/office/powerpoint/2010/main" val="684746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ABFF165D-7518-9A34-520D-D8B09F554D3A}"/>
              </a:ext>
            </a:extLst>
          </p:cNvPr>
          <p:cNvPicPr>
            <a:picLocks noChangeAspect="1"/>
          </p:cNvPicPr>
          <p:nvPr/>
        </p:nvPicPr>
        <p:blipFill>
          <a:blip r:embed="rId2"/>
          <a:stretch>
            <a:fillRect/>
          </a:stretch>
        </p:blipFill>
        <p:spPr>
          <a:xfrm>
            <a:off x="344489" y="657226"/>
            <a:ext cx="4871748" cy="3377137"/>
          </a:xfrm>
          <a:prstGeom prst="rect">
            <a:avLst/>
          </a:prstGeom>
        </p:spPr>
      </p:pic>
      <p:sp>
        <p:nvSpPr>
          <p:cNvPr id="7" name="テキスト ボックス 6"/>
          <p:cNvSpPr txBox="1"/>
          <p:nvPr/>
        </p:nvSpPr>
        <p:spPr>
          <a:xfrm>
            <a:off x="5421313" y="657225"/>
            <a:ext cx="3863115" cy="3735959"/>
          </a:xfrm>
          <a:prstGeom prst="rect">
            <a:avLst/>
          </a:prstGeom>
          <a:solidFill>
            <a:schemeClr val="bg1"/>
          </a:solidFill>
          <a:ln w="6350">
            <a:solidFill>
              <a:schemeClr val="tx1"/>
            </a:solidFill>
          </a:ln>
        </p:spPr>
        <p:txBody>
          <a:bodyPr wrap="square" rtlCol="0">
            <a:spAutoFit/>
          </a:bodyPr>
          <a:lstStyle/>
          <a:p>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コントローラから出力されるデジタル信号、アナログ信号を確認できます。</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Home:</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Sub</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C1P33: AUX1</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1Way</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C1P34: </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緊急ステアリングソレノイド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C1P35:</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AUX3</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プレッシャリリースソレノイド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C1P36: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3</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C1P37: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4</a:t>
            </a: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C1P39:</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AUX1A</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C1P40:</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AUX1B</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C1P41:</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AUX2C</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C1P42:</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AUX2D</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C1P43:</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AUX4G</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C1P44:</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AUX4H</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C1P45:</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スイング左ソレノイド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C1P46:</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スイング右ソレノイド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UC</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コントローラ</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C1P37:</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アウトリガ右ソレノイド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C1P38:</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アウトリガ左ソレノイド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C1P40:</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クリープソレノイド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C1P41:</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走行ギヤ１ソレノイド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C1P42:</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走行ギヤ２ソレノイド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C1P43:</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後進</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C1P44:</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ディファレンシャルロックソレノイド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C1P45:</a:t>
            </a:r>
            <a:r>
              <a:rPr lang="ja-JP" altLang="en-US"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rPr>
              <a:t> ラムフリーソレノイド</a:t>
            </a:r>
            <a:endParaRPr lang="en-US" altLang="ja-JP" sz="857" dirty="0">
              <a:solidFill>
                <a:srgbClr val="090404"/>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94876" y="903433"/>
            <a:ext cx="621360" cy="24441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05556" y="780329"/>
            <a:ext cx="0" cy="12310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2699" y="574615"/>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6" name="テキスト プレースホルダー 5">
            <a:extLst>
              <a:ext uri="{FF2B5EF4-FFF2-40B4-BE49-F238E27FC236}">
                <a16:creationId xmlns:a16="http://schemas.microsoft.com/office/drawing/2014/main" id="{ED45CCB3-3C93-6496-401F-6FE0FC6FE445}"/>
              </a:ext>
            </a:extLst>
          </p:cNvPr>
          <p:cNvSpPr>
            <a:spLocks noGrp="1"/>
          </p:cNvSpPr>
          <p:nvPr>
            <p:ph type="body" sz="quarter" idx="10"/>
          </p:nvPr>
        </p:nvSpPr>
        <p:spPr/>
        <p:txBody>
          <a:bodyPr/>
          <a:lstStyle/>
          <a:p>
            <a:r>
              <a:rPr lang="en-US" altLang="ja-JP" dirty="0"/>
              <a:t>Outputs(</a:t>
            </a:r>
            <a:r>
              <a:rPr lang="en-US" altLang="ja-JP" dirty="0" err="1"/>
              <a:t>Sub,Uc</a:t>
            </a:r>
            <a:r>
              <a:rPr lang="en-US" altLang="ja-JP" dirty="0"/>
              <a:t>)</a:t>
            </a:r>
            <a:r>
              <a:rPr lang="ja-JP" altLang="en-US" dirty="0"/>
              <a:t>画面</a:t>
            </a:r>
          </a:p>
        </p:txBody>
      </p:sp>
      <p:sp>
        <p:nvSpPr>
          <p:cNvPr id="2" name="テキスト ボックス 1">
            <a:extLst>
              <a:ext uri="{FF2B5EF4-FFF2-40B4-BE49-F238E27FC236}">
                <a16:creationId xmlns:a16="http://schemas.microsoft.com/office/drawing/2014/main" id="{460DE51C-7F8B-CBA4-B660-BE58715E4428}"/>
              </a:ext>
            </a:extLst>
          </p:cNvPr>
          <p:cNvSpPr txBox="1"/>
          <p:nvPr/>
        </p:nvSpPr>
        <p:spPr>
          <a:xfrm>
            <a:off x="5388004" y="3111857"/>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
        <p:nvSpPr>
          <p:cNvPr id="4" name="テキスト ボックス 3">
            <a:extLst>
              <a:ext uri="{FF2B5EF4-FFF2-40B4-BE49-F238E27FC236}">
                <a16:creationId xmlns:a16="http://schemas.microsoft.com/office/drawing/2014/main" id="{5B8A7D85-DDDC-1471-AE60-E6199A7FEC09}"/>
              </a:ext>
            </a:extLst>
          </p:cNvPr>
          <p:cNvSpPr txBox="1"/>
          <p:nvPr/>
        </p:nvSpPr>
        <p:spPr>
          <a:xfrm>
            <a:off x="5406708" y="3497620"/>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
        <p:nvSpPr>
          <p:cNvPr id="5" name="テキスト ボックス 4">
            <a:extLst>
              <a:ext uri="{FF2B5EF4-FFF2-40B4-BE49-F238E27FC236}">
                <a16:creationId xmlns:a16="http://schemas.microsoft.com/office/drawing/2014/main" id="{D2FD126D-979A-CF96-CDE9-A5480EAAF8DE}"/>
              </a:ext>
            </a:extLst>
          </p:cNvPr>
          <p:cNvSpPr txBox="1"/>
          <p:nvPr/>
        </p:nvSpPr>
        <p:spPr>
          <a:xfrm>
            <a:off x="5388004" y="4342170"/>
            <a:ext cx="1508994" cy="318924"/>
          </a:xfrm>
          <a:prstGeom prst="rect">
            <a:avLst/>
          </a:prstGeom>
          <a:noFill/>
        </p:spPr>
        <p:txBody>
          <a:bodyPr wrap="none" lIns="36000" tIns="36000" rIns="36000" bIns="36000" rtlCol="0">
            <a:spAutoFit/>
          </a:bodyPr>
          <a:lstStyle/>
          <a:p>
            <a:r>
              <a:rPr kumimoji="1" lang="en-US" altLang="ja-JP" sz="800" dirty="0">
                <a:solidFill>
                  <a:srgbClr val="FF0000"/>
                </a:solidFill>
              </a:rPr>
              <a:t>Δ02</a:t>
            </a:r>
            <a:br>
              <a:rPr kumimoji="1" lang="en-US" altLang="ja-JP" sz="800" dirty="0">
                <a:solidFill>
                  <a:srgbClr val="FF0000"/>
                </a:solidFill>
              </a:rPr>
            </a:br>
            <a:r>
              <a:rPr kumimoji="1" lang="ja-JP" altLang="en-US" sz="800" dirty="0">
                <a:solidFill>
                  <a:srgbClr val="FF0000"/>
                </a:solidFill>
              </a:rPr>
              <a:t>標記をディスプレイと合わせる</a:t>
            </a:r>
          </a:p>
        </p:txBody>
      </p:sp>
      <p:sp>
        <p:nvSpPr>
          <p:cNvPr id="8" name="テキスト ボックス 7">
            <a:extLst>
              <a:ext uri="{FF2B5EF4-FFF2-40B4-BE49-F238E27FC236}">
                <a16:creationId xmlns:a16="http://schemas.microsoft.com/office/drawing/2014/main" id="{BAA54F02-B33D-FB6E-BA1F-B990AAEE8343}"/>
              </a:ext>
            </a:extLst>
          </p:cNvPr>
          <p:cNvSpPr txBox="1"/>
          <p:nvPr/>
        </p:nvSpPr>
        <p:spPr>
          <a:xfrm>
            <a:off x="350176" y="4057358"/>
            <a:ext cx="1441668" cy="195814"/>
          </a:xfrm>
          <a:prstGeom prst="rect">
            <a:avLst/>
          </a:prstGeom>
          <a:noFill/>
        </p:spPr>
        <p:txBody>
          <a:bodyPr wrap="none" lIns="36000" tIns="36000" rIns="36000" bIns="36000" rtlCol="0">
            <a:spAutoFit/>
          </a:bodyPr>
          <a:lstStyle/>
          <a:p>
            <a:r>
              <a:rPr kumimoji="1" lang="en-US" altLang="ja-JP" sz="800" dirty="0">
                <a:solidFill>
                  <a:srgbClr val="FF0000"/>
                </a:solidFill>
              </a:rPr>
              <a:t>Δ02 Δ06 Δ07</a:t>
            </a:r>
            <a:r>
              <a:rPr kumimoji="1" lang="ja-JP" altLang="en-US" sz="800" dirty="0">
                <a:solidFill>
                  <a:srgbClr val="FF0000"/>
                </a:solidFill>
              </a:rPr>
              <a:t> 画面イメージ更新</a:t>
            </a:r>
          </a:p>
        </p:txBody>
      </p:sp>
      <p:sp>
        <p:nvSpPr>
          <p:cNvPr id="16" name="テキスト ボックス 15">
            <a:extLst>
              <a:ext uri="{FF2B5EF4-FFF2-40B4-BE49-F238E27FC236}">
                <a16:creationId xmlns:a16="http://schemas.microsoft.com/office/drawing/2014/main" id="{E4BABA6C-A660-2922-F151-9A15F34BF37D}"/>
              </a:ext>
            </a:extLst>
          </p:cNvPr>
          <p:cNvSpPr txBox="1"/>
          <p:nvPr/>
        </p:nvSpPr>
        <p:spPr>
          <a:xfrm>
            <a:off x="5421313" y="1428459"/>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Δ06</a:t>
            </a:r>
            <a:endParaRPr kumimoji="1" lang="ja-JP" altLang="en-US" sz="800" dirty="0">
              <a:solidFill>
                <a:srgbClr val="FF0000"/>
              </a:solidFill>
            </a:endParaRPr>
          </a:p>
        </p:txBody>
      </p:sp>
      <p:sp>
        <p:nvSpPr>
          <p:cNvPr id="14" name="テキスト ボックス 13">
            <a:extLst>
              <a:ext uri="{FF2B5EF4-FFF2-40B4-BE49-F238E27FC236}">
                <a16:creationId xmlns:a16="http://schemas.microsoft.com/office/drawing/2014/main" id="{9D55E4FE-F830-82A3-CE79-28C80CB7F0F1}"/>
              </a:ext>
            </a:extLst>
          </p:cNvPr>
          <p:cNvSpPr txBox="1"/>
          <p:nvPr/>
        </p:nvSpPr>
        <p:spPr>
          <a:xfrm>
            <a:off x="5421312" y="1688727"/>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15" name="テキスト ボックス 14">
            <a:extLst>
              <a:ext uri="{FF2B5EF4-FFF2-40B4-BE49-F238E27FC236}">
                <a16:creationId xmlns:a16="http://schemas.microsoft.com/office/drawing/2014/main" id="{B94CDC7A-1249-5C88-CA04-389709467F19}"/>
              </a:ext>
            </a:extLst>
          </p:cNvPr>
          <p:cNvSpPr txBox="1"/>
          <p:nvPr/>
        </p:nvSpPr>
        <p:spPr>
          <a:xfrm>
            <a:off x="5421311" y="1822384"/>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Tree>
    <p:extLst>
      <p:ext uri="{BB962C8B-B14F-4D97-AF65-F5344CB8AC3E}">
        <p14:creationId xmlns:p14="http://schemas.microsoft.com/office/powerpoint/2010/main" val="566700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descr="テキスト&#10;&#10;低い精度で自動的に生成された説明">
            <a:extLst>
              <a:ext uri="{FF2B5EF4-FFF2-40B4-BE49-F238E27FC236}">
                <a16:creationId xmlns:a16="http://schemas.microsoft.com/office/drawing/2014/main" id="{EA5802CC-408B-8C24-37DA-8E574FBE4C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sp>
        <p:nvSpPr>
          <p:cNvPr id="7" name="テキスト ボックス 6"/>
          <p:cNvSpPr txBox="1"/>
          <p:nvPr/>
        </p:nvSpPr>
        <p:spPr>
          <a:xfrm>
            <a:off x="5421313" y="657225"/>
            <a:ext cx="3863115" cy="2301592"/>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CAN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の受信状態を確認できます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CAN communication</a:t>
            </a: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ECU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ECU</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SUB Controller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サブコントローラからの受信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UC</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Controller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下部体コントローラからの受信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Cluster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クラスタゲージからの受信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Key Pad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キーパッドからの受信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Jog Dial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ジョグダイヤルからの受信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Radio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ラジオからの受信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HVAC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エアコンコントローラからの受信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Left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多機能グリップ左からの受信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88593">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 Right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多機能グリップ右からの受信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1027360">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270°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camera	270°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カメラユニットからの受信</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605958" y="903434"/>
            <a:ext cx="606121" cy="2624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09018" y="770927"/>
            <a:ext cx="1" cy="13250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6161" y="565213"/>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6" name="テキスト プレースホルダー 5">
            <a:extLst>
              <a:ext uri="{FF2B5EF4-FFF2-40B4-BE49-F238E27FC236}">
                <a16:creationId xmlns:a16="http://schemas.microsoft.com/office/drawing/2014/main" id="{850A8B79-5C64-CC76-3A10-E53DBFF02690}"/>
              </a:ext>
            </a:extLst>
          </p:cNvPr>
          <p:cNvSpPr>
            <a:spLocks noGrp="1"/>
          </p:cNvSpPr>
          <p:nvPr>
            <p:ph type="body" sz="quarter" idx="10"/>
          </p:nvPr>
        </p:nvSpPr>
        <p:spPr/>
        <p:txBody>
          <a:bodyPr/>
          <a:lstStyle/>
          <a:p>
            <a:r>
              <a:rPr lang="en-US" altLang="ja-JP" dirty="0"/>
              <a:t>CAN</a:t>
            </a:r>
            <a:r>
              <a:rPr lang="ja-JP" altLang="en-US" dirty="0"/>
              <a:t> </a:t>
            </a:r>
            <a:r>
              <a:rPr lang="en-US" altLang="ja-JP" dirty="0"/>
              <a:t>Communication</a:t>
            </a:r>
            <a:r>
              <a:rPr lang="ja-JP" altLang="en-US" dirty="0"/>
              <a:t>画面</a:t>
            </a:r>
          </a:p>
        </p:txBody>
      </p:sp>
    </p:spTree>
    <p:extLst>
      <p:ext uri="{BB962C8B-B14F-4D97-AF65-F5344CB8AC3E}">
        <p14:creationId xmlns:p14="http://schemas.microsoft.com/office/powerpoint/2010/main" val="403478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43A28BBC-AE7A-CD57-5272-9D4805611579}"/>
              </a:ext>
            </a:extLst>
          </p:cNvPr>
          <p:cNvPicPr>
            <a:picLocks noChangeAspect="1"/>
          </p:cNvPicPr>
          <p:nvPr/>
        </p:nvPicPr>
        <p:blipFill>
          <a:blip r:embed="rId2"/>
          <a:stretch>
            <a:fillRect/>
          </a:stretch>
        </p:blipFill>
        <p:spPr>
          <a:xfrm>
            <a:off x="350175" y="657225"/>
            <a:ext cx="4846743" cy="3342387"/>
          </a:xfrm>
          <a:prstGeom prst="rect">
            <a:avLst/>
          </a:prstGeom>
        </p:spPr>
      </p:pic>
      <p:sp>
        <p:nvSpPr>
          <p:cNvPr id="7" name="テキスト ボックス 6"/>
          <p:cNvSpPr txBox="1"/>
          <p:nvPr/>
        </p:nvSpPr>
        <p:spPr>
          <a:xfrm>
            <a:off x="5416162" y="657225"/>
            <a:ext cx="3863115" cy="4758162"/>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実際にコントローラから出力されている数値が表示されます。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1925449">
              <a:spcBef>
                <a:spcPts val="857"/>
              </a:spcBef>
              <a:tabLst>
                <a:tab pos="17961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Supply power</a:t>
            </a:r>
          </a:p>
          <a:p>
            <a:pPr defTabSz="1925449">
              <a:tabLst>
                <a:tab pos="17961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各コントローラの電源電圧を表示します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1925449">
              <a:spcBef>
                <a:spcPts val="857"/>
              </a:spcBef>
              <a:tabLst>
                <a:tab pos="17961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Sensor power</a:t>
            </a:r>
          </a:p>
          <a:p>
            <a:pPr defTabSz="1925449">
              <a:tabLst>
                <a:tab pos="17961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各コントローラのセンサ電源電圧を表示します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1925449">
              <a:spcBef>
                <a:spcPts val="857"/>
              </a:spcBef>
              <a:tabLst>
                <a:tab pos="17961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PWM</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Outputs(Sub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controller)</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ディギングブレーキソレノイド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後進ソレノイド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前進ソレノイド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油圧ポンプソレノイド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ブレード上げソレノイド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ブレード下げソレノイド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アジャスト伸び側ソレノイド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C2P32: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アジャスト縮み側ソレノイド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C2P39:</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1/5A</a:t>
            </a:r>
          </a:p>
          <a:p>
            <a:pPr marL="128574">
              <a:tabLst>
                <a:tab pos="573779" algn="l"/>
                <a:tab pos="637281"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C2P40: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2/5B</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C2P42: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PWM</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Outputs(Sub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controller)</a:t>
            </a: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C1P39:</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AUX2C</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スイング左ソレノイド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C1P46:</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スイング右ソレノイド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3779" algn="l"/>
                <a:tab pos="637281"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84216" y="893274"/>
            <a:ext cx="650723" cy="26496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09578" y="749121"/>
            <a:ext cx="0" cy="1441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6721" y="543407"/>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13" name="テキスト プレースホルダー 12">
            <a:extLst>
              <a:ext uri="{FF2B5EF4-FFF2-40B4-BE49-F238E27FC236}">
                <a16:creationId xmlns:a16="http://schemas.microsoft.com/office/drawing/2014/main" id="{DCFE60E8-0D14-76F8-6BF5-E000B6D312F6}"/>
              </a:ext>
            </a:extLst>
          </p:cNvPr>
          <p:cNvSpPr>
            <a:spLocks noGrp="1"/>
          </p:cNvSpPr>
          <p:nvPr>
            <p:ph type="body" sz="quarter" idx="10"/>
          </p:nvPr>
        </p:nvSpPr>
        <p:spPr/>
        <p:txBody>
          <a:bodyPr/>
          <a:lstStyle/>
          <a:p>
            <a:r>
              <a:rPr lang="en-US" altLang="ja-JP" dirty="0" err="1"/>
              <a:t>Feadback</a:t>
            </a:r>
            <a:r>
              <a:rPr lang="ja-JP" altLang="en-US" dirty="0"/>
              <a:t>画面</a:t>
            </a:r>
          </a:p>
        </p:txBody>
      </p:sp>
      <p:sp>
        <p:nvSpPr>
          <p:cNvPr id="2" name="テキスト ボックス 1">
            <a:extLst>
              <a:ext uri="{FF2B5EF4-FFF2-40B4-BE49-F238E27FC236}">
                <a16:creationId xmlns:a16="http://schemas.microsoft.com/office/drawing/2014/main" id="{7A41509F-1FEE-72B9-88C4-D9D4BB526FB5}"/>
              </a:ext>
            </a:extLst>
          </p:cNvPr>
          <p:cNvSpPr txBox="1"/>
          <p:nvPr/>
        </p:nvSpPr>
        <p:spPr>
          <a:xfrm>
            <a:off x="5382854" y="2566385"/>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
        <p:nvSpPr>
          <p:cNvPr id="4" name="テキスト ボックス 3">
            <a:extLst>
              <a:ext uri="{FF2B5EF4-FFF2-40B4-BE49-F238E27FC236}">
                <a16:creationId xmlns:a16="http://schemas.microsoft.com/office/drawing/2014/main" id="{A216DE30-F9DD-B49B-726A-B321FDD4D0C3}"/>
              </a:ext>
            </a:extLst>
          </p:cNvPr>
          <p:cNvSpPr txBox="1"/>
          <p:nvPr/>
        </p:nvSpPr>
        <p:spPr>
          <a:xfrm>
            <a:off x="5416162" y="5415387"/>
            <a:ext cx="1508994" cy="318924"/>
          </a:xfrm>
          <a:prstGeom prst="rect">
            <a:avLst/>
          </a:prstGeom>
          <a:noFill/>
        </p:spPr>
        <p:txBody>
          <a:bodyPr wrap="none" lIns="36000" tIns="36000" rIns="36000" bIns="36000" rtlCol="0">
            <a:spAutoFit/>
          </a:bodyPr>
          <a:lstStyle/>
          <a:p>
            <a:r>
              <a:rPr kumimoji="1" lang="en-US" altLang="ja-JP" sz="800" dirty="0">
                <a:solidFill>
                  <a:srgbClr val="FF0000"/>
                </a:solidFill>
              </a:rPr>
              <a:t>Δ02</a:t>
            </a:r>
            <a:br>
              <a:rPr kumimoji="1" lang="en-US" altLang="ja-JP" sz="800" dirty="0">
                <a:solidFill>
                  <a:srgbClr val="FF0000"/>
                </a:solidFill>
              </a:rPr>
            </a:br>
            <a:r>
              <a:rPr kumimoji="1" lang="ja-JP" altLang="en-US" sz="800" dirty="0">
                <a:solidFill>
                  <a:srgbClr val="FF0000"/>
                </a:solidFill>
              </a:rPr>
              <a:t>標記をディスプレイと合わせる</a:t>
            </a:r>
          </a:p>
        </p:txBody>
      </p:sp>
      <p:sp>
        <p:nvSpPr>
          <p:cNvPr id="5" name="テキスト ボックス 4">
            <a:extLst>
              <a:ext uri="{FF2B5EF4-FFF2-40B4-BE49-F238E27FC236}">
                <a16:creationId xmlns:a16="http://schemas.microsoft.com/office/drawing/2014/main" id="{210D0216-61AC-CA80-A347-92B5C4DB20BE}"/>
              </a:ext>
            </a:extLst>
          </p:cNvPr>
          <p:cNvSpPr txBox="1"/>
          <p:nvPr/>
        </p:nvSpPr>
        <p:spPr>
          <a:xfrm>
            <a:off x="5382854" y="2690209"/>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endParaRPr kumimoji="1" lang="ja-JP" altLang="en-US" sz="800" dirty="0">
              <a:solidFill>
                <a:srgbClr val="FF0000"/>
              </a:solidFill>
            </a:endParaRPr>
          </a:p>
        </p:txBody>
      </p:sp>
      <p:sp>
        <p:nvSpPr>
          <p:cNvPr id="8" name="テキスト ボックス 7">
            <a:extLst>
              <a:ext uri="{FF2B5EF4-FFF2-40B4-BE49-F238E27FC236}">
                <a16:creationId xmlns:a16="http://schemas.microsoft.com/office/drawing/2014/main" id="{10EDF161-C5D9-7D10-539F-7987DDB21052}"/>
              </a:ext>
            </a:extLst>
          </p:cNvPr>
          <p:cNvSpPr txBox="1"/>
          <p:nvPr/>
        </p:nvSpPr>
        <p:spPr>
          <a:xfrm>
            <a:off x="350175" y="4080738"/>
            <a:ext cx="1121067" cy="195814"/>
          </a:xfrm>
          <a:prstGeom prst="rect">
            <a:avLst/>
          </a:prstGeom>
          <a:noFill/>
        </p:spPr>
        <p:txBody>
          <a:bodyPr wrap="none" lIns="36000" tIns="36000" rIns="36000" bIns="36000" rtlCol="0">
            <a:spAutoFit/>
          </a:bodyPr>
          <a:lstStyle/>
          <a:p>
            <a:r>
              <a:rPr kumimoji="1" lang="en-US" altLang="ja-JP" sz="800" dirty="0">
                <a:solidFill>
                  <a:srgbClr val="FF0000"/>
                </a:solidFill>
              </a:rPr>
              <a:t>Δ07 </a:t>
            </a:r>
            <a:r>
              <a:rPr kumimoji="1" lang="ja-JP" altLang="en-US" sz="800" dirty="0">
                <a:solidFill>
                  <a:srgbClr val="FF0000"/>
                </a:solidFill>
              </a:rPr>
              <a:t> 画面イメージ更新</a:t>
            </a:r>
          </a:p>
        </p:txBody>
      </p:sp>
      <p:sp>
        <p:nvSpPr>
          <p:cNvPr id="14" name="テキスト ボックス 13">
            <a:extLst>
              <a:ext uri="{FF2B5EF4-FFF2-40B4-BE49-F238E27FC236}">
                <a16:creationId xmlns:a16="http://schemas.microsoft.com/office/drawing/2014/main" id="{FCA086E6-21F2-84CE-6165-1801B5409036}"/>
              </a:ext>
            </a:extLst>
          </p:cNvPr>
          <p:cNvSpPr txBox="1"/>
          <p:nvPr/>
        </p:nvSpPr>
        <p:spPr>
          <a:xfrm>
            <a:off x="5382853" y="3089070"/>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15" name="テキスト ボックス 14">
            <a:extLst>
              <a:ext uri="{FF2B5EF4-FFF2-40B4-BE49-F238E27FC236}">
                <a16:creationId xmlns:a16="http://schemas.microsoft.com/office/drawing/2014/main" id="{60FB9358-99E9-FE8F-214F-DFDFC265A9C6}"/>
              </a:ext>
            </a:extLst>
          </p:cNvPr>
          <p:cNvSpPr txBox="1"/>
          <p:nvPr/>
        </p:nvSpPr>
        <p:spPr>
          <a:xfrm>
            <a:off x="5382853" y="3220486"/>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endParaRPr kumimoji="1" lang="ja-JP" altLang="en-US" sz="800" dirty="0">
              <a:solidFill>
                <a:srgbClr val="FF0000"/>
              </a:solidFill>
            </a:endParaRPr>
          </a:p>
        </p:txBody>
      </p:sp>
    </p:spTree>
    <p:extLst>
      <p:ext uri="{BB962C8B-B14F-4D97-AF65-F5344CB8AC3E}">
        <p14:creationId xmlns:p14="http://schemas.microsoft.com/office/powerpoint/2010/main" val="1084449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descr="テーブル&#10;&#10;自動的に生成された説明">
            <a:extLst>
              <a:ext uri="{FF2B5EF4-FFF2-40B4-BE49-F238E27FC236}">
                <a16:creationId xmlns:a16="http://schemas.microsoft.com/office/drawing/2014/main" id="{B175C31D-D6A4-59FC-5524-C824BE908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sp>
        <p:nvSpPr>
          <p:cNvPr id="6" name="テキスト ボックス 5"/>
          <p:cNvSpPr txBox="1"/>
          <p:nvPr/>
        </p:nvSpPr>
        <p:spPr>
          <a:xfrm>
            <a:off x="5421313" y="657225"/>
            <a:ext cx="4098014" cy="2268634"/>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機械のエラーコードを確認できます。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②車両エラーコードの履歴を消去します。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③過去に発生したエンジンエラーコードを読み込みます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④エンジンエラーコードの履歴を消去します。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Vehicle side error code</a:t>
            </a:r>
          </a:p>
          <a:p>
            <a:pPr marL="128574">
              <a:tabLst>
                <a:tab pos="57831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Active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現在発生している車両エラーコード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831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Logged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過去に発生した車両エラーコードと発生時間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side error code</a:t>
            </a:r>
          </a:p>
          <a:p>
            <a:pPr marL="128574">
              <a:tabLst>
                <a:tab pos="57831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Active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現在発生しているエンジンエラーコード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57831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Logged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過去に発生したエンジンエラーコード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角丸四角形 12"/>
          <p:cNvSpPr/>
          <p:nvPr/>
        </p:nvSpPr>
        <p:spPr>
          <a:xfrm>
            <a:off x="2137534" y="3669580"/>
            <a:ext cx="384685" cy="1937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0"/>
            <a:endCxn id="13" idx="2"/>
          </p:cNvCxnSpPr>
          <p:nvPr/>
        </p:nvCxnSpPr>
        <p:spPr>
          <a:xfrm flipV="1">
            <a:off x="2329877" y="3863340"/>
            <a:ext cx="0" cy="14836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2227020" y="401170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p>
        </p:txBody>
      </p:sp>
      <p:sp>
        <p:nvSpPr>
          <p:cNvPr id="17" name="角丸四角形 16"/>
          <p:cNvSpPr/>
          <p:nvPr/>
        </p:nvSpPr>
        <p:spPr>
          <a:xfrm>
            <a:off x="4581283" y="3452347"/>
            <a:ext cx="343142" cy="18144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2"/>
            <a:endCxn id="17" idx="3"/>
          </p:cNvCxnSpPr>
          <p:nvPr/>
        </p:nvCxnSpPr>
        <p:spPr>
          <a:xfrm flipH="1">
            <a:off x="4924425" y="3543067"/>
            <a:ext cx="174349"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5098774" y="3437864"/>
            <a:ext cx="205714" cy="210406"/>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p>
        </p:txBody>
      </p:sp>
      <p:sp>
        <p:nvSpPr>
          <p:cNvPr id="20" name="角丸四角形 19"/>
          <p:cNvSpPr/>
          <p:nvPr/>
        </p:nvSpPr>
        <p:spPr>
          <a:xfrm>
            <a:off x="4585881" y="3673640"/>
            <a:ext cx="340925" cy="18398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0"/>
            <a:endCxn id="20" idx="2"/>
          </p:cNvCxnSpPr>
          <p:nvPr/>
        </p:nvCxnSpPr>
        <p:spPr>
          <a:xfrm flipV="1">
            <a:off x="4756344" y="3857625"/>
            <a:ext cx="0" cy="13057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4653487" y="3988197"/>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p>
        </p:txBody>
      </p:sp>
      <p:sp>
        <p:nvSpPr>
          <p:cNvPr id="30" name="角丸四角形 29"/>
          <p:cNvSpPr/>
          <p:nvPr/>
        </p:nvSpPr>
        <p:spPr>
          <a:xfrm>
            <a:off x="4604452" y="891856"/>
            <a:ext cx="615248" cy="27400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1" name="直線矢印コネクタ 30"/>
          <p:cNvCxnSpPr>
            <a:cxnSpLocks/>
            <a:stCxn id="32" idx="4"/>
            <a:endCxn id="30" idx="0"/>
          </p:cNvCxnSpPr>
          <p:nvPr/>
        </p:nvCxnSpPr>
        <p:spPr>
          <a:xfrm>
            <a:off x="4912076" y="736398"/>
            <a:ext cx="0" cy="15545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円/楕円 31"/>
          <p:cNvSpPr/>
          <p:nvPr/>
        </p:nvSpPr>
        <p:spPr>
          <a:xfrm>
            <a:off x="4809219" y="530684"/>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29" name="テキスト プレースホルダー 28">
            <a:extLst>
              <a:ext uri="{FF2B5EF4-FFF2-40B4-BE49-F238E27FC236}">
                <a16:creationId xmlns:a16="http://schemas.microsoft.com/office/drawing/2014/main" id="{99131DBD-14E4-722C-9186-6E20C8EF3D74}"/>
              </a:ext>
            </a:extLst>
          </p:cNvPr>
          <p:cNvSpPr>
            <a:spLocks noGrp="1"/>
          </p:cNvSpPr>
          <p:nvPr>
            <p:ph type="body" sz="quarter" idx="10"/>
          </p:nvPr>
        </p:nvSpPr>
        <p:spPr/>
        <p:txBody>
          <a:bodyPr/>
          <a:lstStyle/>
          <a:p>
            <a:r>
              <a:rPr lang="en-US" altLang="ja-JP" dirty="0"/>
              <a:t>Error code</a:t>
            </a:r>
            <a:r>
              <a:rPr lang="ja-JP" altLang="en-US" dirty="0"/>
              <a:t>画面</a:t>
            </a:r>
          </a:p>
        </p:txBody>
      </p:sp>
    </p:spTree>
    <p:extLst>
      <p:ext uri="{BB962C8B-B14F-4D97-AF65-F5344CB8AC3E}">
        <p14:creationId xmlns:p14="http://schemas.microsoft.com/office/powerpoint/2010/main" val="1888763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0C560043-FAFE-94A6-4698-B7D7416AA4B3}"/>
              </a:ext>
            </a:extLst>
          </p:cNvPr>
          <p:cNvPicPr>
            <a:picLocks noChangeAspect="1"/>
          </p:cNvPicPr>
          <p:nvPr/>
        </p:nvPicPr>
        <p:blipFill>
          <a:blip r:embed="rId2"/>
          <a:stretch>
            <a:fillRect/>
          </a:stretch>
        </p:blipFill>
        <p:spPr>
          <a:xfrm>
            <a:off x="344488" y="657225"/>
            <a:ext cx="4852955" cy="3349625"/>
          </a:xfrm>
          <a:prstGeom prst="rect">
            <a:avLst/>
          </a:prstGeom>
        </p:spPr>
      </p:pic>
      <p:sp>
        <p:nvSpPr>
          <p:cNvPr id="7" name="テキスト ボックス 6"/>
          <p:cNvSpPr txBox="1"/>
          <p:nvPr/>
        </p:nvSpPr>
        <p:spPr>
          <a:xfrm>
            <a:off x="5416162" y="657225"/>
            <a:ext cx="3863115" cy="4939494"/>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機械の状態確認とエアコンの状態確認ができます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Vehicle status</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ACC 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アクセサリ電源の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 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アワメータ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meter1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meter2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2</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meter3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トリップメータ</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3</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エンジンオイルトリップメータ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作動油トリップメータ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 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冷却水トリップメータ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Fuel tank level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燃料残量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AUX3 On	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の作動</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ON:AUX3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解除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ロック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AUX2/4 mode	AUX2/4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の選択</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Eco mode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エコモードの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Swing/Adjust cylinder	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ピースブームで</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Swing/Adjust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の選択</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アクセルポジション</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(0-100%)</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Foot </a:t>
            </a: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フットアクセルポジション</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(0-100%)</a:t>
            </a:r>
          </a:p>
          <a:p>
            <a:pPr marL="128574">
              <a:tabLst>
                <a:tab pos="1408367" algn="l"/>
              </a:tabLst>
            </a:pPr>
            <a:r>
              <a:rPr lang="en-US" altLang="ja-JP" sz="857" strike="sngStrike"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DEF tank level	</a:t>
            </a:r>
            <a:r>
              <a:rPr lang="ja-JP" altLang="en-US" sz="857" strike="sngStrike"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尿素残量</a:t>
            </a:r>
            <a:endParaRPr lang="en-US" altLang="ja-JP" sz="857" strike="sngStrike"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Shift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走行変速</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	(Turtle-1, Turtle-2, Rabbit-1, Rabbit-2)</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F/N/R	 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前進</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ニュートラル</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後進</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Differential lock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デフロックの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Foot </a:t>
            </a: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accel</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mode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フットアクセルモードの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Digging/Travel mode	 Digging: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掘削モード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Travel: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走行モード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Cruise mode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クルーズモードの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Parking brake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パーキングブレーキの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Air Compressor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エアーコンプレッサの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状態を表示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Front brake pressure</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i="1" dirty="0">
                <a:latin typeface="Meiryo UI" panose="020B0604030504040204" pitchFamily="50" charset="-128"/>
                <a:ea typeface="Meiryo UI" panose="020B0604030504040204" pitchFamily="50" charset="-128"/>
                <a:cs typeface="Meiryo UI" panose="020B0604030504040204" pitchFamily="50" charset="-128"/>
              </a:rPr>
              <a:t>前輪ブレーキ圧力を表示</a:t>
            </a:r>
            <a:endParaRPr lang="en-US" altLang="ja-JP" sz="857" i="1"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Rear brake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後輪ブレーキ圧力を表示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Accumulator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ブレーキアキュームレータの圧力を表示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Main valve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LS</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pressure</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メイン圧力を表示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Sub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valve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pilot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pressure</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i="1" dirty="0">
                <a:latin typeface="Meiryo UI" panose="020B0604030504040204" pitchFamily="50" charset="-128"/>
                <a:ea typeface="Meiryo UI" panose="020B0604030504040204" pitchFamily="50" charset="-128"/>
                <a:cs typeface="Meiryo UI" panose="020B0604030504040204" pitchFamily="50" charset="-128"/>
              </a:rPr>
              <a:t>サブバルブの圧力を表示</a:t>
            </a:r>
            <a:endParaRPr lang="en-US" altLang="ja-JP" sz="857" i="1"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Lift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alarm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リフトアラームの圧力を表示</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0" name="角丸四角形 9"/>
          <p:cNvSpPr/>
          <p:nvPr/>
        </p:nvSpPr>
        <p:spPr>
          <a:xfrm>
            <a:off x="4597394" y="900894"/>
            <a:ext cx="629926" cy="257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12357" y="760082"/>
            <a:ext cx="0" cy="1408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9500" y="5543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13" name="テキスト プレースホルダー 12">
            <a:extLst>
              <a:ext uri="{FF2B5EF4-FFF2-40B4-BE49-F238E27FC236}">
                <a16:creationId xmlns:a16="http://schemas.microsoft.com/office/drawing/2014/main" id="{E930AB33-5BE6-3F7E-4A05-6C81A0299F61}"/>
              </a:ext>
            </a:extLst>
          </p:cNvPr>
          <p:cNvSpPr>
            <a:spLocks noGrp="1"/>
          </p:cNvSpPr>
          <p:nvPr>
            <p:ph type="body" sz="quarter" idx="10"/>
          </p:nvPr>
        </p:nvSpPr>
        <p:spPr/>
        <p:txBody>
          <a:bodyPr/>
          <a:lstStyle/>
          <a:p>
            <a:r>
              <a:rPr lang="en-US" altLang="ja-JP" dirty="0"/>
              <a:t>Vehicle status</a:t>
            </a:r>
            <a:r>
              <a:rPr lang="ja-JP" altLang="en-US" dirty="0"/>
              <a:t>画面</a:t>
            </a:r>
          </a:p>
        </p:txBody>
      </p:sp>
      <p:pic>
        <p:nvPicPr>
          <p:cNvPr id="4" name="図 3">
            <a:extLst>
              <a:ext uri="{FF2B5EF4-FFF2-40B4-BE49-F238E27FC236}">
                <a16:creationId xmlns:a16="http://schemas.microsoft.com/office/drawing/2014/main" id="{4F17AB7C-9CA2-130D-358D-07855C1684A0}"/>
              </a:ext>
            </a:extLst>
          </p:cNvPr>
          <p:cNvPicPr>
            <a:picLocks noChangeAspect="1"/>
          </p:cNvPicPr>
          <p:nvPr/>
        </p:nvPicPr>
        <p:blipFill>
          <a:blip r:embed="rId3">
            <a:clrChange>
              <a:clrFrom>
                <a:srgbClr val="E0DFE3"/>
              </a:clrFrom>
              <a:clrTo>
                <a:srgbClr val="E0DFE3">
                  <a:alpha val="0"/>
                </a:srgbClr>
              </a:clrTo>
            </a:clrChange>
          </a:blip>
          <a:stretch>
            <a:fillRect/>
          </a:stretch>
        </p:blipFill>
        <p:spPr>
          <a:xfrm>
            <a:off x="6207088" y="2114452"/>
            <a:ext cx="154898" cy="404910"/>
          </a:xfrm>
          <a:prstGeom prst="rect">
            <a:avLst/>
          </a:prstGeom>
        </p:spPr>
      </p:pic>
      <p:sp>
        <p:nvSpPr>
          <p:cNvPr id="5" name="テキスト ボックス 4">
            <a:extLst>
              <a:ext uri="{FF2B5EF4-FFF2-40B4-BE49-F238E27FC236}">
                <a16:creationId xmlns:a16="http://schemas.microsoft.com/office/drawing/2014/main" id="{B18138E9-6D75-6388-79A8-B36C11ECFAC2}"/>
              </a:ext>
            </a:extLst>
          </p:cNvPr>
          <p:cNvSpPr txBox="1"/>
          <p:nvPr/>
        </p:nvSpPr>
        <p:spPr>
          <a:xfrm>
            <a:off x="7493471" y="3429000"/>
            <a:ext cx="665814"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誤記訂正</a:t>
            </a:r>
          </a:p>
        </p:txBody>
      </p:sp>
      <p:sp>
        <p:nvSpPr>
          <p:cNvPr id="16" name="テキスト ボックス 15">
            <a:extLst>
              <a:ext uri="{FF2B5EF4-FFF2-40B4-BE49-F238E27FC236}">
                <a16:creationId xmlns:a16="http://schemas.microsoft.com/office/drawing/2014/main" id="{A829BC81-E05A-A6A4-E015-90DFA9C1FEF3}"/>
              </a:ext>
            </a:extLst>
          </p:cNvPr>
          <p:cNvSpPr txBox="1"/>
          <p:nvPr/>
        </p:nvSpPr>
        <p:spPr>
          <a:xfrm>
            <a:off x="4967128" y="5069777"/>
            <a:ext cx="460630" cy="195814"/>
          </a:xfrm>
          <a:prstGeom prst="rect">
            <a:avLst/>
          </a:prstGeom>
          <a:noFill/>
        </p:spPr>
        <p:txBody>
          <a:bodyPr wrap="none" lIns="36000" tIns="36000" rIns="36000" bIns="36000" rtlCol="0">
            <a:spAutoFit/>
          </a:bodyPr>
          <a:lstStyle/>
          <a:p>
            <a:r>
              <a:rPr kumimoji="1" lang="en-US" altLang="ja-JP" sz="800" dirty="0">
                <a:solidFill>
                  <a:srgbClr val="FF0000"/>
                </a:solidFill>
              </a:rPr>
              <a:t>Δ05 </a:t>
            </a:r>
            <a:r>
              <a:rPr kumimoji="1" lang="ja-JP" altLang="en-US" sz="800" dirty="0">
                <a:solidFill>
                  <a:srgbClr val="FF0000"/>
                </a:solidFill>
              </a:rPr>
              <a:t>変更</a:t>
            </a:r>
          </a:p>
        </p:txBody>
      </p:sp>
      <p:sp>
        <p:nvSpPr>
          <p:cNvPr id="17" name="テキスト ボックス 16">
            <a:extLst>
              <a:ext uri="{FF2B5EF4-FFF2-40B4-BE49-F238E27FC236}">
                <a16:creationId xmlns:a16="http://schemas.microsoft.com/office/drawing/2014/main" id="{F31C6F2E-7230-FB95-EF79-DADEFC450E16}"/>
              </a:ext>
            </a:extLst>
          </p:cNvPr>
          <p:cNvSpPr txBox="1"/>
          <p:nvPr/>
        </p:nvSpPr>
        <p:spPr>
          <a:xfrm>
            <a:off x="4967128" y="5235341"/>
            <a:ext cx="460630" cy="195814"/>
          </a:xfrm>
          <a:prstGeom prst="rect">
            <a:avLst/>
          </a:prstGeom>
          <a:noFill/>
        </p:spPr>
        <p:txBody>
          <a:bodyPr wrap="none" lIns="36000" tIns="36000" rIns="36000" bIns="36000" rtlCol="0">
            <a:spAutoFit/>
          </a:bodyPr>
          <a:lstStyle/>
          <a:p>
            <a:r>
              <a:rPr kumimoji="1" lang="en-US" altLang="ja-JP" sz="800" dirty="0">
                <a:solidFill>
                  <a:srgbClr val="FF0000"/>
                </a:solidFill>
              </a:rPr>
              <a:t>Δ05 </a:t>
            </a:r>
            <a:r>
              <a:rPr kumimoji="1" lang="ja-JP" altLang="en-US" sz="800" dirty="0">
                <a:solidFill>
                  <a:srgbClr val="FF0000"/>
                </a:solidFill>
              </a:rPr>
              <a:t>変更</a:t>
            </a:r>
          </a:p>
        </p:txBody>
      </p:sp>
      <p:sp>
        <p:nvSpPr>
          <p:cNvPr id="18" name="テキスト ボックス 17">
            <a:extLst>
              <a:ext uri="{FF2B5EF4-FFF2-40B4-BE49-F238E27FC236}">
                <a16:creationId xmlns:a16="http://schemas.microsoft.com/office/drawing/2014/main" id="{FE83B287-0D0B-D832-34DF-D8D274AE8541}"/>
              </a:ext>
            </a:extLst>
          </p:cNvPr>
          <p:cNvSpPr txBox="1"/>
          <p:nvPr/>
        </p:nvSpPr>
        <p:spPr>
          <a:xfrm>
            <a:off x="344488" y="4011800"/>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 </a:t>
            </a:r>
            <a:r>
              <a:rPr kumimoji="1" lang="ja-JP" altLang="en-US" sz="800" dirty="0">
                <a:solidFill>
                  <a:srgbClr val="FF0000"/>
                </a:solidFill>
              </a:rPr>
              <a:t>画像イメージ更新</a:t>
            </a:r>
          </a:p>
        </p:txBody>
      </p:sp>
    </p:spTree>
    <p:extLst>
      <p:ext uri="{BB962C8B-B14F-4D97-AF65-F5344CB8AC3E}">
        <p14:creationId xmlns:p14="http://schemas.microsoft.com/office/powerpoint/2010/main" val="348374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6D68DD15-877E-B28A-93B8-6590AD6D7F98}"/>
              </a:ext>
            </a:extLst>
          </p:cNvPr>
          <p:cNvPicPr>
            <a:picLocks noChangeAspect="1"/>
          </p:cNvPicPr>
          <p:nvPr/>
        </p:nvPicPr>
        <p:blipFill>
          <a:blip r:embed="rId2"/>
          <a:stretch>
            <a:fillRect/>
          </a:stretch>
        </p:blipFill>
        <p:spPr>
          <a:xfrm>
            <a:off x="344489" y="657225"/>
            <a:ext cx="4863514" cy="3371429"/>
          </a:xfrm>
          <a:prstGeom prst="rect">
            <a:avLst/>
          </a:prstGeom>
        </p:spPr>
      </p:pic>
      <p:grpSp>
        <p:nvGrpSpPr>
          <p:cNvPr id="16" name="グループ化 15">
            <a:extLst>
              <a:ext uri="{FF2B5EF4-FFF2-40B4-BE49-F238E27FC236}">
                <a16:creationId xmlns:a16="http://schemas.microsoft.com/office/drawing/2014/main" id="{481935EF-A5E4-9038-BF76-E42DA3BDE62E}"/>
              </a:ext>
            </a:extLst>
          </p:cNvPr>
          <p:cNvGrpSpPr/>
          <p:nvPr/>
        </p:nvGrpSpPr>
        <p:grpSpPr>
          <a:xfrm>
            <a:off x="4597394" y="554368"/>
            <a:ext cx="629926" cy="603872"/>
            <a:chOff x="4597394" y="554368"/>
            <a:chExt cx="629926" cy="603872"/>
          </a:xfrm>
        </p:grpSpPr>
        <p:sp>
          <p:nvSpPr>
            <p:cNvPr id="10" name="角丸四角形 9"/>
            <p:cNvSpPr/>
            <p:nvPr/>
          </p:nvSpPr>
          <p:spPr>
            <a:xfrm>
              <a:off x="4597394" y="900894"/>
              <a:ext cx="629926" cy="257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12357" y="760082"/>
              <a:ext cx="0" cy="1408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9500" y="554368"/>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13" name="テキスト プレースホルダー 12">
            <a:extLst>
              <a:ext uri="{FF2B5EF4-FFF2-40B4-BE49-F238E27FC236}">
                <a16:creationId xmlns:a16="http://schemas.microsoft.com/office/drawing/2014/main" id="{E930AB33-5BE6-3F7E-4A05-6C81A0299F61}"/>
              </a:ext>
            </a:extLst>
          </p:cNvPr>
          <p:cNvSpPr>
            <a:spLocks noGrp="1"/>
          </p:cNvSpPr>
          <p:nvPr>
            <p:ph type="body" sz="quarter" idx="10"/>
          </p:nvPr>
        </p:nvSpPr>
        <p:spPr/>
        <p:txBody>
          <a:bodyPr/>
          <a:lstStyle/>
          <a:p>
            <a:r>
              <a:rPr lang="en-US" altLang="ja-JP" dirty="0"/>
              <a:t>Input(Grip)</a:t>
            </a:r>
            <a:r>
              <a:rPr lang="ja-JP" altLang="en-US" dirty="0"/>
              <a:t>画面</a:t>
            </a:r>
          </a:p>
        </p:txBody>
      </p:sp>
      <p:sp>
        <p:nvSpPr>
          <p:cNvPr id="5" name="テキスト ボックス 4">
            <a:extLst>
              <a:ext uri="{FF2B5EF4-FFF2-40B4-BE49-F238E27FC236}">
                <a16:creationId xmlns:a16="http://schemas.microsoft.com/office/drawing/2014/main" id="{B18138E9-6D75-6388-79A8-B36C11ECFAC2}"/>
              </a:ext>
            </a:extLst>
          </p:cNvPr>
          <p:cNvSpPr txBox="1"/>
          <p:nvPr/>
        </p:nvSpPr>
        <p:spPr>
          <a:xfrm>
            <a:off x="132669" y="81255"/>
            <a:ext cx="665814" cy="195814"/>
          </a:xfrm>
          <a:prstGeom prst="rect">
            <a:avLst/>
          </a:prstGeom>
          <a:noFill/>
        </p:spPr>
        <p:txBody>
          <a:bodyPr wrap="none" lIns="36000" tIns="36000" rIns="36000" bIns="36000" rtlCol="0">
            <a:spAutoFit/>
          </a:bodyPr>
          <a:lstStyle/>
          <a:p>
            <a:r>
              <a:rPr kumimoji="1" lang="en-US" altLang="ja-JP" sz="800" dirty="0">
                <a:solidFill>
                  <a:srgbClr val="FF0000"/>
                </a:solidFill>
              </a:rPr>
              <a:t>Δ03</a:t>
            </a:r>
            <a:r>
              <a:rPr kumimoji="1" lang="ja-JP" altLang="en-US" sz="800" dirty="0">
                <a:solidFill>
                  <a:srgbClr val="FF0000"/>
                </a:solidFill>
              </a:rPr>
              <a:t> 新規追加</a:t>
            </a:r>
          </a:p>
        </p:txBody>
      </p:sp>
      <p:sp>
        <p:nvSpPr>
          <p:cNvPr id="8" name="テキスト ボックス 7">
            <a:extLst>
              <a:ext uri="{FF2B5EF4-FFF2-40B4-BE49-F238E27FC236}">
                <a16:creationId xmlns:a16="http://schemas.microsoft.com/office/drawing/2014/main" id="{A9D152CC-855D-8DE3-DCE4-A8B2CD8C2FAD}"/>
              </a:ext>
            </a:extLst>
          </p:cNvPr>
          <p:cNvSpPr txBox="1"/>
          <p:nvPr/>
        </p:nvSpPr>
        <p:spPr>
          <a:xfrm>
            <a:off x="5426275" y="663571"/>
            <a:ext cx="3863116" cy="510011"/>
          </a:xfrm>
          <a:prstGeom prst="rect">
            <a:avLst/>
          </a:prstGeom>
          <a:solidFill>
            <a:schemeClr val="bg1"/>
          </a:solidFill>
          <a:ln w="6350">
            <a:solidFill>
              <a:schemeClr val="tx1"/>
            </a:solidFill>
          </a:ln>
        </p:spPr>
        <p:txBody>
          <a:bodyPr wrap="square" rtlCol="0">
            <a:spAutoFit/>
          </a:bodyPr>
          <a:lstStyle/>
          <a:p>
            <a:pPr marL="128574">
              <a:tabLst>
                <a:tab pos="1408367" algn="l"/>
              </a:tabLst>
            </a:pPr>
            <a:r>
              <a:rPr lang="ja-JP" altLang="en-US" sz="857" dirty="0">
                <a:latin typeface="Meiryo UI" panose="020B0604030504040204" pitchFamily="50" charset="-128"/>
                <a:ea typeface="Meiryo UI" panose="020B0604030504040204" pitchFamily="50" charset="-128"/>
              </a:rPr>
              <a:t>多機能グリップのボタン、スライドスイッチの状態を確認できます。</a:t>
            </a:r>
            <a:endParaRPr lang="en-US" altLang="ja-JP" sz="857" dirty="0">
              <a:latin typeface="Meiryo UI" panose="020B0604030504040204" pitchFamily="50" charset="-128"/>
              <a:ea typeface="Meiryo UI" panose="020B0604030504040204" pitchFamily="50" charset="-128"/>
            </a:endParaRPr>
          </a:p>
          <a:p>
            <a:pPr marL="128574">
              <a:spcBef>
                <a:spcPts val="1200"/>
              </a:spcBef>
              <a:tabLst>
                <a:tab pos="1408367" algn="l"/>
              </a:tabLst>
            </a:pPr>
            <a:r>
              <a:rPr lang="ja-JP" altLang="en-US" sz="857" dirty="0">
                <a:latin typeface="Meiryo UI" panose="020B0604030504040204" pitchFamily="50" charset="-128"/>
                <a:ea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rPr>
              <a:t> Home:</a:t>
            </a:r>
            <a:r>
              <a:rPr lang="ja-JP" altLang="en-US" sz="857" dirty="0">
                <a:latin typeface="Meiryo UI" panose="020B0604030504040204" pitchFamily="50" charset="-128"/>
                <a:ea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79915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F8A4CFD1-5725-E72B-2630-6149C815DC7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5863" y="665121"/>
            <a:ext cx="4834392" cy="3355637"/>
          </a:xfrm>
          <a:prstGeom prst="rect">
            <a:avLst/>
          </a:prstGeom>
        </p:spPr>
      </p:pic>
      <p:sp>
        <p:nvSpPr>
          <p:cNvPr id="10" name="角丸四角形 9"/>
          <p:cNvSpPr/>
          <p:nvPr/>
        </p:nvSpPr>
        <p:spPr>
          <a:xfrm>
            <a:off x="4604594" y="893612"/>
            <a:ext cx="615105" cy="26462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4912146" y="749459"/>
            <a:ext cx="1" cy="1441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4809289" y="543745"/>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sp>
        <p:nvSpPr>
          <p:cNvPr id="14" name="テキスト ボックス 13"/>
          <p:cNvSpPr txBox="1"/>
          <p:nvPr/>
        </p:nvSpPr>
        <p:spPr>
          <a:xfrm>
            <a:off x="5421313" y="657225"/>
            <a:ext cx="3978771" cy="4913846"/>
          </a:xfrm>
          <a:prstGeom prst="rect">
            <a:avLst/>
          </a:prstGeom>
          <a:solidFill>
            <a:schemeClr val="bg1"/>
          </a:solidFill>
          <a:ln w="1270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エンジンの状態と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DOC SCR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システムの状態を確認できます。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status</a:t>
            </a: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エンジンの</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On/Off</a:t>
            </a: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Battery charge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バッテリーに充電されているか</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Glow lamp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グローランプ</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Requested engine speed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エンジン回転指示値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Actual engine speed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エンジン実回転数</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Actual engine torque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エンジン実トルク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Coolant temperature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冷却水温度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oil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エンジンオイル圧力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Fuel temperature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燃料温度</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fuel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燃料消費率 </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Barometric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大気圧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Ambient air temperature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新気温度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Inlet mass flow rate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吸入空気流量</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Boost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ブースト圧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Boost temperature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ブースト温度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Common-rail 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コモンレール圧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governor mode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エンジンガバナモード</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defTabSz="898089">
              <a:tabLst>
                <a:tab pos="1728142" algn="l"/>
              </a:tabLst>
            </a:pP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EAT status</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DPF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exhaust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differential pressure	:DPF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排気差圧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DOC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inlet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gas temperature	:DOC</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入口温度</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DPF inlet gas temperature	:DPF</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入口温度</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DPF outlet gas temperature	:DPF</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出口温度</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en-US" altLang="ja-JP" sz="857" dirty="0">
                <a:latin typeface="Meiryo UI" panose="020B0604030504040204" pitchFamily="50" charset="-128"/>
                <a:ea typeface="Meiryo UI" panose="020B0604030504040204" pitchFamily="50" charset="-128"/>
                <a:cs typeface="Meiryo UI" panose="020B0604030504040204" pitchFamily="50" charset="-128"/>
              </a:rPr>
              <a:t>DPF soot load percent	:PM</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堆積量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DPF ash load percent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灰堆積量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Soot</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mass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スート量</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Over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Status</a:t>
            </a: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Number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times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過回転警告発生回数</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Max</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過回転時の最高回転数</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最後に過回転警告が発生したときのアワメータ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2115953"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テキスト プレースホルダー 14">
            <a:extLst>
              <a:ext uri="{FF2B5EF4-FFF2-40B4-BE49-F238E27FC236}">
                <a16:creationId xmlns:a16="http://schemas.microsoft.com/office/drawing/2014/main" id="{5D4629F3-3F38-C995-AFFC-896D02BEB86F}"/>
              </a:ext>
            </a:extLst>
          </p:cNvPr>
          <p:cNvSpPr>
            <a:spLocks noGrp="1"/>
          </p:cNvSpPr>
          <p:nvPr>
            <p:ph type="body" sz="quarter" idx="10"/>
          </p:nvPr>
        </p:nvSpPr>
        <p:spPr/>
        <p:txBody>
          <a:bodyPr/>
          <a:lstStyle/>
          <a:p>
            <a:r>
              <a:rPr lang="en-US" altLang="ja-JP" dirty="0"/>
              <a:t>Engine Status</a:t>
            </a:r>
            <a:r>
              <a:rPr lang="ja-JP" altLang="en-US" dirty="0"/>
              <a:t>画面</a:t>
            </a:r>
          </a:p>
        </p:txBody>
      </p:sp>
      <p:sp>
        <p:nvSpPr>
          <p:cNvPr id="2" name="テキスト ボックス 1">
            <a:extLst>
              <a:ext uri="{FF2B5EF4-FFF2-40B4-BE49-F238E27FC236}">
                <a16:creationId xmlns:a16="http://schemas.microsoft.com/office/drawing/2014/main" id="{3F0C1659-1FF4-641E-5BA6-092C88EA8431}"/>
              </a:ext>
            </a:extLst>
          </p:cNvPr>
          <p:cNvSpPr txBox="1"/>
          <p:nvPr/>
        </p:nvSpPr>
        <p:spPr>
          <a:xfrm>
            <a:off x="5421313" y="5604688"/>
            <a:ext cx="1611586"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r>
              <a:rPr kumimoji="1" lang="ja-JP" altLang="en-US" sz="800" dirty="0">
                <a:solidFill>
                  <a:srgbClr val="FF0000"/>
                </a:solidFill>
              </a:rPr>
              <a:t> 説明欄、誤記のため全面改訂 </a:t>
            </a:r>
          </a:p>
        </p:txBody>
      </p:sp>
      <p:sp>
        <p:nvSpPr>
          <p:cNvPr id="3" name="テキスト ボックス 2">
            <a:extLst>
              <a:ext uri="{FF2B5EF4-FFF2-40B4-BE49-F238E27FC236}">
                <a16:creationId xmlns:a16="http://schemas.microsoft.com/office/drawing/2014/main" id="{2E9B254D-C7FD-9F97-520B-C01AD404F1D1}"/>
              </a:ext>
            </a:extLst>
          </p:cNvPr>
          <p:cNvSpPr txBox="1"/>
          <p:nvPr/>
        </p:nvSpPr>
        <p:spPr>
          <a:xfrm>
            <a:off x="355863" y="4057358"/>
            <a:ext cx="643372"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r>
              <a:rPr kumimoji="1" lang="ja-JP" altLang="en-US" sz="800" dirty="0">
                <a:solidFill>
                  <a:srgbClr val="FF0000"/>
                </a:solidFill>
              </a:rPr>
              <a:t>画面差替</a:t>
            </a:r>
          </a:p>
        </p:txBody>
      </p:sp>
    </p:spTree>
    <p:extLst>
      <p:ext uri="{BB962C8B-B14F-4D97-AF65-F5344CB8AC3E}">
        <p14:creationId xmlns:p14="http://schemas.microsoft.com/office/powerpoint/2010/main" val="2299965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F8A4CFD1-5725-E72B-2630-6149C815DC7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4488" y="665121"/>
            <a:ext cx="4857143" cy="3355637"/>
          </a:xfrm>
          <a:prstGeom prst="rect">
            <a:avLst/>
          </a:prstGeom>
        </p:spPr>
      </p:pic>
      <p:grpSp>
        <p:nvGrpSpPr>
          <p:cNvPr id="9" name="グループ化 8">
            <a:extLst>
              <a:ext uri="{FF2B5EF4-FFF2-40B4-BE49-F238E27FC236}">
                <a16:creationId xmlns:a16="http://schemas.microsoft.com/office/drawing/2014/main" id="{9ACFA4DE-A43F-CFDA-7995-41DCA1336CAC}"/>
              </a:ext>
            </a:extLst>
          </p:cNvPr>
          <p:cNvGrpSpPr/>
          <p:nvPr/>
        </p:nvGrpSpPr>
        <p:grpSpPr>
          <a:xfrm>
            <a:off x="4604594" y="543745"/>
            <a:ext cx="615105" cy="614495"/>
            <a:chOff x="4604594" y="543745"/>
            <a:chExt cx="615105" cy="614495"/>
          </a:xfrm>
        </p:grpSpPr>
        <p:cxnSp>
          <p:nvCxnSpPr>
            <p:cNvPr id="11" name="直線矢印コネクタ 10"/>
            <p:cNvCxnSpPr>
              <a:cxnSpLocks/>
              <a:stCxn id="12" idx="4"/>
              <a:endCxn id="10" idx="0"/>
            </p:cNvCxnSpPr>
            <p:nvPr/>
          </p:nvCxnSpPr>
          <p:spPr>
            <a:xfrm>
              <a:off x="4912146" y="749459"/>
              <a:ext cx="1" cy="14415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5A8B88FC-2AE0-2EAF-EB82-689B6A22B310}"/>
                </a:ext>
              </a:extLst>
            </p:cNvPr>
            <p:cNvGrpSpPr/>
            <p:nvPr/>
          </p:nvGrpSpPr>
          <p:grpSpPr>
            <a:xfrm>
              <a:off x="4604594" y="543745"/>
              <a:ext cx="615105" cy="614495"/>
              <a:chOff x="4604594" y="543745"/>
              <a:chExt cx="615105" cy="614495"/>
            </a:xfrm>
          </p:grpSpPr>
          <p:sp>
            <p:nvSpPr>
              <p:cNvPr id="10" name="角丸四角形 9"/>
              <p:cNvSpPr/>
              <p:nvPr/>
            </p:nvSpPr>
            <p:spPr>
              <a:xfrm>
                <a:off x="4604594" y="893612"/>
                <a:ext cx="615105" cy="26462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sp>
            <p:nvSpPr>
              <p:cNvPr id="12" name="円/楕円 11"/>
              <p:cNvSpPr/>
              <p:nvPr/>
            </p:nvSpPr>
            <p:spPr>
              <a:xfrm>
                <a:off x="4809289" y="543745"/>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sp>
        <p:nvSpPr>
          <p:cNvPr id="14" name="テキスト ボックス 13"/>
          <p:cNvSpPr txBox="1"/>
          <p:nvPr/>
        </p:nvSpPr>
        <p:spPr>
          <a:xfrm>
            <a:off x="5421313" y="657225"/>
            <a:ext cx="3978771" cy="1169487"/>
          </a:xfrm>
          <a:prstGeom prst="rect">
            <a:avLst/>
          </a:prstGeom>
          <a:solidFill>
            <a:schemeClr val="bg1"/>
          </a:solidFill>
          <a:ln w="1270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エンジン過回転警告のログを削除できます。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エンジン過回転警告のログを削除します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429"/>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Over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Status</a:t>
            </a: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Number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times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過回転警告発生回数</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Max</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過回転時の最高回転数</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52400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最後に過回転警告が発生したときのアワメータ</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テキスト プレースホルダー 14">
            <a:extLst>
              <a:ext uri="{FF2B5EF4-FFF2-40B4-BE49-F238E27FC236}">
                <a16:creationId xmlns:a16="http://schemas.microsoft.com/office/drawing/2014/main" id="{5D4629F3-3F38-C995-AFFC-896D02BEB86F}"/>
              </a:ext>
            </a:extLst>
          </p:cNvPr>
          <p:cNvSpPr>
            <a:spLocks noGrp="1"/>
          </p:cNvSpPr>
          <p:nvPr>
            <p:ph type="body" sz="quarter" idx="10"/>
          </p:nvPr>
        </p:nvSpPr>
        <p:spPr/>
        <p:txBody>
          <a:bodyPr/>
          <a:lstStyle/>
          <a:p>
            <a:r>
              <a:rPr lang="en-US" altLang="ja-JP" dirty="0"/>
              <a:t>Engine Over</a:t>
            </a:r>
            <a:r>
              <a:rPr lang="ja-JP" altLang="en-US" dirty="0"/>
              <a:t> </a:t>
            </a:r>
            <a:r>
              <a:rPr lang="en-US" altLang="ja-JP" dirty="0"/>
              <a:t>Speed</a:t>
            </a:r>
            <a:r>
              <a:rPr lang="ja-JP" altLang="en-US" dirty="0"/>
              <a:t> </a:t>
            </a:r>
            <a:r>
              <a:rPr lang="en-US" altLang="ja-JP" dirty="0"/>
              <a:t>Status</a:t>
            </a:r>
            <a:r>
              <a:rPr lang="ja-JP" altLang="en-US" dirty="0"/>
              <a:t>画面</a:t>
            </a:r>
          </a:p>
        </p:txBody>
      </p:sp>
      <p:sp>
        <p:nvSpPr>
          <p:cNvPr id="2" name="テキスト ボックス 1">
            <a:extLst>
              <a:ext uri="{FF2B5EF4-FFF2-40B4-BE49-F238E27FC236}">
                <a16:creationId xmlns:a16="http://schemas.microsoft.com/office/drawing/2014/main" id="{3F4603B8-0AEF-6E44-8298-E815B4204079}"/>
              </a:ext>
            </a:extLst>
          </p:cNvPr>
          <p:cNvSpPr txBox="1"/>
          <p:nvPr/>
        </p:nvSpPr>
        <p:spPr>
          <a:xfrm>
            <a:off x="7643842" y="121268"/>
            <a:ext cx="1800493" cy="369332"/>
          </a:xfrm>
          <a:prstGeom prst="rect">
            <a:avLst/>
          </a:prstGeom>
          <a:noFill/>
        </p:spPr>
        <p:txBody>
          <a:bodyPr wrap="none" rtlCol="0">
            <a:spAutoFit/>
          </a:bodyPr>
          <a:lstStyle/>
          <a:p>
            <a:r>
              <a:rPr kumimoji="1" lang="ja-JP" altLang="en-US" b="1" dirty="0">
                <a:solidFill>
                  <a:schemeClr val="accent2"/>
                </a:solidFill>
              </a:rPr>
              <a:t>ライセンス付版</a:t>
            </a:r>
          </a:p>
        </p:txBody>
      </p:sp>
      <p:grpSp>
        <p:nvGrpSpPr>
          <p:cNvPr id="13" name="グループ化 12">
            <a:extLst>
              <a:ext uri="{FF2B5EF4-FFF2-40B4-BE49-F238E27FC236}">
                <a16:creationId xmlns:a16="http://schemas.microsoft.com/office/drawing/2014/main" id="{B8C2B9DE-5C59-73F7-4167-B179559B5C95}"/>
              </a:ext>
            </a:extLst>
          </p:cNvPr>
          <p:cNvGrpSpPr/>
          <p:nvPr/>
        </p:nvGrpSpPr>
        <p:grpSpPr>
          <a:xfrm>
            <a:off x="405974" y="1792772"/>
            <a:ext cx="615105" cy="591718"/>
            <a:chOff x="4604594" y="893612"/>
            <a:chExt cx="615105" cy="591718"/>
          </a:xfrm>
        </p:grpSpPr>
        <p:cxnSp>
          <p:nvCxnSpPr>
            <p:cNvPr id="16" name="直線矢印コネクタ 15">
              <a:extLst>
                <a:ext uri="{FF2B5EF4-FFF2-40B4-BE49-F238E27FC236}">
                  <a16:creationId xmlns:a16="http://schemas.microsoft.com/office/drawing/2014/main" id="{2D3FF041-913C-AB0C-4D67-220EB7206751}"/>
                </a:ext>
              </a:extLst>
            </p:cNvPr>
            <p:cNvCxnSpPr>
              <a:cxnSpLocks/>
              <a:stCxn id="19" idx="0"/>
            </p:cNvCxnSpPr>
            <p:nvPr/>
          </p:nvCxnSpPr>
          <p:spPr>
            <a:xfrm flipV="1">
              <a:off x="4912146" y="1158240"/>
              <a:ext cx="0" cy="12137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C8510576-EAF6-9A48-C444-7033B2008BA7}"/>
                </a:ext>
              </a:extLst>
            </p:cNvPr>
            <p:cNvGrpSpPr/>
            <p:nvPr/>
          </p:nvGrpSpPr>
          <p:grpSpPr>
            <a:xfrm>
              <a:off x="4604594" y="893612"/>
              <a:ext cx="615105" cy="591718"/>
              <a:chOff x="4604594" y="893612"/>
              <a:chExt cx="615105" cy="591718"/>
            </a:xfrm>
          </p:grpSpPr>
          <p:sp>
            <p:nvSpPr>
              <p:cNvPr id="18" name="角丸四角形 9">
                <a:extLst>
                  <a:ext uri="{FF2B5EF4-FFF2-40B4-BE49-F238E27FC236}">
                    <a16:creationId xmlns:a16="http://schemas.microsoft.com/office/drawing/2014/main" id="{82E24D66-D8A7-3418-32A3-0B9CA552A533}"/>
                  </a:ext>
                </a:extLst>
              </p:cNvPr>
              <p:cNvSpPr/>
              <p:nvPr/>
            </p:nvSpPr>
            <p:spPr>
              <a:xfrm>
                <a:off x="4604594" y="893612"/>
                <a:ext cx="615105" cy="26462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sp>
            <p:nvSpPr>
              <p:cNvPr id="19" name="円/楕円 11">
                <a:extLst>
                  <a:ext uri="{FF2B5EF4-FFF2-40B4-BE49-F238E27FC236}">
                    <a16:creationId xmlns:a16="http://schemas.microsoft.com/office/drawing/2014/main" id="{AFF581DF-B4DE-88A8-6D06-37539A6EE9D6}"/>
                  </a:ext>
                </a:extLst>
              </p:cNvPr>
              <p:cNvSpPr/>
              <p:nvPr/>
            </p:nvSpPr>
            <p:spPr>
              <a:xfrm>
                <a:off x="4809289" y="1279616"/>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spTree>
    <p:extLst>
      <p:ext uri="{BB962C8B-B14F-4D97-AF65-F5344CB8AC3E}">
        <p14:creationId xmlns:p14="http://schemas.microsoft.com/office/powerpoint/2010/main" val="2303778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10;&#10;自動的に生成された説明">
            <a:extLst>
              <a:ext uri="{FF2B5EF4-FFF2-40B4-BE49-F238E27FC236}">
                <a16:creationId xmlns:a16="http://schemas.microsoft.com/office/drawing/2014/main" id="{0EC6A12A-5648-63C3-A8AE-E81047982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17033" y="587237"/>
            <a:ext cx="593143" cy="570051"/>
            <a:chOff x="6028503" y="375005"/>
            <a:chExt cx="830400" cy="798072"/>
          </a:xfrm>
        </p:grpSpPr>
        <p:sp>
          <p:nvSpPr>
            <p:cNvPr id="10" name="角丸四角形 9"/>
            <p:cNvSpPr/>
            <p:nvPr/>
          </p:nvSpPr>
          <p:spPr>
            <a:xfrm>
              <a:off x="6028503" y="824337"/>
              <a:ext cx="830400" cy="34874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36718" y="663005"/>
              <a:ext cx="6986" cy="16133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2718" y="37500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6196" y="587237"/>
            <a:ext cx="600380" cy="570050"/>
            <a:chOff x="2990029" y="379173"/>
            <a:chExt cx="840532" cy="798070"/>
          </a:xfrm>
        </p:grpSpPr>
        <p:sp>
          <p:nvSpPr>
            <p:cNvPr id="13" name="角丸四角形 12"/>
            <p:cNvSpPr/>
            <p:nvPr/>
          </p:nvSpPr>
          <p:spPr>
            <a:xfrm>
              <a:off x="2990029" y="824335"/>
              <a:ext cx="840532" cy="35290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10295" y="667173"/>
              <a:ext cx="0" cy="15716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6295" y="37917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2678" y="590185"/>
            <a:ext cx="603348" cy="567102"/>
            <a:chOff x="2256604" y="373388"/>
            <a:chExt cx="844687" cy="793943"/>
          </a:xfrm>
        </p:grpSpPr>
        <p:sp>
          <p:nvSpPr>
            <p:cNvPr id="17" name="角丸四角形 16"/>
            <p:cNvSpPr/>
            <p:nvPr/>
          </p:nvSpPr>
          <p:spPr>
            <a:xfrm>
              <a:off x="2256604" y="824335"/>
              <a:ext cx="844687" cy="34299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18" name="直線矢印コネクタ 17"/>
            <p:cNvCxnSpPr>
              <a:cxnSpLocks/>
              <a:stCxn id="19" idx="4"/>
              <a:endCxn id="17" idx="0"/>
            </p:cNvCxnSpPr>
            <p:nvPr/>
          </p:nvCxnSpPr>
          <p:spPr>
            <a:xfrm flipH="1">
              <a:off x="2678948" y="661388"/>
              <a:ext cx="16995" cy="1629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51942" y="37338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4404013" y="3533565"/>
            <a:ext cx="615662" cy="562132"/>
            <a:chOff x="5733229" y="4472411"/>
            <a:chExt cx="861927" cy="786984"/>
          </a:xfrm>
        </p:grpSpPr>
        <p:sp>
          <p:nvSpPr>
            <p:cNvPr id="20" name="角丸四角形 19"/>
            <p:cNvSpPr/>
            <p:nvPr/>
          </p:nvSpPr>
          <p:spPr>
            <a:xfrm>
              <a:off x="5733229" y="4472411"/>
              <a:ext cx="861927" cy="32033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0"/>
              <a:endCxn id="20" idx="2"/>
            </p:cNvCxnSpPr>
            <p:nvPr/>
          </p:nvCxnSpPr>
          <p:spPr>
            <a:xfrm flipH="1" flipV="1">
              <a:off x="6164193" y="4792749"/>
              <a:ext cx="11263" cy="1786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31456" y="497139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grpSp>
        <p:nvGrpSpPr>
          <p:cNvPr id="55" name="グループ化 54"/>
          <p:cNvGrpSpPr/>
          <p:nvPr/>
        </p:nvGrpSpPr>
        <p:grpSpPr>
          <a:xfrm>
            <a:off x="3567216" y="990519"/>
            <a:ext cx="1431777" cy="2057482"/>
            <a:chOff x="4742629" y="896348"/>
            <a:chExt cx="2004488" cy="2880475"/>
          </a:xfrm>
        </p:grpSpPr>
        <p:sp>
          <p:nvSpPr>
            <p:cNvPr id="23" name="角丸四角形 22"/>
            <p:cNvSpPr/>
            <p:nvPr/>
          </p:nvSpPr>
          <p:spPr>
            <a:xfrm>
              <a:off x="4742629" y="1367263"/>
              <a:ext cx="2004488" cy="2409560"/>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4"/>
              <a:endCxn id="23" idx="0"/>
            </p:cNvCxnSpPr>
            <p:nvPr/>
          </p:nvCxnSpPr>
          <p:spPr>
            <a:xfrm>
              <a:off x="5744874" y="1184348"/>
              <a:ext cx="0" cy="18291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600874" y="89634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grpSp>
      <p:sp>
        <p:nvSpPr>
          <p:cNvPr id="40" name="テキスト ボックス 39"/>
          <p:cNvSpPr txBox="1"/>
          <p:nvPr/>
        </p:nvSpPr>
        <p:spPr>
          <a:xfrm>
            <a:off x="5421313" y="651018"/>
            <a:ext cx="3660297" cy="6000232"/>
          </a:xfrm>
          <a:prstGeom prst="rect">
            <a:avLst/>
          </a:prstGeom>
          <a:solidFill>
            <a:schemeClr val="bg1"/>
          </a:solidFill>
          <a:ln w="6350">
            <a:solidFill>
              <a:schemeClr val="tx1"/>
            </a:solidFill>
          </a:ln>
        </p:spPr>
        <p:txBody>
          <a:bodyPr wrap="non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 status</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Flow mode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クラスタで選択してる流量設定モード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Detent mode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ディテントモード</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 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 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現在選択されているモードでの設定圧力</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a:spcBef>
                <a:spcPts val="600"/>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Flow status</a:t>
            </a: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Mode Ⅰ</a:t>
            </a: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Mode Ⅱ</a:t>
            </a: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2L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2R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Mode Ⅲ</a:t>
            </a: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3L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3R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モード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の設定圧力</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Left Grip Slide Switch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左グリップのスライドスイッチの中立位置の設定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STD</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標準グリップ仕様時のみ）</a:t>
            </a:r>
            <a:r>
              <a:rPr lang="en-US" altLang="ja-JP" sz="857" i="1" baseline="30000" dirty="0">
                <a:latin typeface="Meiryo UI" panose="020B0604030504040204" pitchFamily="50" charset="-128"/>
                <a:ea typeface="Meiryo UI" panose="020B0604030504040204" pitchFamily="50" charset="-128"/>
                <a:cs typeface="Meiryo UI" panose="020B0604030504040204" pitchFamily="50" charset="-128"/>
              </a:rPr>
              <a:t>	</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Stroke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Lifting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Operation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微操作域の電流値を設定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圧力調整ソレノイドに出力する電流値を設定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⓹</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各設定画面へ移動します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圧力調整仕様の場合のみ表示されます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テキスト プレースホルダー 8">
            <a:extLst>
              <a:ext uri="{FF2B5EF4-FFF2-40B4-BE49-F238E27FC236}">
                <a16:creationId xmlns:a16="http://schemas.microsoft.com/office/drawing/2014/main" id="{ABEE0871-79AD-4DAE-50F4-D040CE9E37C7}"/>
              </a:ext>
            </a:extLst>
          </p:cNvPr>
          <p:cNvSpPr>
            <a:spLocks noGrp="1"/>
          </p:cNvSpPr>
          <p:nvPr>
            <p:ph type="body" sz="quarter" idx="10"/>
          </p:nvPr>
        </p:nvSpPr>
        <p:spPr/>
        <p:txBody>
          <a:bodyPr/>
          <a:lstStyle/>
          <a:p>
            <a:r>
              <a:rPr lang="en-US" altLang="ja-JP" dirty="0"/>
              <a:t>AUX1</a:t>
            </a:r>
            <a:r>
              <a:rPr lang="ja-JP" altLang="en-US" dirty="0"/>
              <a:t>画面</a:t>
            </a:r>
          </a:p>
        </p:txBody>
      </p:sp>
      <p:sp>
        <p:nvSpPr>
          <p:cNvPr id="2" name="テキスト ボックス 1">
            <a:extLst>
              <a:ext uri="{FF2B5EF4-FFF2-40B4-BE49-F238E27FC236}">
                <a16:creationId xmlns:a16="http://schemas.microsoft.com/office/drawing/2014/main" id="{F6231BEA-5C5C-62D9-454D-3AC3624AC4AB}"/>
              </a:ext>
            </a:extLst>
          </p:cNvPr>
          <p:cNvSpPr txBox="1"/>
          <p:nvPr/>
        </p:nvSpPr>
        <p:spPr>
          <a:xfrm>
            <a:off x="9095290" y="4028654"/>
            <a:ext cx="460630"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r>
              <a:rPr kumimoji="1" lang="ja-JP" altLang="en-US" sz="800" dirty="0">
                <a:solidFill>
                  <a:srgbClr val="FF0000"/>
                </a:solidFill>
              </a:rPr>
              <a:t> 追記</a:t>
            </a:r>
          </a:p>
        </p:txBody>
      </p:sp>
      <p:sp>
        <p:nvSpPr>
          <p:cNvPr id="3" name="テキスト ボックス 2">
            <a:extLst>
              <a:ext uri="{FF2B5EF4-FFF2-40B4-BE49-F238E27FC236}">
                <a16:creationId xmlns:a16="http://schemas.microsoft.com/office/drawing/2014/main" id="{EF6C0C14-4CCA-7022-40E6-485117345F8F}"/>
              </a:ext>
            </a:extLst>
          </p:cNvPr>
          <p:cNvSpPr txBox="1"/>
          <p:nvPr/>
        </p:nvSpPr>
        <p:spPr>
          <a:xfrm>
            <a:off x="4741819" y="6024758"/>
            <a:ext cx="665814" cy="195814"/>
          </a:xfrm>
          <a:prstGeom prst="rect">
            <a:avLst/>
          </a:prstGeom>
          <a:noFill/>
        </p:spPr>
        <p:txBody>
          <a:bodyPr wrap="none" lIns="36000" tIns="36000" rIns="36000" bIns="36000" rtlCol="0">
            <a:spAutoFit/>
          </a:bodyPr>
          <a:lstStyle/>
          <a:p>
            <a:r>
              <a:rPr kumimoji="1" lang="en-US" altLang="ja-JP" sz="800" dirty="0">
                <a:solidFill>
                  <a:srgbClr val="FF0000"/>
                </a:solidFill>
              </a:rPr>
              <a:t>Δ02</a:t>
            </a:r>
            <a:r>
              <a:rPr kumimoji="1" lang="ja-JP" altLang="en-US" sz="800" dirty="0">
                <a:solidFill>
                  <a:srgbClr val="FF0000"/>
                </a:solidFill>
              </a:rPr>
              <a:t> 誤記訂正</a:t>
            </a:r>
          </a:p>
        </p:txBody>
      </p:sp>
    </p:spTree>
    <p:extLst>
      <p:ext uri="{BB962C8B-B14F-4D97-AF65-F5344CB8AC3E}">
        <p14:creationId xmlns:p14="http://schemas.microsoft.com/office/powerpoint/2010/main" val="2191804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9C9229E5-C886-2D85-8462-9A2738E5B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68489"/>
            <a:ext cx="4857143" cy="3371429"/>
          </a:xfrm>
          <a:prstGeom prst="rect">
            <a:avLst/>
          </a:prstGeom>
        </p:spPr>
      </p:pic>
      <p:grpSp>
        <p:nvGrpSpPr>
          <p:cNvPr id="56" name="グループ化 55"/>
          <p:cNvGrpSpPr/>
          <p:nvPr/>
        </p:nvGrpSpPr>
        <p:grpSpPr>
          <a:xfrm>
            <a:off x="4605044" y="588660"/>
            <a:ext cx="600370" cy="579925"/>
            <a:chOff x="6028504" y="355342"/>
            <a:chExt cx="840518" cy="811896"/>
          </a:xfrm>
        </p:grpSpPr>
        <p:sp>
          <p:nvSpPr>
            <p:cNvPr id="10" name="角丸四角形 9"/>
            <p:cNvSpPr/>
            <p:nvPr/>
          </p:nvSpPr>
          <p:spPr>
            <a:xfrm>
              <a:off x="6028504" y="819581"/>
              <a:ext cx="840518" cy="3476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8763" y="643342"/>
              <a:ext cx="0" cy="17623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476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4118" y="588660"/>
            <a:ext cx="600077" cy="570091"/>
            <a:chOff x="2990028" y="357651"/>
            <a:chExt cx="840108" cy="798127"/>
          </a:xfrm>
        </p:grpSpPr>
        <p:sp>
          <p:nvSpPr>
            <p:cNvPr id="13" name="角丸四角形 12"/>
            <p:cNvSpPr/>
            <p:nvPr/>
          </p:nvSpPr>
          <p:spPr>
            <a:xfrm>
              <a:off x="2990028" y="821888"/>
              <a:ext cx="840108" cy="33389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1848" y="645650"/>
              <a:ext cx="8235" cy="17623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7848" y="35765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6735" y="590309"/>
            <a:ext cx="587384" cy="571740"/>
            <a:chOff x="2256604" y="357789"/>
            <a:chExt cx="822338" cy="800436"/>
          </a:xfrm>
        </p:grpSpPr>
        <p:sp>
          <p:nvSpPr>
            <p:cNvPr id="17" name="角丸四角形 16"/>
            <p:cNvSpPr/>
            <p:nvPr/>
          </p:nvSpPr>
          <p:spPr>
            <a:xfrm>
              <a:off x="2256604" y="824335"/>
              <a:ext cx="822338" cy="33389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7773" y="645789"/>
              <a:ext cx="0" cy="17854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3773" y="35778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5" name="グループ化 54"/>
          <p:cNvGrpSpPr/>
          <p:nvPr/>
        </p:nvGrpSpPr>
        <p:grpSpPr>
          <a:xfrm>
            <a:off x="4004967" y="588660"/>
            <a:ext cx="600371" cy="581404"/>
            <a:chOff x="5871511" y="1463531"/>
            <a:chExt cx="840519" cy="813965"/>
          </a:xfrm>
        </p:grpSpPr>
        <p:sp>
          <p:nvSpPr>
            <p:cNvPr id="23" name="角丸四角形 22"/>
            <p:cNvSpPr/>
            <p:nvPr/>
          </p:nvSpPr>
          <p:spPr>
            <a:xfrm>
              <a:off x="5871511" y="1934596"/>
              <a:ext cx="840519" cy="342900"/>
            </a:xfrm>
            <a:prstGeom prst="roundRect">
              <a:avLst>
                <a:gd name="adj" fmla="val 1509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4"/>
              <a:endCxn id="23" idx="0"/>
            </p:cNvCxnSpPr>
            <p:nvPr/>
          </p:nvCxnSpPr>
          <p:spPr>
            <a:xfrm>
              <a:off x="6291771" y="1751530"/>
              <a:ext cx="0" cy="18306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6147771" y="1463531"/>
              <a:ext cx="287999"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40" name="テキスト ボックス 39"/>
          <p:cNvSpPr txBox="1"/>
          <p:nvPr/>
        </p:nvSpPr>
        <p:spPr>
          <a:xfrm>
            <a:off x="5421313" y="668489"/>
            <a:ext cx="4234692" cy="2512419"/>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左グリップスライドスイッチの設定ができます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voltage</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Center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ニュートラル位置の電圧の確認、設定ができます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Neutral Dead Band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不感帯の確認、設定ができます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Range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操作範囲</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r>
              <a:rPr lang="ja-JP" altLang="en-US" sz="786" dirty="0">
                <a:latin typeface="Meiryo UI" panose="020B0604030504040204" pitchFamily="50" charset="-128"/>
                <a:ea typeface="Meiryo UI" panose="020B0604030504040204" pitchFamily="50" charset="-128"/>
                <a:cs typeface="Meiryo UI" panose="020B0604030504040204" pitchFamily="50" charset="-128"/>
              </a:rPr>
              <a:t>例</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:2300-1500=800, 2700+1500=4200</a:t>
            </a:r>
          </a:p>
          <a:p>
            <a:pPr marL="385722"/>
            <a:r>
              <a:rPr lang="ja-JP" altLang="en-US" sz="786" dirty="0">
                <a:latin typeface="Meiryo UI" panose="020B0604030504040204" pitchFamily="50" charset="-128"/>
                <a:ea typeface="Meiryo UI" panose="020B0604030504040204" pitchFamily="50" charset="-128"/>
                <a:cs typeface="Meiryo UI" panose="020B0604030504040204" pitchFamily="50" charset="-128"/>
              </a:rPr>
              <a:t> ⇒ </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800-2300mV, 2700-4200mV</a:t>
            </a:r>
            <a:r>
              <a:rPr lang="ja-JP" altLang="en-US" sz="786" dirty="0">
                <a:latin typeface="Meiryo UI" panose="020B0604030504040204" pitchFamily="50" charset="-128"/>
                <a:ea typeface="Meiryo UI" panose="020B0604030504040204" pitchFamily="50" charset="-128"/>
                <a:cs typeface="Meiryo UI" panose="020B0604030504040204" pitchFamily="50" charset="-128"/>
              </a:rPr>
              <a:t>が作動範囲</a:t>
            </a:r>
            <a:endParaRPr lang="en-US" altLang="ja-JP" sz="786" dirty="0">
              <a:latin typeface="Meiryo UI" panose="020B0604030504040204" pitchFamily="50" charset="-128"/>
              <a:ea typeface="Meiryo UI" panose="020B0604030504040204" pitchFamily="50" charset="-128"/>
              <a:cs typeface="Meiryo UI" panose="020B0604030504040204" pitchFamily="50" charset="-128"/>
            </a:endParaRPr>
          </a:p>
          <a:p>
            <a:pPr marL="257148"/>
            <a:r>
              <a:rPr lang="ja-JP" altLang="en-US" sz="786" dirty="0">
                <a:latin typeface="Meiryo UI" panose="020B0604030504040204" pitchFamily="50" charset="-128"/>
                <a:ea typeface="Meiryo UI" panose="020B0604030504040204" pitchFamily="50" charset="-128"/>
                <a:cs typeface="Meiryo UI" panose="020B0604030504040204" pitchFamily="50" charset="-128"/>
              </a:rPr>
              <a:t>例</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:2500-200=2300, 2500+200=2700</a:t>
            </a:r>
          </a:p>
          <a:p>
            <a:pPr marL="385722"/>
            <a:r>
              <a:rPr lang="ja-JP" altLang="en-US" sz="786" dirty="0">
                <a:latin typeface="Meiryo UI" panose="020B0604030504040204" pitchFamily="50" charset="-128"/>
                <a:ea typeface="Meiryo UI" panose="020B0604030504040204" pitchFamily="50" charset="-128"/>
                <a:cs typeface="Meiryo UI" panose="020B0604030504040204" pitchFamily="50" charset="-128"/>
              </a:rPr>
              <a:t>⇒</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2300-2700mV</a:t>
            </a:r>
            <a:r>
              <a:rPr lang="ja-JP" altLang="en-US" sz="786" dirty="0">
                <a:latin typeface="Meiryo UI" panose="020B0604030504040204" pitchFamily="50" charset="-128"/>
                <a:ea typeface="Meiryo UI" panose="020B0604030504040204" pitchFamily="50" charset="-128"/>
                <a:cs typeface="Meiryo UI" panose="020B0604030504040204" pitchFamily="50" charset="-128"/>
              </a:rPr>
              <a:t>が不感帯</a:t>
            </a:r>
            <a:endParaRPr lang="en-US" altLang="ja-JP" sz="786" dirty="0">
              <a:latin typeface="Meiryo UI" panose="020B0604030504040204" pitchFamily="50" charset="-128"/>
              <a:ea typeface="Meiryo UI" panose="020B0604030504040204" pitchFamily="50" charset="-128"/>
              <a:cs typeface="Meiryo UI" panose="020B0604030504040204" pitchFamily="50" charset="-128"/>
            </a:endParaRPr>
          </a:p>
          <a:p>
            <a:pPr marL="129270">
              <a:spcBef>
                <a:spcPts val="429"/>
              </a:spcBef>
            </a:pPr>
            <a:r>
              <a:rPr lang="ja-JP" altLang="en-US" sz="786" dirty="0">
                <a:latin typeface="Meiryo UI" panose="020B0604030504040204" pitchFamily="50" charset="-128"/>
                <a:ea typeface="Meiryo UI" panose="020B0604030504040204" pitchFamily="50" charset="-128"/>
                <a:cs typeface="Meiryo UI" panose="020B0604030504040204" pitchFamily="50" charset="-128"/>
              </a:rPr>
              <a:t>上記の変更は下の出力線図に反映されます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717550">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717550">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717550">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717550">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左グリップスライドスイッチの設定を初期化します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テキスト プレースホルダー 32">
            <a:extLst>
              <a:ext uri="{FF2B5EF4-FFF2-40B4-BE49-F238E27FC236}">
                <a16:creationId xmlns:a16="http://schemas.microsoft.com/office/drawing/2014/main" id="{9AAC463D-447F-8896-7399-35834ED020FD}"/>
              </a:ext>
            </a:extLst>
          </p:cNvPr>
          <p:cNvSpPr>
            <a:spLocks noGrp="1"/>
          </p:cNvSpPr>
          <p:nvPr>
            <p:ph type="body" sz="quarter" idx="10"/>
          </p:nvPr>
        </p:nvSpPr>
        <p:spPr/>
        <p:txBody>
          <a:bodyPr/>
          <a:lstStyle/>
          <a:p>
            <a:r>
              <a:rPr lang="en-US" altLang="ja-JP" dirty="0"/>
              <a:t>Grip L Slide Setting</a:t>
            </a:r>
            <a:r>
              <a:rPr lang="ja-JP" altLang="en-US" dirty="0"/>
              <a:t>画面</a:t>
            </a:r>
          </a:p>
          <a:p>
            <a:endParaRPr lang="ja-JP" altLang="en-US" dirty="0"/>
          </a:p>
        </p:txBody>
      </p:sp>
    </p:spTree>
    <p:extLst>
      <p:ext uri="{BB962C8B-B14F-4D97-AF65-F5344CB8AC3E}">
        <p14:creationId xmlns:p14="http://schemas.microsoft.com/office/powerpoint/2010/main" val="4228689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5373C756-1D7B-970E-FB55-9DD6F6F94B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24" y="657225"/>
            <a:ext cx="4857143" cy="3371429"/>
          </a:xfrm>
          <a:prstGeom prst="rect">
            <a:avLst/>
          </a:prstGeom>
        </p:spPr>
      </p:pic>
      <p:grpSp>
        <p:nvGrpSpPr>
          <p:cNvPr id="56" name="グループ化 55"/>
          <p:cNvGrpSpPr/>
          <p:nvPr/>
        </p:nvGrpSpPr>
        <p:grpSpPr>
          <a:xfrm>
            <a:off x="4621081" y="574274"/>
            <a:ext cx="601909" cy="581426"/>
            <a:chOff x="6028503" y="340974"/>
            <a:chExt cx="842673" cy="813996"/>
          </a:xfrm>
        </p:grpSpPr>
        <p:sp>
          <p:nvSpPr>
            <p:cNvPr id="10" name="角丸四角形 9"/>
            <p:cNvSpPr/>
            <p:nvPr/>
          </p:nvSpPr>
          <p:spPr>
            <a:xfrm>
              <a:off x="6028503" y="809968"/>
              <a:ext cx="842673"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9839" y="628973"/>
              <a:ext cx="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5839" y="34097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95675" y="574274"/>
            <a:ext cx="583414" cy="581426"/>
            <a:chOff x="2990029" y="355342"/>
            <a:chExt cx="816780" cy="813997"/>
          </a:xfrm>
        </p:grpSpPr>
        <p:sp>
          <p:nvSpPr>
            <p:cNvPr id="13" name="角丸四角形 12"/>
            <p:cNvSpPr/>
            <p:nvPr/>
          </p:nvSpPr>
          <p:spPr>
            <a:xfrm>
              <a:off x="2990029" y="824337"/>
              <a:ext cx="816780"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398419"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4419"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99435" y="577534"/>
            <a:ext cx="583415" cy="578166"/>
            <a:chOff x="2256603" y="359906"/>
            <a:chExt cx="816781" cy="809433"/>
          </a:xfrm>
        </p:grpSpPr>
        <p:sp>
          <p:nvSpPr>
            <p:cNvPr id="17" name="角丸四角形 16"/>
            <p:cNvSpPr/>
            <p:nvPr/>
          </p:nvSpPr>
          <p:spPr>
            <a:xfrm>
              <a:off x="2256603" y="824337"/>
              <a:ext cx="816781"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2331" y="647906"/>
              <a:ext cx="2663" cy="176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18332" y="35990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5921"/>
            <a:ext cx="4234692" cy="147726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テキスト プレースホルダー 24">
            <a:extLst>
              <a:ext uri="{FF2B5EF4-FFF2-40B4-BE49-F238E27FC236}">
                <a16:creationId xmlns:a16="http://schemas.microsoft.com/office/drawing/2014/main" id="{4B45A4C4-0A23-658F-88E0-B2584D4D14A3}"/>
              </a:ext>
            </a:extLst>
          </p:cNvPr>
          <p:cNvSpPr>
            <a:spLocks noGrp="1"/>
          </p:cNvSpPr>
          <p:nvPr>
            <p:ph type="body" sz="quarter" idx="10"/>
          </p:nvPr>
        </p:nvSpPr>
        <p:spPr/>
        <p:txBody>
          <a:bodyPr/>
          <a:lstStyle/>
          <a:p>
            <a:r>
              <a:rPr lang="en-US" altLang="ja-JP" dirty="0"/>
              <a:t>AUX1 Stroke Setting</a:t>
            </a:r>
            <a:r>
              <a:rPr lang="ja-JP" altLang="en-US" dirty="0"/>
              <a:t>画面</a:t>
            </a:r>
          </a:p>
        </p:txBody>
      </p:sp>
    </p:spTree>
    <p:extLst>
      <p:ext uri="{BB962C8B-B14F-4D97-AF65-F5344CB8AC3E}">
        <p14:creationId xmlns:p14="http://schemas.microsoft.com/office/powerpoint/2010/main" val="163518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折れ線グラフ&#10;&#10;中程度の精度で自動的に生成された説明">
            <a:extLst>
              <a:ext uri="{FF2B5EF4-FFF2-40B4-BE49-F238E27FC236}">
                <a16:creationId xmlns:a16="http://schemas.microsoft.com/office/drawing/2014/main" id="{20C750C1-588F-98B6-BFB3-D5C04DC86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14885" y="603951"/>
            <a:ext cx="606556" cy="553335"/>
            <a:chOff x="6028504" y="396890"/>
            <a:chExt cx="849179" cy="774669"/>
          </a:xfrm>
        </p:grpSpPr>
        <p:sp>
          <p:nvSpPr>
            <p:cNvPr id="10" name="角丸四角形 9"/>
            <p:cNvSpPr/>
            <p:nvPr/>
          </p:nvSpPr>
          <p:spPr>
            <a:xfrm>
              <a:off x="6028504" y="846091"/>
              <a:ext cx="849179" cy="32546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3094" y="684890"/>
              <a:ext cx="0" cy="16120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9094" y="39689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2265"/>
            <a:ext cx="4234692" cy="966162"/>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の微</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操作時のソレノイド出力電流を設定できます。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9" name="グループ化 8"/>
          <p:cNvGrpSpPr/>
          <p:nvPr/>
        </p:nvGrpSpPr>
        <p:grpSpPr>
          <a:xfrm>
            <a:off x="2508117" y="603951"/>
            <a:ext cx="606557" cy="553337"/>
            <a:chOff x="2990028" y="369749"/>
            <a:chExt cx="849180" cy="774673"/>
          </a:xfrm>
        </p:grpSpPr>
        <p:sp>
          <p:nvSpPr>
            <p:cNvPr id="13" name="角丸四角形 12"/>
            <p:cNvSpPr/>
            <p:nvPr/>
          </p:nvSpPr>
          <p:spPr>
            <a:xfrm>
              <a:off x="2990028" y="818952"/>
              <a:ext cx="849180" cy="32547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14617" y="657749"/>
              <a:ext cx="1" cy="16120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70617" y="36974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16" name="グループ化 15"/>
          <p:cNvGrpSpPr/>
          <p:nvPr/>
        </p:nvGrpSpPr>
        <p:grpSpPr>
          <a:xfrm>
            <a:off x="1902053" y="593539"/>
            <a:ext cx="574448" cy="563748"/>
            <a:chOff x="2256604" y="360556"/>
            <a:chExt cx="804227" cy="789247"/>
          </a:xfrm>
        </p:grpSpPr>
        <p:sp>
          <p:nvSpPr>
            <p:cNvPr id="17" name="角丸四角形 16"/>
            <p:cNvSpPr/>
            <p:nvPr/>
          </p:nvSpPr>
          <p:spPr>
            <a:xfrm>
              <a:off x="2256604" y="824335"/>
              <a:ext cx="804227" cy="32546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58718" y="648556"/>
              <a:ext cx="0" cy="17578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14718" y="36055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8" name="テキスト プレースホルダー 27">
            <a:extLst>
              <a:ext uri="{FF2B5EF4-FFF2-40B4-BE49-F238E27FC236}">
                <a16:creationId xmlns:a16="http://schemas.microsoft.com/office/drawing/2014/main" id="{BFC4071C-D50C-3F27-F1D6-BEF46296FAD2}"/>
              </a:ext>
            </a:extLst>
          </p:cNvPr>
          <p:cNvSpPr>
            <a:spLocks noGrp="1"/>
          </p:cNvSpPr>
          <p:nvPr>
            <p:ph type="body" sz="quarter" idx="10"/>
          </p:nvPr>
        </p:nvSpPr>
        <p:spPr/>
        <p:txBody>
          <a:bodyPr/>
          <a:lstStyle/>
          <a:p>
            <a:r>
              <a:rPr lang="en-US" altLang="ja-JP" sz="16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Lifting</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Operation</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画面</a:t>
            </a:r>
          </a:p>
        </p:txBody>
      </p:sp>
    </p:spTree>
    <p:extLst>
      <p:ext uri="{BB962C8B-B14F-4D97-AF65-F5344CB8AC3E}">
        <p14:creationId xmlns:p14="http://schemas.microsoft.com/office/powerpoint/2010/main" val="690121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図 5" descr="グラフ, 折れ線グラフ&#10;&#10;自動的に生成された説明">
            <a:extLst>
              <a:ext uri="{FF2B5EF4-FFF2-40B4-BE49-F238E27FC236}">
                <a16:creationId xmlns:a16="http://schemas.microsoft.com/office/drawing/2014/main" id="{01BAF467-76CA-4B74-3C54-790ACB5DD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60292"/>
            <a:ext cx="4857143" cy="3371429"/>
          </a:xfrm>
          <a:prstGeom prst="rect">
            <a:avLst/>
          </a:prstGeom>
        </p:spPr>
      </p:pic>
      <p:grpSp>
        <p:nvGrpSpPr>
          <p:cNvPr id="56" name="グループ化 55"/>
          <p:cNvGrpSpPr/>
          <p:nvPr/>
        </p:nvGrpSpPr>
        <p:grpSpPr>
          <a:xfrm>
            <a:off x="4625543" y="580257"/>
            <a:ext cx="589173" cy="574645"/>
            <a:chOff x="6001183" y="403250"/>
            <a:chExt cx="824843" cy="804504"/>
          </a:xfrm>
        </p:grpSpPr>
        <p:sp>
          <p:nvSpPr>
            <p:cNvPr id="10" name="角丸四角形 9"/>
            <p:cNvSpPr/>
            <p:nvPr/>
          </p:nvSpPr>
          <p:spPr>
            <a:xfrm>
              <a:off x="6001183" y="867199"/>
              <a:ext cx="824843" cy="34055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13605" y="691250"/>
              <a:ext cx="0" cy="17594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69605" y="40325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5016" y="580258"/>
            <a:ext cx="589177" cy="574647"/>
            <a:chOff x="2990028" y="360384"/>
            <a:chExt cx="824848" cy="804506"/>
          </a:xfrm>
        </p:grpSpPr>
        <p:sp>
          <p:nvSpPr>
            <p:cNvPr id="13" name="角丸四角形 12"/>
            <p:cNvSpPr/>
            <p:nvPr/>
          </p:nvSpPr>
          <p:spPr>
            <a:xfrm>
              <a:off x="2990028" y="824336"/>
              <a:ext cx="824848" cy="34055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2451" y="648384"/>
              <a:ext cx="1" cy="17595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8451" y="36038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95838" y="584840"/>
            <a:ext cx="589177" cy="570064"/>
            <a:chOff x="2397732" y="386328"/>
            <a:chExt cx="824848" cy="798089"/>
          </a:xfrm>
        </p:grpSpPr>
        <p:sp>
          <p:nvSpPr>
            <p:cNvPr id="17" name="角丸四角形 16"/>
            <p:cNvSpPr/>
            <p:nvPr/>
          </p:nvSpPr>
          <p:spPr>
            <a:xfrm>
              <a:off x="2397732" y="843863"/>
              <a:ext cx="824848" cy="34055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810157" y="674327"/>
              <a:ext cx="0" cy="16953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666157" y="386328"/>
              <a:ext cx="288000"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7225"/>
            <a:ext cx="4234692" cy="1724575"/>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Default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出荷時の流量設定が確認できます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0" name="グループ化 19"/>
          <p:cNvGrpSpPr/>
          <p:nvPr/>
        </p:nvGrpSpPr>
        <p:grpSpPr>
          <a:xfrm>
            <a:off x="4036150" y="579363"/>
            <a:ext cx="589173" cy="575540"/>
            <a:chOff x="2990028" y="378660"/>
            <a:chExt cx="824842" cy="805757"/>
          </a:xfrm>
        </p:grpSpPr>
        <p:sp>
          <p:nvSpPr>
            <p:cNvPr id="21" name="角丸四角形 20"/>
            <p:cNvSpPr/>
            <p:nvPr/>
          </p:nvSpPr>
          <p:spPr>
            <a:xfrm>
              <a:off x="2990028" y="843862"/>
              <a:ext cx="824842" cy="34055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2" name="直線矢印コネクタ 21"/>
            <p:cNvCxnSpPr>
              <a:cxnSpLocks/>
              <a:stCxn id="23" idx="4"/>
              <a:endCxn id="21" idx="0"/>
            </p:cNvCxnSpPr>
            <p:nvPr/>
          </p:nvCxnSpPr>
          <p:spPr>
            <a:xfrm flipH="1">
              <a:off x="3402450" y="666660"/>
              <a:ext cx="302" cy="17720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円/楕円 22"/>
            <p:cNvSpPr/>
            <p:nvPr/>
          </p:nvSpPr>
          <p:spPr>
            <a:xfrm>
              <a:off x="3258752" y="37866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34" name="テキスト プレースホルダー 33">
            <a:extLst>
              <a:ext uri="{FF2B5EF4-FFF2-40B4-BE49-F238E27FC236}">
                <a16:creationId xmlns:a16="http://schemas.microsoft.com/office/drawing/2014/main" id="{1562E340-27FE-92E7-D327-32B23DE4F2EC}"/>
              </a:ext>
            </a:extLst>
          </p:cNvPr>
          <p:cNvSpPr>
            <a:spLocks noGrp="1"/>
          </p:cNvSpPr>
          <p:nvPr>
            <p:ph type="body" sz="quarter" idx="10"/>
          </p:nvPr>
        </p:nvSpPr>
        <p:spPr/>
        <p:txBody>
          <a:bodyPr/>
          <a:lstStyle/>
          <a:p>
            <a:r>
              <a:rPr lang="en-US" altLang="ja-JP" sz="16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Current</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Setting</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画面</a:t>
            </a:r>
          </a:p>
        </p:txBody>
      </p:sp>
    </p:spTree>
    <p:extLst>
      <p:ext uri="{BB962C8B-B14F-4D97-AF65-F5344CB8AC3E}">
        <p14:creationId xmlns:p14="http://schemas.microsoft.com/office/powerpoint/2010/main" val="73444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テキスト プレースホルダー 7">
            <a:extLst>
              <a:ext uri="{FF2B5EF4-FFF2-40B4-BE49-F238E27FC236}">
                <a16:creationId xmlns:a16="http://schemas.microsoft.com/office/drawing/2014/main" id="{38E0C584-189B-C275-5AD4-AD2650AF7E40}"/>
              </a:ext>
            </a:extLst>
          </p:cNvPr>
          <p:cNvSpPr>
            <a:spLocks noGrp="1"/>
          </p:cNvSpPr>
          <p:nvPr>
            <p:ph type="body" sz="quarter" idx="10"/>
          </p:nvPr>
        </p:nvSpPr>
        <p:spPr/>
        <p:txBody>
          <a:bodyPr/>
          <a:lstStyle/>
          <a:p>
            <a:r>
              <a:rPr lang="en-US" altLang="ja-JP" sz="1600"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Factory</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cs typeface="Meiryo UI" panose="020B0604030504040204" pitchFamily="50" charset="-128"/>
              </a:rPr>
              <a:t>Default</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画面</a:t>
            </a:r>
          </a:p>
        </p:txBody>
      </p:sp>
      <p:pic>
        <p:nvPicPr>
          <p:cNvPr id="2" name="コンテンツプレースホルダ 1"/>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44488" y="657225"/>
            <a:ext cx="4857750" cy="3371850"/>
          </a:xfrm>
          <a:prstGeom prst="rect">
            <a:avLst/>
          </a:prstGeom>
        </p:spPr>
      </p:pic>
      <p:grpSp>
        <p:nvGrpSpPr>
          <p:cNvPr id="56" name="グループ化 55"/>
          <p:cNvGrpSpPr/>
          <p:nvPr/>
        </p:nvGrpSpPr>
        <p:grpSpPr>
          <a:xfrm>
            <a:off x="4600595" y="570866"/>
            <a:ext cx="634343" cy="594993"/>
            <a:chOff x="6028503" y="369240"/>
            <a:chExt cx="888081" cy="832990"/>
          </a:xfrm>
        </p:grpSpPr>
        <p:sp>
          <p:nvSpPr>
            <p:cNvPr id="10" name="角丸四角形 9"/>
            <p:cNvSpPr/>
            <p:nvPr/>
          </p:nvSpPr>
          <p:spPr>
            <a:xfrm>
              <a:off x="6028503" y="824335"/>
              <a:ext cx="888081" cy="37789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72544" y="657240"/>
              <a:ext cx="0" cy="1670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28544" y="36924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471539"/>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ソレノイド出力線図の出荷時の設定を確認できます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445643"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135921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図 8" descr="グラフ, 折れ線グラフ&#10;&#10;自動的に生成された説明">
            <a:extLst>
              <a:ext uri="{FF2B5EF4-FFF2-40B4-BE49-F238E27FC236}">
                <a16:creationId xmlns:a16="http://schemas.microsoft.com/office/drawing/2014/main" id="{2FDF6C25-7AE7-40F5-CCCA-0B2711BC9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24" y="653589"/>
            <a:ext cx="4857143" cy="3371429"/>
          </a:xfrm>
          <a:prstGeom prst="rect">
            <a:avLst/>
          </a:prstGeom>
        </p:spPr>
      </p:pic>
      <p:grpSp>
        <p:nvGrpSpPr>
          <p:cNvPr id="56" name="グループ化 55"/>
          <p:cNvGrpSpPr/>
          <p:nvPr/>
        </p:nvGrpSpPr>
        <p:grpSpPr>
          <a:xfrm>
            <a:off x="4631601" y="575895"/>
            <a:ext cx="592863" cy="576630"/>
            <a:chOff x="6028503" y="355342"/>
            <a:chExt cx="830008" cy="807283"/>
          </a:xfrm>
        </p:grpSpPr>
        <p:sp>
          <p:nvSpPr>
            <p:cNvPr id="10" name="角丸四角形 9"/>
            <p:cNvSpPr/>
            <p:nvPr/>
          </p:nvSpPr>
          <p:spPr>
            <a:xfrm>
              <a:off x="6028503" y="824337"/>
              <a:ext cx="830008"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3508"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9508"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1262" y="575895"/>
            <a:ext cx="604837" cy="576630"/>
            <a:chOff x="2990028" y="355342"/>
            <a:chExt cx="846772" cy="807283"/>
          </a:xfrm>
        </p:grpSpPr>
        <p:sp>
          <p:nvSpPr>
            <p:cNvPr id="13" name="角丸四角形 12"/>
            <p:cNvSpPr/>
            <p:nvPr/>
          </p:nvSpPr>
          <p:spPr>
            <a:xfrm>
              <a:off x="2990028" y="824337"/>
              <a:ext cx="846772"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13415"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9415"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91970" y="575895"/>
            <a:ext cx="589293" cy="576630"/>
            <a:chOff x="2256603" y="355342"/>
            <a:chExt cx="825010" cy="807283"/>
          </a:xfrm>
        </p:grpSpPr>
        <p:sp>
          <p:nvSpPr>
            <p:cNvPr id="17" name="角丸四角形 16"/>
            <p:cNvSpPr/>
            <p:nvPr/>
          </p:nvSpPr>
          <p:spPr>
            <a:xfrm>
              <a:off x="2256603" y="824337"/>
              <a:ext cx="825010"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9109"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5109"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3589"/>
            <a:ext cx="4234692" cy="1724575"/>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の圧力調整ソレノイドへの出力線図の確認と設定ができます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：設定をデフォルト値に戻します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 name="グループ化 2">
            <a:extLst>
              <a:ext uri="{FF2B5EF4-FFF2-40B4-BE49-F238E27FC236}">
                <a16:creationId xmlns:a16="http://schemas.microsoft.com/office/drawing/2014/main" id="{FA8526CF-8B7E-D733-D0CC-73673461B0A4}"/>
              </a:ext>
            </a:extLst>
          </p:cNvPr>
          <p:cNvGrpSpPr/>
          <p:nvPr/>
        </p:nvGrpSpPr>
        <p:grpSpPr>
          <a:xfrm>
            <a:off x="4010715" y="580532"/>
            <a:ext cx="590551" cy="565372"/>
            <a:chOff x="6077977" y="354782"/>
            <a:chExt cx="826771" cy="791521"/>
          </a:xfrm>
        </p:grpSpPr>
        <p:sp>
          <p:nvSpPr>
            <p:cNvPr id="5" name="角丸四角形 9">
              <a:extLst>
                <a:ext uri="{FF2B5EF4-FFF2-40B4-BE49-F238E27FC236}">
                  <a16:creationId xmlns:a16="http://schemas.microsoft.com/office/drawing/2014/main" id="{E8A6F685-12FA-1BE7-859C-D45A2D305222}"/>
                </a:ext>
              </a:extLst>
            </p:cNvPr>
            <p:cNvSpPr/>
            <p:nvPr/>
          </p:nvSpPr>
          <p:spPr>
            <a:xfrm>
              <a:off x="6077977" y="808016"/>
              <a:ext cx="826771" cy="33828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6" name="直線矢印コネクタ 5">
              <a:extLst>
                <a:ext uri="{FF2B5EF4-FFF2-40B4-BE49-F238E27FC236}">
                  <a16:creationId xmlns:a16="http://schemas.microsoft.com/office/drawing/2014/main" id="{EBE6C9F9-100D-0BC3-00AA-8471785FF5C9}"/>
                </a:ext>
              </a:extLst>
            </p:cNvPr>
            <p:cNvCxnSpPr>
              <a:cxnSpLocks/>
              <a:stCxn id="7" idx="4"/>
            </p:cNvCxnSpPr>
            <p:nvPr/>
          </p:nvCxnSpPr>
          <p:spPr>
            <a:xfrm>
              <a:off x="6491362" y="642782"/>
              <a:ext cx="9999" cy="17450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円/楕円 11">
              <a:extLst>
                <a:ext uri="{FF2B5EF4-FFF2-40B4-BE49-F238E27FC236}">
                  <a16:creationId xmlns:a16="http://schemas.microsoft.com/office/drawing/2014/main" id="{1AFF3A20-CF89-4C64-0760-266CA276763F}"/>
                </a:ext>
              </a:extLst>
            </p:cNvPr>
            <p:cNvSpPr/>
            <p:nvPr/>
          </p:nvSpPr>
          <p:spPr>
            <a:xfrm>
              <a:off x="6347362" y="354782"/>
              <a:ext cx="287999"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p>
          </p:txBody>
        </p:sp>
      </p:grpSp>
      <p:sp>
        <p:nvSpPr>
          <p:cNvPr id="22" name="テキスト プレースホルダー 21">
            <a:extLst>
              <a:ext uri="{FF2B5EF4-FFF2-40B4-BE49-F238E27FC236}">
                <a16:creationId xmlns:a16="http://schemas.microsoft.com/office/drawing/2014/main" id="{3E1EBD3A-1792-7D28-B762-1D3C8006936D}"/>
              </a:ext>
            </a:extLst>
          </p:cNvPr>
          <p:cNvSpPr>
            <a:spLocks noGrp="1"/>
          </p:cNvSpPr>
          <p:nvPr>
            <p:ph type="body" sz="quarter" idx="10"/>
          </p:nvPr>
        </p:nvSpPr>
        <p:spPr/>
        <p:txBody>
          <a:bodyPr/>
          <a:lstStyle/>
          <a:p>
            <a:r>
              <a:rPr lang="en-US" altLang="ja-JP" dirty="0"/>
              <a:t>AUX1 Pressure Setting</a:t>
            </a:r>
            <a:r>
              <a:rPr lang="ja-JP" altLang="en-US" dirty="0"/>
              <a:t>画面</a:t>
            </a:r>
          </a:p>
        </p:txBody>
      </p:sp>
    </p:spTree>
    <p:extLst>
      <p:ext uri="{BB962C8B-B14F-4D97-AF65-F5344CB8AC3E}">
        <p14:creationId xmlns:p14="http://schemas.microsoft.com/office/powerpoint/2010/main" val="2179406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図 5" descr="グラフィカル ユーザー インターフェイス&#10;&#10;自動的に生成された説明">
            <a:extLst>
              <a:ext uri="{FF2B5EF4-FFF2-40B4-BE49-F238E27FC236}">
                <a16:creationId xmlns:a16="http://schemas.microsoft.com/office/drawing/2014/main" id="{19B44BF7-CF3D-90DF-A03A-DCD61C3E0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10283" y="577534"/>
            <a:ext cx="605572" cy="592243"/>
            <a:chOff x="6028504" y="355342"/>
            <a:chExt cx="847801" cy="829140"/>
          </a:xfrm>
        </p:grpSpPr>
        <p:sp>
          <p:nvSpPr>
            <p:cNvPr id="10" name="角丸四角形 9"/>
            <p:cNvSpPr/>
            <p:nvPr/>
          </p:nvSpPr>
          <p:spPr>
            <a:xfrm>
              <a:off x="6028504" y="824337"/>
              <a:ext cx="847801" cy="3601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0983" y="643342"/>
              <a:ext cx="1421" cy="1809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6984"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0595" y="583133"/>
            <a:ext cx="599153" cy="575169"/>
            <a:chOff x="2990028" y="374074"/>
            <a:chExt cx="838815" cy="805238"/>
          </a:xfrm>
        </p:grpSpPr>
        <p:sp>
          <p:nvSpPr>
            <p:cNvPr id="13" name="角丸四角形 12"/>
            <p:cNvSpPr/>
            <p:nvPr/>
          </p:nvSpPr>
          <p:spPr>
            <a:xfrm>
              <a:off x="2990028" y="834308"/>
              <a:ext cx="838815" cy="34500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9436" y="662074"/>
              <a:ext cx="0" cy="17223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5436" y="37407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9055" y="577534"/>
            <a:ext cx="587445" cy="578166"/>
            <a:chOff x="2256603" y="359906"/>
            <a:chExt cx="822423" cy="809433"/>
          </a:xfrm>
        </p:grpSpPr>
        <p:sp>
          <p:nvSpPr>
            <p:cNvPr id="17" name="角丸四角形 16"/>
            <p:cNvSpPr/>
            <p:nvPr/>
          </p:nvSpPr>
          <p:spPr>
            <a:xfrm>
              <a:off x="2256603" y="824337"/>
              <a:ext cx="822423"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7815" y="647906"/>
              <a:ext cx="0" cy="176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3815" y="35990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4404872" y="3653755"/>
            <a:ext cx="610039" cy="613731"/>
            <a:chOff x="5733228" y="4472412"/>
            <a:chExt cx="854055" cy="859224"/>
          </a:xfrm>
        </p:grpSpPr>
        <p:sp>
          <p:nvSpPr>
            <p:cNvPr id="20" name="角丸四角形 19"/>
            <p:cNvSpPr/>
            <p:nvPr/>
          </p:nvSpPr>
          <p:spPr>
            <a:xfrm>
              <a:off x="5733228" y="4472412"/>
              <a:ext cx="854055" cy="37876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0"/>
              <a:endCxn id="20" idx="2"/>
            </p:cNvCxnSpPr>
            <p:nvPr/>
          </p:nvCxnSpPr>
          <p:spPr>
            <a:xfrm flipH="1" flipV="1">
              <a:off x="6160256" y="4851174"/>
              <a:ext cx="4547" cy="19246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20804" y="504363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grpSp>
        <p:nvGrpSpPr>
          <p:cNvPr id="55" name="グループ化 54"/>
          <p:cNvGrpSpPr/>
          <p:nvPr/>
        </p:nvGrpSpPr>
        <p:grpSpPr>
          <a:xfrm>
            <a:off x="3550490" y="964062"/>
            <a:ext cx="1402509" cy="2006313"/>
            <a:chOff x="4614212" y="926475"/>
            <a:chExt cx="1963513" cy="2808837"/>
          </a:xfrm>
        </p:grpSpPr>
        <p:sp>
          <p:nvSpPr>
            <p:cNvPr id="23" name="角丸四角形 22"/>
            <p:cNvSpPr/>
            <p:nvPr/>
          </p:nvSpPr>
          <p:spPr>
            <a:xfrm>
              <a:off x="4614212" y="1449219"/>
              <a:ext cx="1963513" cy="2286093"/>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4"/>
              <a:endCxn id="23" idx="0"/>
            </p:cNvCxnSpPr>
            <p:nvPr/>
          </p:nvCxnSpPr>
          <p:spPr>
            <a:xfrm>
              <a:off x="5595969" y="1214474"/>
              <a:ext cx="0" cy="23474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51969" y="926475"/>
              <a:ext cx="288000"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grpSp>
      <p:sp>
        <p:nvSpPr>
          <p:cNvPr id="40" name="テキスト ボックス 39"/>
          <p:cNvSpPr txBox="1"/>
          <p:nvPr/>
        </p:nvSpPr>
        <p:spPr>
          <a:xfrm>
            <a:off x="5421313" y="654622"/>
            <a:ext cx="4234692" cy="4345998"/>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 status</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 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 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設定圧力</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Flow status</a:t>
            </a: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Right Grip Slide Switch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右グリップのスライドスイッチの中立位置の設定</a:t>
            </a:r>
            <a:endParaRPr lang="en-US" altLang="ja-JP" sz="857" i="1" baseline="30000"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Stroke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Lifting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Operation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微操作域の電流値を設定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圧力調整ソレノイドに出力する電流値を設定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⑤各設定画面へ移動します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圧力調整仕様の場合のみ表示されます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テキスト プレースホルダー 36">
            <a:extLst>
              <a:ext uri="{FF2B5EF4-FFF2-40B4-BE49-F238E27FC236}">
                <a16:creationId xmlns:a16="http://schemas.microsoft.com/office/drawing/2014/main" id="{F24D1FA0-94C1-DED5-61BC-66A5B7E34A74}"/>
              </a:ext>
            </a:extLst>
          </p:cNvPr>
          <p:cNvSpPr>
            <a:spLocks noGrp="1"/>
          </p:cNvSpPr>
          <p:nvPr>
            <p:ph type="body" sz="quarter" idx="10"/>
          </p:nvPr>
        </p:nvSpPr>
        <p:spPr/>
        <p:txBody>
          <a:bodyPr/>
          <a:lstStyle/>
          <a:p>
            <a:r>
              <a:rPr lang="en-US" altLang="ja-JP" dirty="0"/>
              <a:t>AUX2</a:t>
            </a:r>
            <a:r>
              <a:rPr lang="ja-JP" altLang="en-US" dirty="0"/>
              <a:t>画面</a:t>
            </a:r>
          </a:p>
        </p:txBody>
      </p:sp>
    </p:spTree>
    <p:extLst>
      <p:ext uri="{BB962C8B-B14F-4D97-AF65-F5344CB8AC3E}">
        <p14:creationId xmlns:p14="http://schemas.microsoft.com/office/powerpoint/2010/main" val="311622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E1C47C61-9DE4-E00F-E4BF-9700B47C5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68489"/>
            <a:ext cx="4857143" cy="3371429"/>
          </a:xfrm>
          <a:prstGeom prst="rect">
            <a:avLst/>
          </a:prstGeom>
        </p:spPr>
      </p:pic>
      <p:grpSp>
        <p:nvGrpSpPr>
          <p:cNvPr id="56" name="グループ化 55"/>
          <p:cNvGrpSpPr/>
          <p:nvPr/>
        </p:nvGrpSpPr>
        <p:grpSpPr>
          <a:xfrm>
            <a:off x="4628833" y="590149"/>
            <a:ext cx="572797" cy="575076"/>
            <a:chOff x="6028503" y="355342"/>
            <a:chExt cx="801916" cy="805107"/>
          </a:xfrm>
        </p:grpSpPr>
        <p:sp>
          <p:nvSpPr>
            <p:cNvPr id="10" name="角丸四角形 9"/>
            <p:cNvSpPr/>
            <p:nvPr/>
          </p:nvSpPr>
          <p:spPr>
            <a:xfrm>
              <a:off x="6028503" y="824337"/>
              <a:ext cx="801916" cy="33611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29462"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85462"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9325" y="590149"/>
            <a:ext cx="584075" cy="575076"/>
            <a:chOff x="2990028" y="355342"/>
            <a:chExt cx="817705" cy="805107"/>
          </a:xfrm>
        </p:grpSpPr>
        <p:sp>
          <p:nvSpPr>
            <p:cNvPr id="13" name="角丸四角形 12"/>
            <p:cNvSpPr/>
            <p:nvPr/>
          </p:nvSpPr>
          <p:spPr>
            <a:xfrm>
              <a:off x="2990028" y="824337"/>
              <a:ext cx="817705" cy="33611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392060" y="643342"/>
              <a:ext cx="6821"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4806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6735" y="604714"/>
            <a:ext cx="586590" cy="554160"/>
            <a:chOff x="2256604" y="371288"/>
            <a:chExt cx="821226" cy="775824"/>
          </a:xfrm>
        </p:grpSpPr>
        <p:sp>
          <p:nvSpPr>
            <p:cNvPr id="17" name="角丸四角形 16"/>
            <p:cNvSpPr/>
            <p:nvPr/>
          </p:nvSpPr>
          <p:spPr>
            <a:xfrm>
              <a:off x="2256604" y="824335"/>
              <a:ext cx="821226" cy="32277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7217" y="659288"/>
              <a:ext cx="0" cy="1650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3217" y="37128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5" name="グループ化 54"/>
          <p:cNvGrpSpPr/>
          <p:nvPr/>
        </p:nvGrpSpPr>
        <p:grpSpPr>
          <a:xfrm>
            <a:off x="4002309" y="604715"/>
            <a:ext cx="607973" cy="565350"/>
            <a:chOff x="5871511" y="1486007"/>
            <a:chExt cx="851162" cy="791489"/>
          </a:xfrm>
        </p:grpSpPr>
        <p:sp>
          <p:nvSpPr>
            <p:cNvPr id="23" name="角丸四角形 22"/>
            <p:cNvSpPr/>
            <p:nvPr/>
          </p:nvSpPr>
          <p:spPr>
            <a:xfrm>
              <a:off x="5871511" y="1934596"/>
              <a:ext cx="851162" cy="342900"/>
            </a:xfrm>
            <a:prstGeom prst="roundRect">
              <a:avLst>
                <a:gd name="adj" fmla="val 2416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4"/>
              <a:endCxn id="23" idx="0"/>
            </p:cNvCxnSpPr>
            <p:nvPr/>
          </p:nvCxnSpPr>
          <p:spPr>
            <a:xfrm>
              <a:off x="6297091" y="1774006"/>
              <a:ext cx="1" cy="1605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6153092" y="1486007"/>
              <a:ext cx="288000"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40" name="テキスト ボックス 39"/>
          <p:cNvSpPr txBox="1"/>
          <p:nvPr/>
        </p:nvSpPr>
        <p:spPr>
          <a:xfrm>
            <a:off x="5421313" y="653843"/>
            <a:ext cx="4234692" cy="2512419"/>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右グリップスライドスイッチの設定ができます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voltage</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Center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ニュートラル位置の電圧の確認、設定ができます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Neutral Dead Band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不感帯の確認、設定ができます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Range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操作範囲</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r>
              <a:rPr lang="ja-JP" altLang="en-US" sz="786" dirty="0">
                <a:latin typeface="Meiryo UI" panose="020B0604030504040204" pitchFamily="50" charset="-128"/>
                <a:ea typeface="Meiryo UI" panose="020B0604030504040204" pitchFamily="50" charset="-128"/>
                <a:cs typeface="Meiryo UI" panose="020B0604030504040204" pitchFamily="50" charset="-128"/>
              </a:rPr>
              <a:t>例</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:2300-1500=800, 2700+1500=4200</a:t>
            </a:r>
          </a:p>
          <a:p>
            <a:pPr marL="385722"/>
            <a:r>
              <a:rPr lang="ja-JP" altLang="en-US" sz="786" dirty="0">
                <a:latin typeface="Meiryo UI" panose="020B0604030504040204" pitchFamily="50" charset="-128"/>
                <a:ea typeface="Meiryo UI" panose="020B0604030504040204" pitchFamily="50" charset="-128"/>
                <a:cs typeface="Meiryo UI" panose="020B0604030504040204" pitchFamily="50" charset="-128"/>
              </a:rPr>
              <a:t> ⇒ </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800-2300mV, 2700-4200mV</a:t>
            </a:r>
            <a:r>
              <a:rPr lang="ja-JP" altLang="en-US" sz="786" dirty="0">
                <a:latin typeface="Meiryo UI" panose="020B0604030504040204" pitchFamily="50" charset="-128"/>
                <a:ea typeface="Meiryo UI" panose="020B0604030504040204" pitchFamily="50" charset="-128"/>
                <a:cs typeface="Meiryo UI" panose="020B0604030504040204" pitchFamily="50" charset="-128"/>
              </a:rPr>
              <a:t>が作動範囲</a:t>
            </a:r>
            <a:endParaRPr lang="en-US" altLang="ja-JP" sz="786" dirty="0">
              <a:latin typeface="Meiryo UI" panose="020B0604030504040204" pitchFamily="50" charset="-128"/>
              <a:ea typeface="Meiryo UI" panose="020B0604030504040204" pitchFamily="50" charset="-128"/>
              <a:cs typeface="Meiryo UI" panose="020B0604030504040204" pitchFamily="50" charset="-128"/>
            </a:endParaRPr>
          </a:p>
          <a:p>
            <a:pPr marL="257148"/>
            <a:r>
              <a:rPr lang="ja-JP" altLang="en-US" sz="786" dirty="0">
                <a:latin typeface="Meiryo UI" panose="020B0604030504040204" pitchFamily="50" charset="-128"/>
                <a:ea typeface="Meiryo UI" panose="020B0604030504040204" pitchFamily="50" charset="-128"/>
                <a:cs typeface="Meiryo UI" panose="020B0604030504040204" pitchFamily="50" charset="-128"/>
              </a:rPr>
              <a:t>例</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:2500-200=2300, 2500+200=2700</a:t>
            </a:r>
          </a:p>
          <a:p>
            <a:pPr marL="385722"/>
            <a:r>
              <a:rPr lang="ja-JP" altLang="en-US" sz="786" dirty="0">
                <a:latin typeface="Meiryo UI" panose="020B0604030504040204" pitchFamily="50" charset="-128"/>
                <a:ea typeface="Meiryo UI" panose="020B0604030504040204" pitchFamily="50" charset="-128"/>
                <a:cs typeface="Meiryo UI" panose="020B0604030504040204" pitchFamily="50" charset="-128"/>
              </a:rPr>
              <a:t>⇒</a:t>
            </a:r>
            <a:r>
              <a:rPr lang="en-US" altLang="ja-JP" sz="786" dirty="0">
                <a:latin typeface="Meiryo UI" panose="020B0604030504040204" pitchFamily="50" charset="-128"/>
                <a:ea typeface="Meiryo UI" panose="020B0604030504040204" pitchFamily="50" charset="-128"/>
                <a:cs typeface="Meiryo UI" panose="020B0604030504040204" pitchFamily="50" charset="-128"/>
              </a:rPr>
              <a:t>2300-2700mV</a:t>
            </a:r>
            <a:r>
              <a:rPr lang="ja-JP" altLang="en-US" sz="786" dirty="0">
                <a:latin typeface="Meiryo UI" panose="020B0604030504040204" pitchFamily="50" charset="-128"/>
                <a:ea typeface="Meiryo UI" panose="020B0604030504040204" pitchFamily="50" charset="-128"/>
                <a:cs typeface="Meiryo UI" panose="020B0604030504040204" pitchFamily="50" charset="-128"/>
              </a:rPr>
              <a:t>が不感帯</a:t>
            </a:r>
            <a:endParaRPr lang="en-US" altLang="ja-JP" sz="786" dirty="0">
              <a:latin typeface="Meiryo UI" panose="020B0604030504040204" pitchFamily="50" charset="-128"/>
              <a:ea typeface="Meiryo UI" panose="020B0604030504040204" pitchFamily="50" charset="-128"/>
              <a:cs typeface="Meiryo UI" panose="020B0604030504040204" pitchFamily="50" charset="-128"/>
            </a:endParaRPr>
          </a:p>
          <a:p>
            <a:pPr marL="129270">
              <a:spcBef>
                <a:spcPts val="429"/>
              </a:spcBef>
            </a:pPr>
            <a:r>
              <a:rPr lang="ja-JP" altLang="en-US" sz="786" dirty="0">
                <a:latin typeface="Meiryo UI" panose="020B0604030504040204" pitchFamily="50" charset="-128"/>
                <a:ea typeface="Meiryo UI" panose="020B0604030504040204" pitchFamily="50" charset="-128"/>
                <a:cs typeface="Meiryo UI" panose="020B0604030504040204" pitchFamily="50" charset="-128"/>
              </a:rPr>
              <a:t>上記の変更は下の出力線図に反映されます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808038">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08038"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808038">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defTabSz="808038">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左グリップスライドスイッチの設定を初期化します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1462F1B5-9B91-8917-6E39-0078F20E2D08}"/>
              </a:ext>
            </a:extLst>
          </p:cNvPr>
          <p:cNvSpPr>
            <a:spLocks noGrp="1"/>
          </p:cNvSpPr>
          <p:nvPr>
            <p:ph type="body" sz="quarter" idx="10"/>
          </p:nvPr>
        </p:nvSpPr>
        <p:spPr/>
        <p:txBody>
          <a:bodyPr/>
          <a:lstStyle/>
          <a:p>
            <a:r>
              <a:rPr lang="en-US" altLang="ja-JP" dirty="0"/>
              <a:t>Grip R Slide Setting</a:t>
            </a:r>
            <a:r>
              <a:rPr lang="ja-JP" altLang="en-US" dirty="0"/>
              <a:t>画面</a:t>
            </a:r>
          </a:p>
        </p:txBody>
      </p:sp>
    </p:spTree>
    <p:extLst>
      <p:ext uri="{BB962C8B-B14F-4D97-AF65-F5344CB8AC3E}">
        <p14:creationId xmlns:p14="http://schemas.microsoft.com/office/powerpoint/2010/main" val="676392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DC65C9DB-C37A-FB19-B978-C0433CA42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22822" y="583799"/>
            <a:ext cx="586589" cy="578250"/>
            <a:chOff x="6028503" y="355342"/>
            <a:chExt cx="821225" cy="809550"/>
          </a:xfrm>
        </p:grpSpPr>
        <p:sp>
          <p:nvSpPr>
            <p:cNvPr id="10" name="角丸四角形 9"/>
            <p:cNvSpPr/>
            <p:nvPr/>
          </p:nvSpPr>
          <p:spPr>
            <a:xfrm>
              <a:off x="6028503" y="824335"/>
              <a:ext cx="821225"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39116"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511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6151" y="580624"/>
            <a:ext cx="586590" cy="581426"/>
            <a:chOff x="2990029" y="355342"/>
            <a:chExt cx="821226" cy="813997"/>
          </a:xfrm>
        </p:grpSpPr>
        <p:sp>
          <p:nvSpPr>
            <p:cNvPr id="13" name="角丸四角形 12"/>
            <p:cNvSpPr/>
            <p:nvPr/>
          </p:nvSpPr>
          <p:spPr>
            <a:xfrm>
              <a:off x="2990029" y="824337"/>
              <a:ext cx="821226"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0642"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6642"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9910" y="575895"/>
            <a:ext cx="586590" cy="579805"/>
            <a:chOff x="2256604" y="357611"/>
            <a:chExt cx="821226" cy="811728"/>
          </a:xfrm>
        </p:grpSpPr>
        <p:sp>
          <p:nvSpPr>
            <p:cNvPr id="17" name="角丸四角形 16"/>
            <p:cNvSpPr/>
            <p:nvPr/>
          </p:nvSpPr>
          <p:spPr>
            <a:xfrm>
              <a:off x="2256604" y="824337"/>
              <a:ext cx="821226" cy="34500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7217" y="645611"/>
              <a:ext cx="0" cy="1787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3217" y="35761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2" name="テキスト ボックス 21"/>
          <p:cNvSpPr txBox="1"/>
          <p:nvPr/>
        </p:nvSpPr>
        <p:spPr>
          <a:xfrm>
            <a:off x="5421313" y="657225"/>
            <a:ext cx="4234692" cy="147726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6C1632F9-53FB-7548-DB7E-6E7DA792320B}"/>
              </a:ext>
            </a:extLst>
          </p:cNvPr>
          <p:cNvSpPr>
            <a:spLocks noGrp="1"/>
          </p:cNvSpPr>
          <p:nvPr>
            <p:ph type="body" sz="quarter" idx="10"/>
          </p:nvPr>
        </p:nvSpPr>
        <p:spPr/>
        <p:txBody>
          <a:bodyPr/>
          <a:lstStyle/>
          <a:p>
            <a:r>
              <a:rPr lang="en-US" altLang="ja-JP" dirty="0"/>
              <a:t>AUX2 Stroke Setting</a:t>
            </a:r>
            <a:r>
              <a:rPr lang="ja-JP" altLang="en-US" dirty="0"/>
              <a:t>画面</a:t>
            </a:r>
          </a:p>
        </p:txBody>
      </p:sp>
    </p:spTree>
    <p:extLst>
      <p:ext uri="{BB962C8B-B14F-4D97-AF65-F5344CB8AC3E}">
        <p14:creationId xmlns:p14="http://schemas.microsoft.com/office/powerpoint/2010/main" val="941463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折れ線グラフ&#10;&#10;中程度の精度で自動的に生成された説明">
            <a:extLst>
              <a:ext uri="{FF2B5EF4-FFF2-40B4-BE49-F238E27FC236}">
                <a16:creationId xmlns:a16="http://schemas.microsoft.com/office/drawing/2014/main" id="{440ECF0C-7D0A-3866-BF0F-30D7B65B7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3589"/>
            <a:ext cx="4857143" cy="3371429"/>
          </a:xfrm>
          <a:prstGeom prst="rect">
            <a:avLst/>
          </a:prstGeom>
        </p:spPr>
      </p:pic>
      <p:grpSp>
        <p:nvGrpSpPr>
          <p:cNvPr id="56" name="グループ化 55"/>
          <p:cNvGrpSpPr/>
          <p:nvPr/>
        </p:nvGrpSpPr>
        <p:grpSpPr>
          <a:xfrm>
            <a:off x="4613580" y="575895"/>
            <a:ext cx="601357" cy="586156"/>
            <a:chOff x="6028503" y="356626"/>
            <a:chExt cx="841900" cy="820618"/>
          </a:xfrm>
        </p:grpSpPr>
        <p:sp>
          <p:nvSpPr>
            <p:cNvPr id="10" name="角丸四角形 9"/>
            <p:cNvSpPr/>
            <p:nvPr/>
          </p:nvSpPr>
          <p:spPr>
            <a:xfrm>
              <a:off x="6028503" y="824337"/>
              <a:ext cx="841900" cy="35290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9452" y="644625"/>
              <a:ext cx="1" cy="1797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5452" y="35662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0815" y="653589"/>
            <a:ext cx="4234692" cy="966162"/>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の微</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操作時のソレノイド出力電流を設定できます。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821"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9" name="グループ化 8"/>
          <p:cNvGrpSpPr/>
          <p:nvPr/>
        </p:nvGrpSpPr>
        <p:grpSpPr>
          <a:xfrm>
            <a:off x="2515519" y="575895"/>
            <a:ext cx="587383" cy="579010"/>
            <a:chOff x="2990028" y="354278"/>
            <a:chExt cx="822336" cy="810614"/>
          </a:xfrm>
        </p:grpSpPr>
        <p:sp>
          <p:nvSpPr>
            <p:cNvPr id="13" name="角丸四角形 12"/>
            <p:cNvSpPr/>
            <p:nvPr/>
          </p:nvSpPr>
          <p:spPr>
            <a:xfrm>
              <a:off x="2990028" y="824335"/>
              <a:ext cx="822336"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1197" y="642278"/>
              <a:ext cx="0" cy="18205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7197" y="35427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16" name="グループ化 15"/>
          <p:cNvGrpSpPr/>
          <p:nvPr/>
        </p:nvGrpSpPr>
        <p:grpSpPr>
          <a:xfrm>
            <a:off x="1896260" y="575895"/>
            <a:ext cx="587384" cy="581394"/>
            <a:chOff x="2256604" y="350945"/>
            <a:chExt cx="822338" cy="813951"/>
          </a:xfrm>
        </p:grpSpPr>
        <p:sp>
          <p:nvSpPr>
            <p:cNvPr id="17" name="角丸四角形 16"/>
            <p:cNvSpPr/>
            <p:nvPr/>
          </p:nvSpPr>
          <p:spPr>
            <a:xfrm>
              <a:off x="2256604" y="824337"/>
              <a:ext cx="822338" cy="3405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7773" y="638944"/>
              <a:ext cx="0" cy="1853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3773" y="35094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5" name="テキスト プレースホルダー 24">
            <a:extLst>
              <a:ext uri="{FF2B5EF4-FFF2-40B4-BE49-F238E27FC236}">
                <a16:creationId xmlns:a16="http://schemas.microsoft.com/office/drawing/2014/main" id="{4780794F-3379-6349-19F8-8CEB8E702AC2}"/>
              </a:ext>
            </a:extLst>
          </p:cNvPr>
          <p:cNvSpPr>
            <a:spLocks noGrp="1"/>
          </p:cNvSpPr>
          <p:nvPr>
            <p:ph type="body" sz="quarter" idx="10"/>
          </p:nvPr>
        </p:nvSpPr>
        <p:spPr/>
        <p:txBody>
          <a:bodyPr/>
          <a:lstStyle/>
          <a:p>
            <a:r>
              <a:rPr lang="en-US" altLang="ja-JP" dirty="0"/>
              <a:t>AUX2 Lifting Operation</a:t>
            </a:r>
            <a:r>
              <a:rPr lang="ja-JP" altLang="en-US" dirty="0"/>
              <a:t>画面</a:t>
            </a:r>
          </a:p>
        </p:txBody>
      </p:sp>
    </p:spTree>
    <p:extLst>
      <p:ext uri="{BB962C8B-B14F-4D97-AF65-F5344CB8AC3E}">
        <p14:creationId xmlns:p14="http://schemas.microsoft.com/office/powerpoint/2010/main" val="318156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EFFF22D2-7B4C-8293-018F-F01AF78598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23602" y="590214"/>
            <a:ext cx="578030" cy="567072"/>
            <a:chOff x="6028504" y="366010"/>
            <a:chExt cx="809242" cy="793901"/>
          </a:xfrm>
        </p:grpSpPr>
        <p:sp>
          <p:nvSpPr>
            <p:cNvPr id="10" name="角丸四角形 9"/>
            <p:cNvSpPr/>
            <p:nvPr/>
          </p:nvSpPr>
          <p:spPr>
            <a:xfrm>
              <a:off x="6028504" y="824335"/>
              <a:ext cx="809242" cy="33557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33125" y="654010"/>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89125" y="36601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9326" y="591297"/>
            <a:ext cx="582488" cy="565991"/>
            <a:chOff x="2990029" y="379174"/>
            <a:chExt cx="815483" cy="792388"/>
          </a:xfrm>
        </p:grpSpPr>
        <p:sp>
          <p:nvSpPr>
            <p:cNvPr id="13" name="角丸四角形 12"/>
            <p:cNvSpPr/>
            <p:nvPr/>
          </p:nvSpPr>
          <p:spPr>
            <a:xfrm>
              <a:off x="2990029" y="824337"/>
              <a:ext cx="815483" cy="34722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397771" y="667174"/>
              <a:ext cx="0" cy="15716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3771" y="37917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1973" y="575152"/>
            <a:ext cx="589765" cy="586897"/>
            <a:chOff x="2256603" y="363239"/>
            <a:chExt cx="825671" cy="821656"/>
          </a:xfrm>
        </p:grpSpPr>
        <p:sp>
          <p:nvSpPr>
            <p:cNvPr id="17" name="角丸四角形 16"/>
            <p:cNvSpPr/>
            <p:nvPr/>
          </p:nvSpPr>
          <p:spPr>
            <a:xfrm>
              <a:off x="2256603" y="824335"/>
              <a:ext cx="825671"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9438" y="651239"/>
              <a:ext cx="1" cy="1730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5438" y="36323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7225"/>
            <a:ext cx="4234692" cy="1724575"/>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Default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出荷時の流量設定が確認できます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0" name="グループ化 19"/>
          <p:cNvGrpSpPr/>
          <p:nvPr/>
        </p:nvGrpSpPr>
        <p:grpSpPr>
          <a:xfrm>
            <a:off x="4004968" y="589941"/>
            <a:ext cx="582488" cy="567346"/>
            <a:chOff x="2990029" y="366010"/>
            <a:chExt cx="815483" cy="794285"/>
          </a:xfrm>
        </p:grpSpPr>
        <p:sp>
          <p:nvSpPr>
            <p:cNvPr id="21" name="角丸四角形 20"/>
            <p:cNvSpPr/>
            <p:nvPr/>
          </p:nvSpPr>
          <p:spPr>
            <a:xfrm>
              <a:off x="2990029" y="824335"/>
              <a:ext cx="815483" cy="3359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2" name="直線矢印コネクタ 21"/>
            <p:cNvCxnSpPr>
              <a:cxnSpLocks/>
              <a:stCxn id="23" idx="4"/>
              <a:endCxn id="21" idx="0"/>
            </p:cNvCxnSpPr>
            <p:nvPr/>
          </p:nvCxnSpPr>
          <p:spPr>
            <a:xfrm>
              <a:off x="3397771" y="654010"/>
              <a:ext cx="0" cy="1703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円/楕円 22"/>
            <p:cNvSpPr/>
            <p:nvPr/>
          </p:nvSpPr>
          <p:spPr>
            <a:xfrm>
              <a:off x="3253771" y="36601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5D0D65C4-678B-41A6-55B5-D55BE38C7EFC}"/>
              </a:ext>
            </a:extLst>
          </p:cNvPr>
          <p:cNvSpPr>
            <a:spLocks noGrp="1"/>
          </p:cNvSpPr>
          <p:nvPr>
            <p:ph type="body" sz="quarter" idx="10"/>
          </p:nvPr>
        </p:nvSpPr>
        <p:spPr/>
        <p:txBody>
          <a:bodyPr/>
          <a:lstStyle/>
          <a:p>
            <a:r>
              <a:rPr lang="en-US" altLang="ja-JP" dirty="0"/>
              <a:t>AUX2 Current Setting</a:t>
            </a:r>
            <a:r>
              <a:rPr lang="ja-JP" altLang="en-US" dirty="0"/>
              <a:t>画面</a:t>
            </a:r>
          </a:p>
        </p:txBody>
      </p:sp>
    </p:spTree>
    <p:extLst>
      <p:ext uri="{BB962C8B-B14F-4D97-AF65-F5344CB8AC3E}">
        <p14:creationId xmlns:p14="http://schemas.microsoft.com/office/powerpoint/2010/main" val="3323662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9E362E63-B1FE-CDDA-BD1A-684015843380}"/>
              </a:ext>
            </a:extLst>
          </p:cNvPr>
          <p:cNvSpPr>
            <a:spLocks noGrp="1"/>
          </p:cNvSpPr>
          <p:nvPr>
            <p:ph type="body" sz="quarter" idx="10"/>
          </p:nvPr>
        </p:nvSpPr>
        <p:spPr/>
        <p:txBody>
          <a:bodyPr/>
          <a:lstStyle/>
          <a:p>
            <a:r>
              <a:rPr lang="en-US" altLang="ja-JP" dirty="0"/>
              <a:t>AUX2 Factory Default</a:t>
            </a:r>
            <a:r>
              <a:rPr lang="ja-JP" altLang="en-US" dirty="0"/>
              <a:t>画面</a:t>
            </a:r>
          </a:p>
        </p:txBody>
      </p:sp>
      <p:pic>
        <p:nvPicPr>
          <p:cNvPr id="2" name="コンテンツプレースホルダ 1"/>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44488" y="657225"/>
            <a:ext cx="4857750" cy="3371850"/>
          </a:xfrm>
          <a:prstGeom prst="rect">
            <a:avLst/>
          </a:prstGeom>
        </p:spPr>
      </p:pic>
      <p:grpSp>
        <p:nvGrpSpPr>
          <p:cNvPr id="56" name="グループ化 55"/>
          <p:cNvGrpSpPr/>
          <p:nvPr/>
        </p:nvGrpSpPr>
        <p:grpSpPr>
          <a:xfrm>
            <a:off x="4615836" y="554368"/>
            <a:ext cx="611481" cy="619111"/>
            <a:chOff x="6028503" y="335475"/>
            <a:chExt cx="856074" cy="866755"/>
          </a:xfrm>
        </p:grpSpPr>
        <p:sp>
          <p:nvSpPr>
            <p:cNvPr id="10" name="角丸四角形 9"/>
            <p:cNvSpPr/>
            <p:nvPr/>
          </p:nvSpPr>
          <p:spPr>
            <a:xfrm>
              <a:off x="6028503" y="824335"/>
              <a:ext cx="856074" cy="37789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6541" y="623474"/>
              <a:ext cx="0" cy="20086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2541" y="33547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471539"/>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ソレノイド出力線図の出荷時の設定を確認できます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445643"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60430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図 15" descr="グラフ, 折れ線グラフ&#10;&#10;自動的に生成された説明">
            <a:extLst>
              <a:ext uri="{FF2B5EF4-FFF2-40B4-BE49-F238E27FC236}">
                <a16:creationId xmlns:a16="http://schemas.microsoft.com/office/drawing/2014/main" id="{D345ED4A-2D93-5575-1550-F9CB4E47F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024" y="657225"/>
            <a:ext cx="4857143" cy="3371429"/>
          </a:xfrm>
          <a:prstGeom prst="rect">
            <a:avLst/>
          </a:prstGeom>
        </p:spPr>
      </p:pic>
      <p:grpSp>
        <p:nvGrpSpPr>
          <p:cNvPr id="56" name="グループ化 55"/>
          <p:cNvGrpSpPr/>
          <p:nvPr/>
        </p:nvGrpSpPr>
        <p:grpSpPr>
          <a:xfrm>
            <a:off x="4616164" y="577533"/>
            <a:ext cx="608300" cy="574990"/>
            <a:chOff x="6028504" y="340202"/>
            <a:chExt cx="851620" cy="804987"/>
          </a:xfrm>
        </p:grpSpPr>
        <p:sp>
          <p:nvSpPr>
            <p:cNvPr id="10" name="角丸四角形 9"/>
            <p:cNvSpPr/>
            <p:nvPr/>
          </p:nvSpPr>
          <p:spPr>
            <a:xfrm>
              <a:off x="6028504" y="804633"/>
              <a:ext cx="851620" cy="3405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4314" y="628202"/>
              <a:ext cx="0" cy="176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0314" y="34020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94087" y="581895"/>
            <a:ext cx="599289" cy="570629"/>
            <a:chOff x="2990028" y="366011"/>
            <a:chExt cx="839005" cy="798882"/>
          </a:xfrm>
        </p:grpSpPr>
        <p:sp>
          <p:nvSpPr>
            <p:cNvPr id="13" name="角丸四角形 12"/>
            <p:cNvSpPr/>
            <p:nvPr/>
          </p:nvSpPr>
          <p:spPr>
            <a:xfrm>
              <a:off x="2990028" y="824337"/>
              <a:ext cx="839005" cy="3405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9531" y="654011"/>
              <a:ext cx="0" cy="1703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5531" y="36601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6735" y="581895"/>
            <a:ext cx="599290" cy="570629"/>
            <a:chOff x="2256604" y="366011"/>
            <a:chExt cx="839006" cy="798881"/>
          </a:xfrm>
        </p:grpSpPr>
        <p:sp>
          <p:nvSpPr>
            <p:cNvPr id="17" name="角丸四角形 16"/>
            <p:cNvSpPr/>
            <p:nvPr/>
          </p:nvSpPr>
          <p:spPr>
            <a:xfrm>
              <a:off x="2256604" y="824335"/>
              <a:ext cx="839006"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6107" y="654011"/>
              <a:ext cx="0" cy="1703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32107" y="36601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60384"/>
            <a:ext cx="4234692" cy="1724575"/>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の圧力調整ソレノイドへの出力線図の確認と設定ができます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：設定をデフォルト値に戻します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 name="グループ化 2">
            <a:extLst>
              <a:ext uri="{FF2B5EF4-FFF2-40B4-BE49-F238E27FC236}">
                <a16:creationId xmlns:a16="http://schemas.microsoft.com/office/drawing/2014/main" id="{A8973BF7-9EC5-2F78-2CA5-DB11583919B6}"/>
              </a:ext>
            </a:extLst>
          </p:cNvPr>
          <p:cNvGrpSpPr/>
          <p:nvPr/>
        </p:nvGrpSpPr>
        <p:grpSpPr>
          <a:xfrm>
            <a:off x="4008810" y="577533"/>
            <a:ext cx="593051" cy="574990"/>
            <a:chOff x="6028503" y="359907"/>
            <a:chExt cx="830272" cy="804986"/>
          </a:xfrm>
        </p:grpSpPr>
        <p:sp>
          <p:nvSpPr>
            <p:cNvPr id="5" name="角丸四角形 9">
              <a:extLst>
                <a:ext uri="{FF2B5EF4-FFF2-40B4-BE49-F238E27FC236}">
                  <a16:creationId xmlns:a16="http://schemas.microsoft.com/office/drawing/2014/main" id="{F5CD5BFD-0344-D58C-AC7C-20044B08FC26}"/>
                </a:ext>
              </a:extLst>
            </p:cNvPr>
            <p:cNvSpPr/>
            <p:nvPr/>
          </p:nvSpPr>
          <p:spPr>
            <a:xfrm>
              <a:off x="6028503" y="824337"/>
              <a:ext cx="830272" cy="3405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6" name="直線矢印コネクタ 5">
              <a:extLst>
                <a:ext uri="{FF2B5EF4-FFF2-40B4-BE49-F238E27FC236}">
                  <a16:creationId xmlns:a16="http://schemas.microsoft.com/office/drawing/2014/main" id="{C86C36F5-BFC0-DE84-2EBA-816F99344536}"/>
                </a:ext>
              </a:extLst>
            </p:cNvPr>
            <p:cNvCxnSpPr>
              <a:cxnSpLocks/>
              <a:stCxn id="7" idx="4"/>
              <a:endCxn id="5" idx="0"/>
            </p:cNvCxnSpPr>
            <p:nvPr/>
          </p:nvCxnSpPr>
          <p:spPr>
            <a:xfrm>
              <a:off x="6443638" y="647907"/>
              <a:ext cx="1" cy="1764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円/楕円 11">
              <a:extLst>
                <a:ext uri="{FF2B5EF4-FFF2-40B4-BE49-F238E27FC236}">
                  <a16:creationId xmlns:a16="http://schemas.microsoft.com/office/drawing/2014/main" id="{15797974-FF44-3935-CAF6-E0E8672C21AE}"/>
                </a:ext>
              </a:extLst>
            </p:cNvPr>
            <p:cNvSpPr/>
            <p:nvPr/>
          </p:nvSpPr>
          <p:spPr>
            <a:xfrm>
              <a:off x="6299638" y="35990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p>
          </p:txBody>
        </p:sp>
      </p:grpSp>
      <p:sp>
        <p:nvSpPr>
          <p:cNvPr id="22" name="テキスト プレースホルダー 21">
            <a:extLst>
              <a:ext uri="{FF2B5EF4-FFF2-40B4-BE49-F238E27FC236}">
                <a16:creationId xmlns:a16="http://schemas.microsoft.com/office/drawing/2014/main" id="{089401E1-63BD-A4DA-6AEB-1F80C1C124E3}"/>
              </a:ext>
            </a:extLst>
          </p:cNvPr>
          <p:cNvSpPr>
            <a:spLocks noGrp="1"/>
          </p:cNvSpPr>
          <p:nvPr>
            <p:ph type="body" sz="quarter" idx="10"/>
          </p:nvPr>
        </p:nvSpPr>
        <p:spPr/>
        <p:txBody>
          <a:bodyPr/>
          <a:lstStyle/>
          <a:p>
            <a:r>
              <a:rPr lang="en-US" altLang="ja-JP" dirty="0"/>
              <a:t>AUX2 Pressure Setting</a:t>
            </a:r>
            <a:r>
              <a:rPr lang="ja-JP" altLang="en-US" dirty="0"/>
              <a:t>画面</a:t>
            </a:r>
          </a:p>
        </p:txBody>
      </p:sp>
    </p:spTree>
    <p:extLst>
      <p:ext uri="{BB962C8B-B14F-4D97-AF65-F5344CB8AC3E}">
        <p14:creationId xmlns:p14="http://schemas.microsoft.com/office/powerpoint/2010/main" val="1290529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286E64E4-2EDE-B942-B286-4FBE8D57A9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05363" y="583514"/>
            <a:ext cx="604813" cy="573772"/>
            <a:chOff x="6028503" y="374945"/>
            <a:chExt cx="846738" cy="803281"/>
          </a:xfrm>
        </p:grpSpPr>
        <p:sp>
          <p:nvSpPr>
            <p:cNvPr id="10" name="角丸四角形 9"/>
            <p:cNvSpPr/>
            <p:nvPr/>
          </p:nvSpPr>
          <p:spPr>
            <a:xfrm>
              <a:off x="6028503" y="833270"/>
              <a:ext cx="846738" cy="3449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1873" y="662945"/>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7873" y="37494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0598" y="579037"/>
            <a:ext cx="595978" cy="578250"/>
            <a:chOff x="2990029" y="359741"/>
            <a:chExt cx="834369" cy="809550"/>
          </a:xfrm>
        </p:grpSpPr>
        <p:sp>
          <p:nvSpPr>
            <p:cNvPr id="13" name="角丸四角形 12"/>
            <p:cNvSpPr/>
            <p:nvPr/>
          </p:nvSpPr>
          <p:spPr>
            <a:xfrm>
              <a:off x="2990029" y="824335"/>
              <a:ext cx="834369" cy="3449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7214" y="647741"/>
              <a:ext cx="0" cy="1765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3214" y="35974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79530" y="575895"/>
            <a:ext cx="596970" cy="581392"/>
            <a:chOff x="2256604" y="350943"/>
            <a:chExt cx="835758" cy="813949"/>
          </a:xfrm>
        </p:grpSpPr>
        <p:sp>
          <p:nvSpPr>
            <p:cNvPr id="17" name="角丸四角形 16"/>
            <p:cNvSpPr/>
            <p:nvPr/>
          </p:nvSpPr>
          <p:spPr>
            <a:xfrm>
              <a:off x="2256604" y="824335"/>
              <a:ext cx="835758"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4483" y="638943"/>
              <a:ext cx="0" cy="1853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30483" y="35094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4405875" y="3666066"/>
            <a:ext cx="604275" cy="568847"/>
            <a:chOff x="5733228" y="4472411"/>
            <a:chExt cx="845985" cy="796386"/>
          </a:xfrm>
        </p:grpSpPr>
        <p:sp>
          <p:nvSpPr>
            <p:cNvPr id="20" name="角丸四角形 19"/>
            <p:cNvSpPr/>
            <p:nvPr/>
          </p:nvSpPr>
          <p:spPr>
            <a:xfrm>
              <a:off x="5733228" y="4472411"/>
              <a:ext cx="845985" cy="33485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0"/>
              <a:endCxn id="20" idx="2"/>
            </p:cNvCxnSpPr>
            <p:nvPr/>
          </p:nvCxnSpPr>
          <p:spPr>
            <a:xfrm flipH="1" flipV="1">
              <a:off x="6156221" y="4807267"/>
              <a:ext cx="290" cy="1735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12511" y="498079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grpSp>
        <p:nvGrpSpPr>
          <p:cNvPr id="55" name="グループ化 54"/>
          <p:cNvGrpSpPr/>
          <p:nvPr/>
        </p:nvGrpSpPr>
        <p:grpSpPr>
          <a:xfrm>
            <a:off x="3554185" y="951573"/>
            <a:ext cx="1465489" cy="1158215"/>
            <a:chOff x="4614212" y="904597"/>
            <a:chExt cx="2051685" cy="1621501"/>
          </a:xfrm>
        </p:grpSpPr>
        <p:sp>
          <p:nvSpPr>
            <p:cNvPr id="23" name="角丸四角形 22"/>
            <p:cNvSpPr/>
            <p:nvPr/>
          </p:nvSpPr>
          <p:spPr>
            <a:xfrm>
              <a:off x="4614212" y="1449221"/>
              <a:ext cx="2051685" cy="1076877"/>
            </a:xfrm>
            <a:prstGeom prst="roundRect">
              <a:avLst>
                <a:gd name="adj" fmla="val 7143"/>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4"/>
              <a:endCxn id="23" idx="0"/>
            </p:cNvCxnSpPr>
            <p:nvPr/>
          </p:nvCxnSpPr>
          <p:spPr>
            <a:xfrm>
              <a:off x="5640055" y="1192597"/>
              <a:ext cx="0" cy="2566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96055" y="90459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grpSp>
      <p:sp>
        <p:nvSpPr>
          <p:cNvPr id="40" name="テキスト ボックス 39"/>
          <p:cNvSpPr txBox="1"/>
          <p:nvPr/>
        </p:nvSpPr>
        <p:spPr>
          <a:xfrm>
            <a:off x="5421313" y="654623"/>
            <a:ext cx="4234692" cy="3554627"/>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 status</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スライドスイッチの操作量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 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 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Flow status</a:t>
            </a: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R flow rate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側の最大流量設定値</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Stroke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Exponential filter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出力電流値のフィルタ補正時間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Hone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⑤各設定画面へ移動します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328837F6-582D-BAFB-724C-D63A5A4CD53A}"/>
              </a:ext>
            </a:extLst>
          </p:cNvPr>
          <p:cNvSpPr>
            <a:spLocks noGrp="1"/>
          </p:cNvSpPr>
          <p:nvPr>
            <p:ph type="body" sz="quarter" idx="10"/>
          </p:nvPr>
        </p:nvSpPr>
        <p:spPr/>
        <p:txBody>
          <a:bodyPr/>
          <a:lstStyle/>
          <a:p>
            <a:r>
              <a:rPr lang="en-US" altLang="ja-JP" dirty="0"/>
              <a:t>AUX4</a:t>
            </a:r>
            <a:r>
              <a:rPr lang="ja-JP" altLang="en-US" dirty="0"/>
              <a:t>画面</a:t>
            </a:r>
          </a:p>
        </p:txBody>
      </p:sp>
    </p:spTree>
    <p:extLst>
      <p:ext uri="{BB962C8B-B14F-4D97-AF65-F5344CB8AC3E}">
        <p14:creationId xmlns:p14="http://schemas.microsoft.com/office/powerpoint/2010/main" val="3550275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AE4CC370-2B96-FDA2-6052-A575D4839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3589"/>
            <a:ext cx="4857143" cy="3371429"/>
          </a:xfrm>
          <a:prstGeom prst="rect">
            <a:avLst/>
          </a:prstGeom>
        </p:spPr>
      </p:pic>
      <p:grpSp>
        <p:nvGrpSpPr>
          <p:cNvPr id="56" name="グループ化 55"/>
          <p:cNvGrpSpPr/>
          <p:nvPr/>
        </p:nvGrpSpPr>
        <p:grpSpPr>
          <a:xfrm>
            <a:off x="4608676" y="575895"/>
            <a:ext cx="592954" cy="576630"/>
            <a:chOff x="6028504" y="355342"/>
            <a:chExt cx="830136" cy="807283"/>
          </a:xfrm>
        </p:grpSpPr>
        <p:sp>
          <p:nvSpPr>
            <p:cNvPr id="10" name="角丸四角形 9"/>
            <p:cNvSpPr/>
            <p:nvPr/>
          </p:nvSpPr>
          <p:spPr>
            <a:xfrm>
              <a:off x="6028504" y="824337"/>
              <a:ext cx="830136"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3572"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9572"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97153" y="575895"/>
            <a:ext cx="593560" cy="576630"/>
            <a:chOff x="2990029" y="355342"/>
            <a:chExt cx="830984" cy="807283"/>
          </a:xfrm>
        </p:grpSpPr>
        <p:sp>
          <p:nvSpPr>
            <p:cNvPr id="13" name="角丸四角形 12"/>
            <p:cNvSpPr/>
            <p:nvPr/>
          </p:nvSpPr>
          <p:spPr>
            <a:xfrm>
              <a:off x="2990029" y="824337"/>
              <a:ext cx="830984"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5521"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152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7701" y="581766"/>
            <a:ext cx="593561" cy="570759"/>
            <a:chOff x="2256603" y="363561"/>
            <a:chExt cx="830986" cy="799064"/>
          </a:xfrm>
        </p:grpSpPr>
        <p:sp>
          <p:nvSpPr>
            <p:cNvPr id="17" name="角丸四角形 16"/>
            <p:cNvSpPr/>
            <p:nvPr/>
          </p:nvSpPr>
          <p:spPr>
            <a:xfrm>
              <a:off x="2256603" y="824337"/>
              <a:ext cx="830986"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2097" y="651561"/>
              <a:ext cx="0" cy="17277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8097" y="36356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2" name="テキスト ボックス 21"/>
          <p:cNvSpPr txBox="1"/>
          <p:nvPr/>
        </p:nvSpPr>
        <p:spPr>
          <a:xfrm>
            <a:off x="5421313" y="652827"/>
            <a:ext cx="4234692" cy="147726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出力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9C165BDF-59A9-5C9E-9209-8D6E02B121A7}"/>
              </a:ext>
            </a:extLst>
          </p:cNvPr>
          <p:cNvSpPr>
            <a:spLocks noGrp="1"/>
          </p:cNvSpPr>
          <p:nvPr>
            <p:ph type="body" sz="quarter" idx="10"/>
          </p:nvPr>
        </p:nvSpPr>
        <p:spPr/>
        <p:txBody>
          <a:bodyPr/>
          <a:lstStyle/>
          <a:p>
            <a:r>
              <a:rPr lang="en-US" altLang="ja-JP" dirty="0"/>
              <a:t>AUX4 Stroke Setting</a:t>
            </a:r>
            <a:r>
              <a:rPr lang="ja-JP" altLang="en-US" dirty="0"/>
              <a:t>画面</a:t>
            </a:r>
          </a:p>
        </p:txBody>
      </p:sp>
    </p:spTree>
    <p:extLst>
      <p:ext uri="{BB962C8B-B14F-4D97-AF65-F5344CB8AC3E}">
        <p14:creationId xmlns:p14="http://schemas.microsoft.com/office/powerpoint/2010/main" val="2075499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10AEF4E3-6CC7-CA7A-DF67-3C5B68438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04741" y="575895"/>
            <a:ext cx="605436" cy="578250"/>
            <a:chOff x="6028503" y="355342"/>
            <a:chExt cx="847610" cy="809550"/>
          </a:xfrm>
        </p:grpSpPr>
        <p:sp>
          <p:nvSpPr>
            <p:cNvPr id="10" name="角丸四角形 9"/>
            <p:cNvSpPr/>
            <p:nvPr/>
          </p:nvSpPr>
          <p:spPr>
            <a:xfrm>
              <a:off x="6028503" y="824335"/>
              <a:ext cx="847610"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2308"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8308" y="355342"/>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6500" y="575895"/>
            <a:ext cx="589764" cy="578253"/>
            <a:chOff x="2990029" y="355342"/>
            <a:chExt cx="825670" cy="809554"/>
          </a:xfrm>
        </p:grpSpPr>
        <p:sp>
          <p:nvSpPr>
            <p:cNvPr id="13" name="角丸四角形 12"/>
            <p:cNvSpPr/>
            <p:nvPr/>
          </p:nvSpPr>
          <p:spPr>
            <a:xfrm>
              <a:off x="2990029" y="824337"/>
              <a:ext cx="825670" cy="3405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2864" y="643342"/>
              <a:ext cx="0" cy="1809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58864"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6735" y="575895"/>
            <a:ext cx="589765" cy="581394"/>
            <a:chOff x="2256603" y="350945"/>
            <a:chExt cx="825671" cy="813951"/>
          </a:xfrm>
        </p:grpSpPr>
        <p:sp>
          <p:nvSpPr>
            <p:cNvPr id="17" name="角丸四角形 16"/>
            <p:cNvSpPr/>
            <p:nvPr/>
          </p:nvSpPr>
          <p:spPr>
            <a:xfrm>
              <a:off x="2256603" y="824337"/>
              <a:ext cx="825671" cy="3405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9438" y="638944"/>
              <a:ext cx="1" cy="1853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5438" y="35094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7225"/>
            <a:ext cx="4234692" cy="1724575"/>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設定をデフォルト値に戻します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テキスト プレースホルダー 15">
            <a:extLst>
              <a:ext uri="{FF2B5EF4-FFF2-40B4-BE49-F238E27FC236}">
                <a16:creationId xmlns:a16="http://schemas.microsoft.com/office/drawing/2014/main" id="{03B6EAF5-1460-2502-B7F4-7899B26E54AB}"/>
              </a:ext>
            </a:extLst>
          </p:cNvPr>
          <p:cNvSpPr>
            <a:spLocks noGrp="1"/>
          </p:cNvSpPr>
          <p:nvPr>
            <p:ph type="body" sz="quarter" idx="10"/>
          </p:nvPr>
        </p:nvSpPr>
        <p:spPr/>
        <p:txBody>
          <a:bodyPr/>
          <a:lstStyle/>
          <a:p>
            <a:r>
              <a:rPr lang="en-US" altLang="ja-JP" dirty="0"/>
              <a:t>AUX4 Current Setting</a:t>
            </a:r>
            <a:r>
              <a:rPr lang="ja-JP" altLang="en-US" dirty="0"/>
              <a:t>画面</a:t>
            </a:r>
          </a:p>
        </p:txBody>
      </p:sp>
      <p:grpSp>
        <p:nvGrpSpPr>
          <p:cNvPr id="28" name="グループ化 27">
            <a:extLst>
              <a:ext uri="{FF2B5EF4-FFF2-40B4-BE49-F238E27FC236}">
                <a16:creationId xmlns:a16="http://schemas.microsoft.com/office/drawing/2014/main" id="{AD84512B-0E0C-1291-963E-F9279F7666D4}"/>
              </a:ext>
            </a:extLst>
          </p:cNvPr>
          <p:cNvGrpSpPr/>
          <p:nvPr/>
        </p:nvGrpSpPr>
        <p:grpSpPr>
          <a:xfrm>
            <a:off x="3985616" y="575895"/>
            <a:ext cx="605436" cy="578250"/>
            <a:chOff x="6028503" y="355342"/>
            <a:chExt cx="847610" cy="809550"/>
          </a:xfrm>
        </p:grpSpPr>
        <p:sp>
          <p:nvSpPr>
            <p:cNvPr id="29" name="角丸四角形 9">
              <a:extLst>
                <a:ext uri="{FF2B5EF4-FFF2-40B4-BE49-F238E27FC236}">
                  <a16:creationId xmlns:a16="http://schemas.microsoft.com/office/drawing/2014/main" id="{99D1CD43-8781-FE19-F8EB-134AC8A365ED}"/>
                </a:ext>
              </a:extLst>
            </p:cNvPr>
            <p:cNvSpPr/>
            <p:nvPr/>
          </p:nvSpPr>
          <p:spPr>
            <a:xfrm>
              <a:off x="6028503" y="824335"/>
              <a:ext cx="847610"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0" name="直線矢印コネクタ 29">
              <a:extLst>
                <a:ext uri="{FF2B5EF4-FFF2-40B4-BE49-F238E27FC236}">
                  <a16:creationId xmlns:a16="http://schemas.microsoft.com/office/drawing/2014/main" id="{8B393AAF-BE14-7609-0471-7E301AFA48E5}"/>
                </a:ext>
              </a:extLst>
            </p:cNvPr>
            <p:cNvCxnSpPr>
              <a:cxnSpLocks/>
              <a:stCxn id="31" idx="4"/>
              <a:endCxn id="29" idx="0"/>
            </p:cNvCxnSpPr>
            <p:nvPr/>
          </p:nvCxnSpPr>
          <p:spPr>
            <a:xfrm>
              <a:off x="6452308"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円/楕円 11">
              <a:extLst>
                <a:ext uri="{FF2B5EF4-FFF2-40B4-BE49-F238E27FC236}">
                  <a16:creationId xmlns:a16="http://schemas.microsoft.com/office/drawing/2014/main" id="{0A88F42E-98F3-FEED-02D1-642888B8F34D}"/>
                </a:ext>
              </a:extLst>
            </p:cNvPr>
            <p:cNvSpPr/>
            <p:nvPr/>
          </p:nvSpPr>
          <p:spPr>
            <a:xfrm>
              <a:off x="6308308" y="355342"/>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Tree>
    <p:extLst>
      <p:ext uri="{BB962C8B-B14F-4D97-AF65-F5344CB8AC3E}">
        <p14:creationId xmlns:p14="http://schemas.microsoft.com/office/powerpoint/2010/main" val="1845632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0D50C7B7-0269-D6E4-8681-DEAAEEAA7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614888" y="591419"/>
            <a:ext cx="604813" cy="570630"/>
            <a:chOff x="6028503" y="366010"/>
            <a:chExt cx="846738" cy="798882"/>
          </a:xfrm>
        </p:grpSpPr>
        <p:sp>
          <p:nvSpPr>
            <p:cNvPr id="10" name="角丸四角形 9"/>
            <p:cNvSpPr/>
            <p:nvPr/>
          </p:nvSpPr>
          <p:spPr>
            <a:xfrm>
              <a:off x="6028503" y="824335"/>
              <a:ext cx="846738"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1873" y="654010"/>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7873" y="36601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5" name="グループ化 54"/>
          <p:cNvGrpSpPr/>
          <p:nvPr/>
        </p:nvGrpSpPr>
        <p:grpSpPr>
          <a:xfrm>
            <a:off x="2205387" y="1349694"/>
            <a:ext cx="1456975" cy="906366"/>
            <a:chOff x="4614212" y="1449221"/>
            <a:chExt cx="2039765" cy="1268912"/>
          </a:xfrm>
        </p:grpSpPr>
        <p:sp>
          <p:nvSpPr>
            <p:cNvPr id="23" name="角丸四角形 22"/>
            <p:cNvSpPr/>
            <p:nvPr/>
          </p:nvSpPr>
          <p:spPr>
            <a:xfrm>
              <a:off x="4614212" y="1449221"/>
              <a:ext cx="2039765" cy="750758"/>
            </a:xfrm>
            <a:prstGeom prst="roundRect">
              <a:avLst>
                <a:gd name="adj" fmla="val 964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0"/>
              <a:endCxn id="23" idx="2"/>
            </p:cNvCxnSpPr>
            <p:nvPr/>
          </p:nvCxnSpPr>
          <p:spPr>
            <a:xfrm flipV="1">
              <a:off x="5634095" y="2199979"/>
              <a:ext cx="0" cy="23015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490095" y="243013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61463"/>
            <a:ext cx="4234692" cy="200484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pedal 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 R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Pedal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510278"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②各設定画面へ移動します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086CB5E8-9EF3-9468-5CE2-94D99A1BF67B}"/>
              </a:ext>
            </a:extLst>
          </p:cNvPr>
          <p:cNvSpPr>
            <a:spLocks noGrp="1"/>
          </p:cNvSpPr>
          <p:nvPr>
            <p:ph type="body" sz="quarter" idx="10"/>
          </p:nvPr>
        </p:nvSpPr>
        <p:spPr/>
        <p:txBody>
          <a:bodyPr/>
          <a:lstStyle/>
          <a:p>
            <a:r>
              <a:rPr lang="en-US" altLang="ja-JP" dirty="0"/>
              <a:t>Swing</a:t>
            </a:r>
            <a:r>
              <a:rPr lang="ja-JP" altLang="en-US" dirty="0"/>
              <a:t>画面</a:t>
            </a:r>
          </a:p>
        </p:txBody>
      </p:sp>
    </p:spTree>
    <p:extLst>
      <p:ext uri="{BB962C8B-B14F-4D97-AF65-F5344CB8AC3E}">
        <p14:creationId xmlns:p14="http://schemas.microsoft.com/office/powerpoint/2010/main" val="1873397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73B06DF-4A0E-FF90-9FA2-37187BFD44C4}"/>
              </a:ext>
            </a:extLst>
          </p:cNvPr>
          <p:cNvPicPr>
            <a:picLocks noChangeAspect="1"/>
          </p:cNvPicPr>
          <p:nvPr/>
        </p:nvPicPr>
        <p:blipFill>
          <a:blip r:embed="rId2"/>
          <a:stretch>
            <a:fillRect/>
          </a:stretch>
        </p:blipFill>
        <p:spPr>
          <a:xfrm>
            <a:off x="353430" y="662355"/>
            <a:ext cx="4857750" cy="3371850"/>
          </a:xfrm>
          <a:prstGeom prst="rect">
            <a:avLst/>
          </a:prstGeom>
        </p:spPr>
      </p:pic>
      <p:grpSp>
        <p:nvGrpSpPr>
          <p:cNvPr id="56" name="グループ化 55"/>
          <p:cNvGrpSpPr/>
          <p:nvPr/>
        </p:nvGrpSpPr>
        <p:grpSpPr>
          <a:xfrm>
            <a:off x="4610125" y="574322"/>
            <a:ext cx="601733" cy="579826"/>
            <a:chOff x="6028503" y="335406"/>
            <a:chExt cx="842426" cy="811757"/>
          </a:xfrm>
        </p:grpSpPr>
        <p:sp>
          <p:nvSpPr>
            <p:cNvPr id="10" name="角丸四角形 9"/>
            <p:cNvSpPr/>
            <p:nvPr/>
          </p:nvSpPr>
          <p:spPr>
            <a:xfrm>
              <a:off x="6028503" y="824337"/>
              <a:ext cx="842426" cy="3228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9715" y="623406"/>
              <a:ext cx="1" cy="2009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5716" y="33540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64642" y="575895"/>
            <a:ext cx="601733" cy="578253"/>
            <a:chOff x="2990028" y="355342"/>
            <a:chExt cx="842427" cy="809554"/>
          </a:xfrm>
        </p:grpSpPr>
        <p:sp>
          <p:nvSpPr>
            <p:cNvPr id="13" name="角丸四角形 12"/>
            <p:cNvSpPr/>
            <p:nvPr/>
          </p:nvSpPr>
          <p:spPr>
            <a:xfrm>
              <a:off x="2990028" y="824338"/>
              <a:ext cx="842427" cy="34055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11241" y="643342"/>
              <a:ext cx="1" cy="1809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724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31905" y="575895"/>
            <a:ext cx="601733" cy="581394"/>
            <a:chOff x="2256603" y="350945"/>
            <a:chExt cx="842426" cy="813951"/>
          </a:xfrm>
        </p:grpSpPr>
        <p:sp>
          <p:nvSpPr>
            <p:cNvPr id="17" name="角丸四角形 16"/>
            <p:cNvSpPr/>
            <p:nvPr/>
          </p:nvSpPr>
          <p:spPr>
            <a:xfrm>
              <a:off x="2256603" y="824337"/>
              <a:ext cx="842426" cy="3405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7815" y="638944"/>
              <a:ext cx="1" cy="18539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33816" y="35094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2" name="円/楕円 21"/>
          <p:cNvSpPr/>
          <p:nvPr/>
        </p:nvSpPr>
        <p:spPr>
          <a:xfrm>
            <a:off x="250573" y="2673320"/>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sp>
        <p:nvSpPr>
          <p:cNvPr id="40" name="テキスト ボックス 39"/>
          <p:cNvSpPr txBox="1"/>
          <p:nvPr/>
        </p:nvSpPr>
        <p:spPr>
          <a:xfrm>
            <a:off x="5421313" y="653843"/>
            <a:ext cx="4234692" cy="4609788"/>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スイングペダルの設定ができます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1217864"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Pedal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Status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スイングペダルの現在の状態を確認できます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Sensor power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スイングペダルのセンサ電源電圧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a:t>
            </a: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t>
            </a: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Value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Neutral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中立位置判定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スイングペダルの可動範囲と中立位置の設定を行います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手順</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④を押して設定を開始します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スイングペダルをストッパに当たるまで左右に動かします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Max</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ペダルを離して⑤を押してください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Mid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（ガタがある場合は、右から戻したときと左から戻したとき、それぞれで⑤を押してください）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Low,Mid,High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の値が全て更新されたら⑥を押してください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③を押すと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Parameters</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に更新された値が表示されます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Parameters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現在の設定値の確認および変更ができます</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※2</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 Value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スイングペダルの出力電圧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High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可動範囲での最大電圧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Middle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中立位置での電圧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可動範囲での最小電圧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Middle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dead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band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中立位置での不感帯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High-Low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dead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band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最大最小位置での不感帯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Fault zone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エラー判定域</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：表示されている値はセンサ電源電圧を</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5V</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に換</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算したときの値です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円/楕円 25"/>
          <p:cNvSpPr/>
          <p:nvPr/>
        </p:nvSpPr>
        <p:spPr>
          <a:xfrm>
            <a:off x="250573" y="2958737"/>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sp>
        <p:nvSpPr>
          <p:cNvPr id="27" name="円/楕円 26"/>
          <p:cNvSpPr/>
          <p:nvPr/>
        </p:nvSpPr>
        <p:spPr>
          <a:xfrm>
            <a:off x="250573" y="3244154"/>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6</a:t>
            </a:r>
            <a:endParaRPr lang="ja-JP" altLang="en-US" sz="1286" dirty="0">
              <a:solidFill>
                <a:srgbClr val="FF0000"/>
              </a:solidFill>
            </a:endParaRPr>
          </a:p>
        </p:txBody>
      </p:sp>
      <p:sp>
        <p:nvSpPr>
          <p:cNvPr id="8" name="テキスト プレースホルダー 7">
            <a:extLst>
              <a:ext uri="{FF2B5EF4-FFF2-40B4-BE49-F238E27FC236}">
                <a16:creationId xmlns:a16="http://schemas.microsoft.com/office/drawing/2014/main" id="{E01F9518-A931-B4CB-0323-4B5851A1D4F0}"/>
              </a:ext>
            </a:extLst>
          </p:cNvPr>
          <p:cNvSpPr>
            <a:spLocks noGrp="1"/>
          </p:cNvSpPr>
          <p:nvPr>
            <p:ph type="body" sz="quarter" idx="10"/>
          </p:nvPr>
        </p:nvSpPr>
        <p:spPr/>
        <p:txBody>
          <a:bodyPr/>
          <a:lstStyle/>
          <a:p>
            <a:r>
              <a:rPr lang="en-US" altLang="ja-JP" dirty="0"/>
              <a:t>Swing Pedal Setting</a:t>
            </a:r>
            <a:r>
              <a:rPr lang="ja-JP" altLang="en-US" dirty="0"/>
              <a:t>画面</a:t>
            </a:r>
          </a:p>
        </p:txBody>
      </p:sp>
    </p:spTree>
    <p:extLst>
      <p:ext uri="{BB962C8B-B14F-4D97-AF65-F5344CB8AC3E}">
        <p14:creationId xmlns:p14="http://schemas.microsoft.com/office/powerpoint/2010/main" val="2469243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E3220438-5322-54BC-25CF-0C52764DE4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3589"/>
            <a:ext cx="4857143" cy="3371429"/>
          </a:xfrm>
          <a:prstGeom prst="rect">
            <a:avLst/>
          </a:prstGeom>
        </p:spPr>
      </p:pic>
      <p:grpSp>
        <p:nvGrpSpPr>
          <p:cNvPr id="56" name="グループ化 55"/>
          <p:cNvGrpSpPr/>
          <p:nvPr/>
        </p:nvGrpSpPr>
        <p:grpSpPr>
          <a:xfrm>
            <a:off x="4605437" y="575895"/>
            <a:ext cx="609499" cy="576628"/>
            <a:chOff x="6028503" y="355342"/>
            <a:chExt cx="853299" cy="807279"/>
          </a:xfrm>
        </p:grpSpPr>
        <p:sp>
          <p:nvSpPr>
            <p:cNvPr id="10" name="角丸四角形 9"/>
            <p:cNvSpPr/>
            <p:nvPr/>
          </p:nvSpPr>
          <p:spPr>
            <a:xfrm>
              <a:off x="6028503" y="824335"/>
              <a:ext cx="853299" cy="33828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1186" y="643342"/>
              <a:ext cx="3968"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7186"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6498" y="575895"/>
            <a:ext cx="602976" cy="576628"/>
            <a:chOff x="2990029" y="355342"/>
            <a:chExt cx="844167" cy="807279"/>
          </a:xfrm>
        </p:grpSpPr>
        <p:sp>
          <p:nvSpPr>
            <p:cNvPr id="13" name="角丸四角形 12"/>
            <p:cNvSpPr/>
            <p:nvPr/>
          </p:nvSpPr>
          <p:spPr>
            <a:xfrm>
              <a:off x="2990029" y="824335"/>
              <a:ext cx="844167" cy="33828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12112"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811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73523" y="575895"/>
            <a:ext cx="602976" cy="576630"/>
            <a:chOff x="2256604" y="355342"/>
            <a:chExt cx="844167" cy="807283"/>
          </a:xfrm>
        </p:grpSpPr>
        <p:sp>
          <p:nvSpPr>
            <p:cNvPr id="17" name="角丸四角形 16"/>
            <p:cNvSpPr/>
            <p:nvPr/>
          </p:nvSpPr>
          <p:spPr>
            <a:xfrm>
              <a:off x="2256604" y="824337"/>
              <a:ext cx="844167"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8688"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34688"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4002463" y="568942"/>
            <a:ext cx="589670" cy="583579"/>
            <a:chOff x="5733229" y="3930011"/>
            <a:chExt cx="825538" cy="817011"/>
          </a:xfrm>
        </p:grpSpPr>
        <p:sp>
          <p:nvSpPr>
            <p:cNvPr id="20" name="角丸四角形 19"/>
            <p:cNvSpPr/>
            <p:nvPr/>
          </p:nvSpPr>
          <p:spPr>
            <a:xfrm>
              <a:off x="5733229" y="4408737"/>
              <a:ext cx="825538" cy="33828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4"/>
              <a:endCxn id="20" idx="0"/>
            </p:cNvCxnSpPr>
            <p:nvPr/>
          </p:nvCxnSpPr>
          <p:spPr>
            <a:xfrm>
              <a:off x="6145998" y="4218011"/>
              <a:ext cx="0" cy="1907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01998" y="393001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26" name="テキスト ボックス 25"/>
          <p:cNvSpPr txBox="1"/>
          <p:nvPr/>
        </p:nvSpPr>
        <p:spPr>
          <a:xfrm>
            <a:off x="5421313" y="652662"/>
            <a:ext cx="4234692" cy="1724575"/>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スイング操作量に対するソレノイドへの出力線図の確認と設定ができます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スイングソレノイド出力電流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CF52635C-CA43-69A5-2991-CDF46CB735A3}"/>
              </a:ext>
            </a:extLst>
          </p:cNvPr>
          <p:cNvSpPr>
            <a:spLocks noGrp="1"/>
          </p:cNvSpPr>
          <p:nvPr>
            <p:ph type="body" sz="quarter" idx="10"/>
          </p:nvPr>
        </p:nvSpPr>
        <p:spPr/>
        <p:txBody>
          <a:bodyPr/>
          <a:lstStyle/>
          <a:p>
            <a:r>
              <a:rPr lang="en-US" altLang="ja-JP" dirty="0"/>
              <a:t>Swing Current Setting</a:t>
            </a:r>
            <a:r>
              <a:rPr lang="ja-JP" altLang="en-US" dirty="0"/>
              <a:t>画面</a:t>
            </a:r>
          </a:p>
        </p:txBody>
      </p:sp>
    </p:spTree>
    <p:extLst>
      <p:ext uri="{BB962C8B-B14F-4D97-AF65-F5344CB8AC3E}">
        <p14:creationId xmlns:p14="http://schemas.microsoft.com/office/powerpoint/2010/main" val="3882996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7BDF8322-647F-3026-BF00-2447F70F8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592976" y="554368"/>
            <a:ext cx="626721" cy="603871"/>
            <a:chOff x="6028503" y="346143"/>
            <a:chExt cx="877410" cy="845419"/>
          </a:xfrm>
        </p:grpSpPr>
        <p:sp>
          <p:nvSpPr>
            <p:cNvPr id="10" name="角丸四角形 9"/>
            <p:cNvSpPr/>
            <p:nvPr/>
          </p:nvSpPr>
          <p:spPr>
            <a:xfrm>
              <a:off x="6028503" y="824335"/>
              <a:ext cx="877410" cy="36722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7209" y="634142"/>
              <a:ext cx="0" cy="1901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23209" y="34614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5" name="グループ化 54"/>
          <p:cNvGrpSpPr/>
          <p:nvPr/>
        </p:nvGrpSpPr>
        <p:grpSpPr>
          <a:xfrm>
            <a:off x="2193005" y="1323976"/>
            <a:ext cx="1479834" cy="900780"/>
            <a:chOff x="4614213" y="1449221"/>
            <a:chExt cx="2071768" cy="1261091"/>
          </a:xfrm>
        </p:grpSpPr>
        <p:sp>
          <p:nvSpPr>
            <p:cNvPr id="23" name="角丸四角形 22"/>
            <p:cNvSpPr/>
            <p:nvPr/>
          </p:nvSpPr>
          <p:spPr>
            <a:xfrm>
              <a:off x="4614213" y="1449221"/>
              <a:ext cx="2071768" cy="802765"/>
            </a:xfrm>
            <a:prstGeom prst="roundRect">
              <a:avLst>
                <a:gd name="adj" fmla="val 14059"/>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0"/>
              <a:endCxn id="23" idx="2"/>
            </p:cNvCxnSpPr>
            <p:nvPr/>
          </p:nvCxnSpPr>
          <p:spPr>
            <a:xfrm flipV="1">
              <a:off x="5650097" y="2251986"/>
              <a:ext cx="0" cy="170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506097" y="24223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7225"/>
            <a:ext cx="4234692" cy="200484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Blade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Blade</a:t>
            </a: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Lever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position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Up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上げ側ソレノイドへの出力電流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下げ側ソレノイドへの出力電流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r>
              <a:rPr lang="en-US" altLang="ja-JP" sz="857" dirty="0">
                <a:latin typeface="Meiryo UI" panose="020B0604030504040204" pitchFamily="50" charset="-128"/>
                <a:ea typeface="Meiryo UI" panose="020B0604030504040204" pitchFamily="50" charset="-128"/>
                <a:cs typeface="Meiryo UI" panose="020B0604030504040204" pitchFamily="50" charset="-128"/>
              </a:rPr>
              <a:t>Blade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機能に関するパラメータを設定できます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Lever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操作量に対する出力の設定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510278"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②各設定画面へ移動します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230EC397-F8BD-B2E1-610E-ACA65E38D4D5}"/>
              </a:ext>
            </a:extLst>
          </p:cNvPr>
          <p:cNvSpPr>
            <a:spLocks noGrp="1"/>
          </p:cNvSpPr>
          <p:nvPr>
            <p:ph type="body" sz="quarter" idx="10"/>
          </p:nvPr>
        </p:nvSpPr>
        <p:spPr/>
        <p:txBody>
          <a:bodyPr/>
          <a:lstStyle/>
          <a:p>
            <a:r>
              <a:rPr lang="en-US" altLang="ja-JP"/>
              <a:t>Blade</a:t>
            </a:r>
            <a:r>
              <a:rPr lang="ja-JP" altLang="en-US"/>
              <a:t>画面</a:t>
            </a:r>
            <a:endParaRPr lang="ja-JP" altLang="en-US" dirty="0"/>
          </a:p>
        </p:txBody>
      </p:sp>
    </p:spTree>
    <p:extLst>
      <p:ext uri="{BB962C8B-B14F-4D97-AF65-F5344CB8AC3E}">
        <p14:creationId xmlns:p14="http://schemas.microsoft.com/office/powerpoint/2010/main" val="1703154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60088BC6-918D-1059-674A-9DB699B31AE5}"/>
              </a:ext>
            </a:extLst>
          </p:cNvPr>
          <p:cNvPicPr>
            <a:picLocks noChangeAspect="1"/>
          </p:cNvPicPr>
          <p:nvPr/>
        </p:nvPicPr>
        <p:blipFill>
          <a:blip r:embed="rId2"/>
          <a:stretch>
            <a:fillRect/>
          </a:stretch>
        </p:blipFill>
        <p:spPr>
          <a:xfrm>
            <a:off x="339726" y="662355"/>
            <a:ext cx="4857750" cy="3371850"/>
          </a:xfrm>
          <a:prstGeom prst="rect">
            <a:avLst/>
          </a:prstGeom>
        </p:spPr>
      </p:pic>
      <p:grpSp>
        <p:nvGrpSpPr>
          <p:cNvPr id="56" name="グループ化 55"/>
          <p:cNvGrpSpPr/>
          <p:nvPr/>
        </p:nvGrpSpPr>
        <p:grpSpPr>
          <a:xfrm>
            <a:off x="4617214" y="574978"/>
            <a:ext cx="597721" cy="591834"/>
            <a:chOff x="6028503" y="340975"/>
            <a:chExt cx="836810" cy="828568"/>
          </a:xfrm>
        </p:grpSpPr>
        <p:sp>
          <p:nvSpPr>
            <p:cNvPr id="10" name="角丸四角形 9"/>
            <p:cNvSpPr/>
            <p:nvPr/>
          </p:nvSpPr>
          <p:spPr>
            <a:xfrm>
              <a:off x="6028503" y="824335"/>
              <a:ext cx="836810" cy="34520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6907" y="628975"/>
              <a:ext cx="1" cy="1953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2907" y="34097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2726" y="574978"/>
            <a:ext cx="592203" cy="573488"/>
            <a:chOff x="2990028" y="355342"/>
            <a:chExt cx="829084" cy="802883"/>
          </a:xfrm>
        </p:grpSpPr>
        <p:sp>
          <p:nvSpPr>
            <p:cNvPr id="13" name="角丸四角形 12"/>
            <p:cNvSpPr/>
            <p:nvPr/>
          </p:nvSpPr>
          <p:spPr>
            <a:xfrm>
              <a:off x="2990028" y="824335"/>
              <a:ext cx="829084" cy="33389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4571"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0571"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46193" y="575895"/>
            <a:ext cx="592208" cy="581392"/>
            <a:chOff x="2256604" y="344276"/>
            <a:chExt cx="829091" cy="813949"/>
          </a:xfrm>
        </p:grpSpPr>
        <p:sp>
          <p:nvSpPr>
            <p:cNvPr id="17" name="角丸四角形 16"/>
            <p:cNvSpPr/>
            <p:nvPr/>
          </p:nvSpPr>
          <p:spPr>
            <a:xfrm>
              <a:off x="2256604" y="824335"/>
              <a:ext cx="829091" cy="33389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1150" y="632276"/>
              <a:ext cx="0" cy="19205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27150" y="34427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2" name="円/楕円 21"/>
          <p:cNvSpPr/>
          <p:nvPr/>
        </p:nvSpPr>
        <p:spPr>
          <a:xfrm>
            <a:off x="236869" y="2667249"/>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sp>
        <p:nvSpPr>
          <p:cNvPr id="40" name="テキスト ボックス 39"/>
          <p:cNvSpPr txBox="1"/>
          <p:nvPr/>
        </p:nvSpPr>
        <p:spPr>
          <a:xfrm>
            <a:off x="5421313" y="660384"/>
            <a:ext cx="4234692" cy="4609788"/>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ブレードレバーの設定ができます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1217864"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Blade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Lever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Status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ブレードレバーの現在の状態を確認できます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Sensor power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センサ電源電圧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a:t>
            </a: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t>
            </a: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Value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95932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Neutral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中立位置判定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ブレードレバーの可動範囲と中立位置の設定を行います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手順</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④を押して設定を開始します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ブレードレバーをストッパに当たるまで前後に動かします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3.</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Max</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レバーを離して⑤を押してください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5.</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Mid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の値が更新されます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（ガタがある場合は、前から戻したときと後ろから戻したとき、それぞれで⑤を押してください）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7.</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Low,Mid,High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の値が全て更新されたら⑥を押してください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6881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8.</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③を押すと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Parameters</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に更新された値が表示されます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Parameters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現在の設定値の確認および変更ができます</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※2</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Output Value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ブレードレバーの出力電圧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High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可動範囲での最大電圧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Middle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中立位置での電圧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calibration value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可動範囲での最小電圧</a:t>
            </a:r>
            <a:r>
              <a:rPr lang="en-US" altLang="ja-JP" sz="857" baseline="30000" dirty="0">
                <a:latin typeface="Meiryo UI" panose="020B0604030504040204" pitchFamily="50" charset="-128"/>
                <a:ea typeface="Meiryo UI" panose="020B0604030504040204" pitchFamily="50" charset="-128"/>
                <a:cs typeface="Meiryo UI" panose="020B0604030504040204" pitchFamily="50" charset="-128"/>
              </a:rPr>
              <a:t>※1</a:t>
            </a: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Middle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dead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band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中立位置での不感帯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High-Low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dead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band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最大最小位置での不感帯</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Fault zone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エラー判定域</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：表示されている値はセンサ電源電圧を</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5V</a:t>
            </a:r>
            <a:r>
              <a:rPr lang="ja-JP" altLang="en-US" sz="857" dirty="0" err="1">
                <a:latin typeface="Meiryo UI" panose="020B0604030504040204" pitchFamily="50" charset="-128"/>
                <a:ea typeface="Meiryo UI" panose="020B0604030504040204" pitchFamily="50" charset="-128"/>
                <a:cs typeface="Meiryo UI" panose="020B0604030504040204" pitchFamily="50" charset="-128"/>
              </a:rPr>
              <a:t>に換</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算したときの値です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円/楕円 25"/>
          <p:cNvSpPr/>
          <p:nvPr/>
        </p:nvSpPr>
        <p:spPr>
          <a:xfrm>
            <a:off x="236869" y="2940447"/>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sp>
        <p:nvSpPr>
          <p:cNvPr id="27" name="円/楕円 26"/>
          <p:cNvSpPr/>
          <p:nvPr/>
        </p:nvSpPr>
        <p:spPr>
          <a:xfrm>
            <a:off x="236869" y="3211352"/>
            <a:ext cx="205714" cy="205714"/>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6</a:t>
            </a:r>
            <a:endParaRPr lang="ja-JP" altLang="en-US" sz="1286" dirty="0">
              <a:solidFill>
                <a:srgbClr val="FF0000"/>
              </a:solidFill>
            </a:endParaRPr>
          </a:p>
        </p:txBody>
      </p:sp>
      <p:sp>
        <p:nvSpPr>
          <p:cNvPr id="8" name="テキスト プレースホルダー 7">
            <a:extLst>
              <a:ext uri="{FF2B5EF4-FFF2-40B4-BE49-F238E27FC236}">
                <a16:creationId xmlns:a16="http://schemas.microsoft.com/office/drawing/2014/main" id="{E34B7406-C657-5B6F-3823-225080C9CAC8}"/>
              </a:ext>
            </a:extLst>
          </p:cNvPr>
          <p:cNvSpPr>
            <a:spLocks noGrp="1"/>
          </p:cNvSpPr>
          <p:nvPr>
            <p:ph type="body" sz="quarter" idx="10"/>
          </p:nvPr>
        </p:nvSpPr>
        <p:spPr/>
        <p:txBody>
          <a:bodyPr/>
          <a:lstStyle/>
          <a:p>
            <a:r>
              <a:rPr lang="en-US" altLang="ja-JP" dirty="0"/>
              <a:t>Blade Lever Setting</a:t>
            </a:r>
            <a:r>
              <a:rPr lang="ja-JP" altLang="en-US" dirty="0"/>
              <a:t>画面</a:t>
            </a:r>
          </a:p>
        </p:txBody>
      </p:sp>
    </p:spTree>
    <p:extLst>
      <p:ext uri="{BB962C8B-B14F-4D97-AF65-F5344CB8AC3E}">
        <p14:creationId xmlns:p14="http://schemas.microsoft.com/office/powerpoint/2010/main" val="2073625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41D532FA-9CCF-5A55-6B54-88DDBE6EA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57143" cy="3371429"/>
          </a:xfrm>
          <a:prstGeom prst="rect">
            <a:avLst/>
          </a:prstGeom>
        </p:spPr>
      </p:pic>
      <p:grpSp>
        <p:nvGrpSpPr>
          <p:cNvPr id="56" name="グループ化 55"/>
          <p:cNvGrpSpPr/>
          <p:nvPr/>
        </p:nvGrpSpPr>
        <p:grpSpPr>
          <a:xfrm>
            <a:off x="4599348" y="552450"/>
            <a:ext cx="620352" cy="609598"/>
            <a:chOff x="6028504" y="298737"/>
            <a:chExt cx="868493" cy="853438"/>
          </a:xfrm>
        </p:grpSpPr>
        <p:sp>
          <p:nvSpPr>
            <p:cNvPr id="10" name="角丸四角形 9"/>
            <p:cNvSpPr/>
            <p:nvPr/>
          </p:nvSpPr>
          <p:spPr>
            <a:xfrm>
              <a:off x="6028504" y="805556"/>
              <a:ext cx="868493" cy="3466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2751" y="586737"/>
              <a:ext cx="0" cy="21881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8751" y="29873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73740" y="554368"/>
            <a:ext cx="593309" cy="607682"/>
            <a:chOff x="2990028" y="320203"/>
            <a:chExt cx="830633" cy="850755"/>
          </a:xfrm>
        </p:grpSpPr>
        <p:sp>
          <p:nvSpPr>
            <p:cNvPr id="13" name="角丸四角形 12"/>
            <p:cNvSpPr/>
            <p:nvPr/>
          </p:nvSpPr>
          <p:spPr>
            <a:xfrm>
              <a:off x="2990028" y="824338"/>
              <a:ext cx="830633" cy="34662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405345" y="608203"/>
              <a:ext cx="0" cy="21613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261345" y="32020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89055" y="556444"/>
            <a:ext cx="581095" cy="605605"/>
            <a:chOff x="2256603" y="334825"/>
            <a:chExt cx="813533" cy="847847"/>
          </a:xfrm>
        </p:grpSpPr>
        <p:sp>
          <p:nvSpPr>
            <p:cNvPr id="17" name="角丸四角形 16"/>
            <p:cNvSpPr/>
            <p:nvPr/>
          </p:nvSpPr>
          <p:spPr>
            <a:xfrm>
              <a:off x="2256603" y="824335"/>
              <a:ext cx="813533" cy="35833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63369" y="622825"/>
              <a:ext cx="1" cy="2015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19369" y="33482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3978996" y="549778"/>
            <a:ext cx="620352" cy="612271"/>
            <a:chOff x="5772516" y="3961851"/>
            <a:chExt cx="868493" cy="857179"/>
          </a:xfrm>
        </p:grpSpPr>
        <p:sp>
          <p:nvSpPr>
            <p:cNvPr id="20" name="角丸四角形 19"/>
            <p:cNvSpPr/>
            <p:nvPr/>
          </p:nvSpPr>
          <p:spPr>
            <a:xfrm>
              <a:off x="5772516" y="4472411"/>
              <a:ext cx="868493" cy="3466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4"/>
              <a:endCxn id="20" idx="0"/>
            </p:cNvCxnSpPr>
            <p:nvPr/>
          </p:nvCxnSpPr>
          <p:spPr>
            <a:xfrm>
              <a:off x="6206763" y="4249850"/>
              <a:ext cx="0" cy="22256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62763" y="396185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26" name="テキスト ボックス 25"/>
          <p:cNvSpPr txBox="1"/>
          <p:nvPr/>
        </p:nvSpPr>
        <p:spPr>
          <a:xfrm>
            <a:off x="5421313" y="657225"/>
            <a:ext cx="4234692" cy="1724575"/>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ブレード操作量に対するソレノイドへの出力線図の確認と設定ができます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ブレードソレノイド出力電流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Blade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C842D445-1343-346D-CF67-B34E400744D9}"/>
              </a:ext>
            </a:extLst>
          </p:cNvPr>
          <p:cNvSpPr>
            <a:spLocks noGrp="1"/>
          </p:cNvSpPr>
          <p:nvPr>
            <p:ph type="body" sz="quarter" idx="10"/>
          </p:nvPr>
        </p:nvSpPr>
        <p:spPr/>
        <p:txBody>
          <a:bodyPr/>
          <a:lstStyle/>
          <a:p>
            <a:r>
              <a:rPr lang="en-US" altLang="ja-JP" dirty="0"/>
              <a:t>Blade Current Setting</a:t>
            </a:r>
            <a:r>
              <a:rPr lang="ja-JP" altLang="en-US" dirty="0"/>
              <a:t>画面</a:t>
            </a:r>
          </a:p>
        </p:txBody>
      </p:sp>
    </p:spTree>
    <p:extLst>
      <p:ext uri="{BB962C8B-B14F-4D97-AF65-F5344CB8AC3E}">
        <p14:creationId xmlns:p14="http://schemas.microsoft.com/office/powerpoint/2010/main" val="1587989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FC63B8E2-02FD-CB0D-F47D-8D60C5202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2373"/>
            <a:ext cx="4857143" cy="3371429"/>
          </a:xfrm>
          <a:prstGeom prst="rect">
            <a:avLst/>
          </a:prstGeom>
        </p:spPr>
      </p:pic>
      <p:grpSp>
        <p:nvGrpSpPr>
          <p:cNvPr id="56" name="グループ化 55"/>
          <p:cNvGrpSpPr/>
          <p:nvPr/>
        </p:nvGrpSpPr>
        <p:grpSpPr>
          <a:xfrm>
            <a:off x="4600596" y="575108"/>
            <a:ext cx="619101" cy="586942"/>
            <a:chOff x="6028503" y="356510"/>
            <a:chExt cx="866742" cy="821719"/>
          </a:xfrm>
        </p:grpSpPr>
        <p:sp>
          <p:nvSpPr>
            <p:cNvPr id="10" name="角丸四角形 9"/>
            <p:cNvSpPr/>
            <p:nvPr/>
          </p:nvSpPr>
          <p:spPr>
            <a:xfrm>
              <a:off x="6028503" y="824337"/>
              <a:ext cx="866742" cy="35389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1875" y="644510"/>
              <a:ext cx="0" cy="1798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7875" y="35651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5" name="グループ化 54"/>
          <p:cNvGrpSpPr/>
          <p:nvPr/>
        </p:nvGrpSpPr>
        <p:grpSpPr>
          <a:xfrm>
            <a:off x="2193005" y="1339216"/>
            <a:ext cx="1474119" cy="649712"/>
            <a:chOff x="4614212" y="1449220"/>
            <a:chExt cx="2063767" cy="909596"/>
          </a:xfrm>
        </p:grpSpPr>
        <p:sp>
          <p:nvSpPr>
            <p:cNvPr id="23" name="角丸四角形 22"/>
            <p:cNvSpPr/>
            <p:nvPr/>
          </p:nvSpPr>
          <p:spPr>
            <a:xfrm>
              <a:off x="4614212" y="1449220"/>
              <a:ext cx="2063767" cy="378713"/>
            </a:xfrm>
            <a:prstGeom prst="roundRect">
              <a:avLst>
                <a:gd name="adj" fmla="val 1575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24" name="直線矢印コネクタ 23"/>
            <p:cNvCxnSpPr>
              <a:cxnSpLocks/>
              <a:stCxn id="25" idx="0"/>
              <a:endCxn id="23" idx="2"/>
            </p:cNvCxnSpPr>
            <p:nvPr/>
          </p:nvCxnSpPr>
          <p:spPr>
            <a:xfrm flipV="1">
              <a:off x="5646096" y="1827934"/>
              <a:ext cx="0" cy="24288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502096" y="2070817"/>
              <a:ext cx="288000"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52373"/>
            <a:ext cx="4234692" cy="1741054"/>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Adjust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機能の状態確認と設定値変更ができます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Adjust</a:t>
            </a: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Set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Value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Crowd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縮側ソレノイドへの出力電流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Dump solenoid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伸側ソレノイドへの出力電流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pPr marL="128574">
              <a:tabLst>
                <a:tab pos="108859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Current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ソレノイドに出力する電流値を設定</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510278"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②設定画面へ移動します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2828D206-AEF2-925C-9662-81724F23CEDE}"/>
              </a:ext>
            </a:extLst>
          </p:cNvPr>
          <p:cNvSpPr>
            <a:spLocks noGrp="1"/>
          </p:cNvSpPr>
          <p:nvPr>
            <p:ph type="body" sz="quarter" idx="10"/>
          </p:nvPr>
        </p:nvSpPr>
        <p:spPr/>
        <p:txBody>
          <a:bodyPr/>
          <a:lstStyle/>
          <a:p>
            <a:r>
              <a:rPr lang="en-US" altLang="ja-JP" dirty="0"/>
              <a:t>Adjust</a:t>
            </a:r>
            <a:r>
              <a:rPr lang="ja-JP" altLang="en-US" dirty="0"/>
              <a:t>画面</a:t>
            </a:r>
          </a:p>
        </p:txBody>
      </p:sp>
    </p:spTree>
    <p:extLst>
      <p:ext uri="{BB962C8B-B14F-4D97-AF65-F5344CB8AC3E}">
        <p14:creationId xmlns:p14="http://schemas.microsoft.com/office/powerpoint/2010/main" val="3049023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 折れ線グラフ&#10;&#10;自動的に生成された説明">
            <a:extLst>
              <a:ext uri="{FF2B5EF4-FFF2-40B4-BE49-F238E27FC236}">
                <a16:creationId xmlns:a16="http://schemas.microsoft.com/office/drawing/2014/main" id="{7687CA9F-3E09-A999-67E8-37E745169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3589"/>
            <a:ext cx="4857143" cy="3371429"/>
          </a:xfrm>
          <a:prstGeom prst="rect">
            <a:avLst/>
          </a:prstGeom>
        </p:spPr>
      </p:pic>
      <p:grpSp>
        <p:nvGrpSpPr>
          <p:cNvPr id="56" name="グループ化 55"/>
          <p:cNvGrpSpPr/>
          <p:nvPr/>
        </p:nvGrpSpPr>
        <p:grpSpPr>
          <a:xfrm>
            <a:off x="4610995" y="572872"/>
            <a:ext cx="609511" cy="584413"/>
            <a:chOff x="6041838" y="355342"/>
            <a:chExt cx="853316" cy="818178"/>
          </a:xfrm>
        </p:grpSpPr>
        <p:sp>
          <p:nvSpPr>
            <p:cNvPr id="10" name="角丸四角形 9"/>
            <p:cNvSpPr/>
            <p:nvPr/>
          </p:nvSpPr>
          <p:spPr>
            <a:xfrm>
              <a:off x="6041838" y="832963"/>
              <a:ext cx="853316"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8497" y="643342"/>
              <a:ext cx="0" cy="18962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24497"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7" name="グループ化 56"/>
          <p:cNvGrpSpPr/>
          <p:nvPr/>
        </p:nvGrpSpPr>
        <p:grpSpPr>
          <a:xfrm>
            <a:off x="2485853" y="566266"/>
            <a:ext cx="596970" cy="581495"/>
            <a:chOff x="2896106" y="419234"/>
            <a:chExt cx="835758" cy="814093"/>
          </a:xfrm>
        </p:grpSpPr>
        <p:sp>
          <p:nvSpPr>
            <p:cNvPr id="13" name="角丸四角形 12"/>
            <p:cNvSpPr/>
            <p:nvPr/>
          </p:nvSpPr>
          <p:spPr>
            <a:xfrm>
              <a:off x="2896106" y="892770"/>
              <a:ext cx="835758"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p:cNvCxnSpPr>
              <a:cxnSpLocks/>
              <a:stCxn id="15" idx="4"/>
              <a:endCxn id="13" idx="0"/>
            </p:cNvCxnSpPr>
            <p:nvPr/>
          </p:nvCxnSpPr>
          <p:spPr>
            <a:xfrm>
              <a:off x="3298194" y="707234"/>
              <a:ext cx="15791" cy="18553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14"/>
            <p:cNvSpPr/>
            <p:nvPr/>
          </p:nvSpPr>
          <p:spPr>
            <a:xfrm>
              <a:off x="3154195" y="41923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58" name="グループ化 57"/>
          <p:cNvGrpSpPr/>
          <p:nvPr/>
        </p:nvGrpSpPr>
        <p:grpSpPr>
          <a:xfrm>
            <a:off x="1879530" y="572872"/>
            <a:ext cx="596970" cy="574890"/>
            <a:chOff x="2256604" y="360046"/>
            <a:chExt cx="835758" cy="804846"/>
          </a:xfrm>
        </p:grpSpPr>
        <p:sp>
          <p:nvSpPr>
            <p:cNvPr id="17" name="角丸四角形 16"/>
            <p:cNvSpPr/>
            <p:nvPr/>
          </p:nvSpPr>
          <p:spPr>
            <a:xfrm>
              <a:off x="2256604" y="824335"/>
              <a:ext cx="835758" cy="34055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p:cNvCxnSpPr>
              <a:cxnSpLocks/>
              <a:stCxn id="19" idx="4"/>
              <a:endCxn id="17" idx="0"/>
            </p:cNvCxnSpPr>
            <p:nvPr/>
          </p:nvCxnSpPr>
          <p:spPr>
            <a:xfrm>
              <a:off x="2674483" y="648046"/>
              <a:ext cx="0" cy="17628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18"/>
            <p:cNvSpPr/>
            <p:nvPr/>
          </p:nvSpPr>
          <p:spPr>
            <a:xfrm>
              <a:off x="2530483" y="36004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54" name="グループ化 53"/>
          <p:cNvGrpSpPr/>
          <p:nvPr/>
        </p:nvGrpSpPr>
        <p:grpSpPr>
          <a:xfrm>
            <a:off x="3980711" y="590295"/>
            <a:ext cx="629390" cy="566990"/>
            <a:chOff x="5733229" y="4036848"/>
            <a:chExt cx="881146" cy="776120"/>
          </a:xfrm>
        </p:grpSpPr>
        <p:sp>
          <p:nvSpPr>
            <p:cNvPr id="20" name="角丸四角形 19"/>
            <p:cNvSpPr/>
            <p:nvPr/>
          </p:nvSpPr>
          <p:spPr>
            <a:xfrm>
              <a:off x="5733229" y="4490083"/>
              <a:ext cx="881146" cy="32288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4"/>
            </p:cNvCxnSpPr>
            <p:nvPr/>
          </p:nvCxnSpPr>
          <p:spPr>
            <a:xfrm>
              <a:off x="6173802" y="4324847"/>
              <a:ext cx="0" cy="15189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6029802" y="403684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26" name="テキスト ボックス 25"/>
          <p:cNvSpPr txBox="1"/>
          <p:nvPr/>
        </p:nvSpPr>
        <p:spPr>
          <a:xfrm>
            <a:off x="5421313" y="655921"/>
            <a:ext cx="4234692" cy="1724575"/>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アジャスト操作量に対するソレノイドへの出力線図の確認と設定ができます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area</a:t>
            </a: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操作量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31977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アジャストソレノイド出力電流</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Adjust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変更した設定を反映させます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0782"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テキスト プレースホルダー 7">
            <a:extLst>
              <a:ext uri="{FF2B5EF4-FFF2-40B4-BE49-F238E27FC236}">
                <a16:creationId xmlns:a16="http://schemas.microsoft.com/office/drawing/2014/main" id="{72BC900D-4494-F0C7-6BE7-3619B12E9A94}"/>
              </a:ext>
            </a:extLst>
          </p:cNvPr>
          <p:cNvSpPr>
            <a:spLocks noGrp="1"/>
          </p:cNvSpPr>
          <p:nvPr>
            <p:ph type="body" sz="quarter" idx="10"/>
          </p:nvPr>
        </p:nvSpPr>
        <p:spPr/>
        <p:txBody>
          <a:bodyPr/>
          <a:lstStyle/>
          <a:p>
            <a:r>
              <a:rPr lang="en-US" altLang="ja-JP" dirty="0"/>
              <a:t>Adjust Current Setting</a:t>
            </a:r>
            <a:r>
              <a:rPr lang="ja-JP" altLang="en-US" dirty="0"/>
              <a:t>画面</a:t>
            </a:r>
          </a:p>
        </p:txBody>
      </p:sp>
    </p:spTree>
    <p:extLst>
      <p:ext uri="{BB962C8B-B14F-4D97-AF65-F5344CB8AC3E}">
        <p14:creationId xmlns:p14="http://schemas.microsoft.com/office/powerpoint/2010/main" val="32464886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図 6" descr="グラフィカル ユーザー インターフェイス&#10;&#10;自動的に生成された説明">
            <a:extLst>
              <a:ext uri="{FF2B5EF4-FFF2-40B4-BE49-F238E27FC236}">
                <a16:creationId xmlns:a16="http://schemas.microsoft.com/office/drawing/2014/main" id="{0C6D02EF-1F52-AEAC-FD96-7E0A3C36D0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8961"/>
            <a:ext cx="4857143" cy="3371429"/>
          </a:xfrm>
          <a:prstGeom prst="rect">
            <a:avLst/>
          </a:prstGeom>
        </p:spPr>
      </p:pic>
      <p:grpSp>
        <p:nvGrpSpPr>
          <p:cNvPr id="56" name="グループ化 55"/>
          <p:cNvGrpSpPr/>
          <p:nvPr/>
        </p:nvGrpSpPr>
        <p:grpSpPr>
          <a:xfrm>
            <a:off x="4594247" y="570633"/>
            <a:ext cx="631801" cy="591416"/>
            <a:chOff x="6028503" y="363580"/>
            <a:chExt cx="884522" cy="827982"/>
          </a:xfrm>
        </p:grpSpPr>
        <p:sp>
          <p:nvSpPr>
            <p:cNvPr id="10" name="角丸四角形 9"/>
            <p:cNvSpPr/>
            <p:nvPr/>
          </p:nvSpPr>
          <p:spPr>
            <a:xfrm>
              <a:off x="6028503" y="824335"/>
              <a:ext cx="884522" cy="36722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70765" y="651579"/>
              <a:ext cx="0" cy="17275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26765" y="36358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55" name="グループ化 54"/>
          <p:cNvGrpSpPr/>
          <p:nvPr/>
        </p:nvGrpSpPr>
        <p:grpSpPr>
          <a:xfrm>
            <a:off x="419115" y="1634142"/>
            <a:ext cx="1919602" cy="853579"/>
            <a:chOff x="4569441" y="881781"/>
            <a:chExt cx="2687443" cy="1195011"/>
          </a:xfrm>
        </p:grpSpPr>
        <p:sp>
          <p:nvSpPr>
            <p:cNvPr id="23" name="角丸四角形 22"/>
            <p:cNvSpPr/>
            <p:nvPr/>
          </p:nvSpPr>
          <p:spPr>
            <a:xfrm>
              <a:off x="4569441" y="881781"/>
              <a:ext cx="2687443" cy="699241"/>
            </a:xfrm>
            <a:prstGeom prst="roundRect">
              <a:avLst>
                <a:gd name="adj" fmla="val 16142"/>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4" name="直線矢印コネクタ 23"/>
            <p:cNvCxnSpPr>
              <a:cxnSpLocks/>
              <a:stCxn id="25" idx="0"/>
              <a:endCxn id="23" idx="2"/>
            </p:cNvCxnSpPr>
            <p:nvPr/>
          </p:nvCxnSpPr>
          <p:spPr>
            <a:xfrm flipV="1">
              <a:off x="5913162" y="1581022"/>
              <a:ext cx="0" cy="2077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24"/>
            <p:cNvSpPr/>
            <p:nvPr/>
          </p:nvSpPr>
          <p:spPr>
            <a:xfrm>
              <a:off x="5769163" y="178879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40" name="テキスト ボックス 39"/>
          <p:cNvSpPr txBox="1"/>
          <p:nvPr/>
        </p:nvSpPr>
        <p:spPr>
          <a:xfrm>
            <a:off x="5421313" y="664439"/>
            <a:ext cx="4234692" cy="2763257"/>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アワメータ、トリップメータの調整ができます。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a:t>
            </a:r>
          </a:p>
          <a:p>
            <a:pPr marL="128574">
              <a:tabLst>
                <a:tab pos="102736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Set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変更するアワメータの値を入力します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a:t>
            </a:r>
          </a:p>
          <a:p>
            <a:pPr marL="128574" defTabSz="449263">
              <a:tabLst>
                <a:tab pos="9842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Trip1~Trip4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変更するトリップメータの値を入力します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445643"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②アワメータの値を変更できます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ja-JP" altLang="en-US" sz="857" dirty="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ja-JP" altLang="en-US" sz="857" dirty="0">
                <a:latin typeface="Meiryo UI" panose="020B0604030504040204" pitchFamily="50" charset="-128"/>
                <a:ea typeface="Meiryo UI" panose="020B0604030504040204" pitchFamily="50" charset="-128"/>
                <a:cs typeface="Meiryo UI" panose="020B0604030504040204" pitchFamily="50" charset="-128"/>
              </a:rPr>
              <a:t>進めることしかできず、一度進めると戻すことは出来ません。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③エンジン</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ECU</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のアワメータを読み取り、アワメータ反映させることができます。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ja-JP" altLang="en-US" sz="857" dirty="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Update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”のボタンが消えているとできません。また、一度“</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Update”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を押すと</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en-US" altLang="ja-JP" sz="857" dirty="0">
                <a:latin typeface="Meiryo UI" panose="020B0604030504040204" pitchFamily="50" charset="-128"/>
                <a:ea typeface="Meiryo UI" panose="020B0604030504040204" pitchFamily="50" charset="-128"/>
                <a:cs typeface="Meiryo UI" panose="020B0604030504040204" pitchFamily="50" charset="-128"/>
              </a:rPr>
              <a:t>”Update”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ボタンは消えます。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④トリップメータの値を変更できます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r>
              <a:rPr lang="ja-JP" altLang="en-US" sz="857" dirty="0">
                <a:latin typeface="Meiryo UI" panose="020B0604030504040204" pitchFamily="50" charset="-128"/>
                <a:ea typeface="Meiryo UI" panose="020B0604030504040204" pitchFamily="50" charset="-128"/>
                <a:cs typeface="Meiryo UI" panose="020B0604030504040204" pitchFamily="50" charset="-128"/>
              </a:rPr>
              <a:t>クラスタに表示される値は「</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Hour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meter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data</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」となります。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グループ化 18"/>
          <p:cNvGrpSpPr/>
          <p:nvPr/>
        </p:nvGrpSpPr>
        <p:grpSpPr>
          <a:xfrm>
            <a:off x="2558400" y="1321616"/>
            <a:ext cx="2051884" cy="1228773"/>
            <a:chOff x="4569442" y="881782"/>
            <a:chExt cx="2872637" cy="1720283"/>
          </a:xfrm>
        </p:grpSpPr>
        <p:sp>
          <p:nvSpPr>
            <p:cNvPr id="20" name="角丸四角形 19"/>
            <p:cNvSpPr/>
            <p:nvPr/>
          </p:nvSpPr>
          <p:spPr>
            <a:xfrm>
              <a:off x="4569442" y="881782"/>
              <a:ext cx="2872637" cy="1244472"/>
            </a:xfrm>
            <a:prstGeom prst="roundRect">
              <a:avLst>
                <a:gd name="adj" fmla="val 10226"/>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p:cNvCxnSpPr>
              <a:cxnSpLocks/>
              <a:stCxn id="22" idx="0"/>
              <a:endCxn id="20" idx="2"/>
            </p:cNvCxnSpPr>
            <p:nvPr/>
          </p:nvCxnSpPr>
          <p:spPr>
            <a:xfrm flipV="1">
              <a:off x="6005761" y="2126254"/>
              <a:ext cx="0" cy="1878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21"/>
            <p:cNvSpPr/>
            <p:nvPr/>
          </p:nvSpPr>
          <p:spPr>
            <a:xfrm>
              <a:off x="5861761" y="2314065"/>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28" name="グループ化 27"/>
          <p:cNvGrpSpPr/>
          <p:nvPr/>
        </p:nvGrpSpPr>
        <p:grpSpPr>
          <a:xfrm>
            <a:off x="399629" y="3054442"/>
            <a:ext cx="4743871" cy="1256186"/>
            <a:chOff x="4569441" y="881781"/>
            <a:chExt cx="6641420" cy="1758661"/>
          </a:xfrm>
        </p:grpSpPr>
        <p:sp>
          <p:nvSpPr>
            <p:cNvPr id="29" name="角丸四角形 28"/>
            <p:cNvSpPr/>
            <p:nvPr/>
          </p:nvSpPr>
          <p:spPr>
            <a:xfrm>
              <a:off x="4569441" y="881781"/>
              <a:ext cx="6641420" cy="1244471"/>
            </a:xfrm>
            <a:prstGeom prst="roundRect">
              <a:avLst>
                <a:gd name="adj" fmla="val 342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0" name="直線矢印コネクタ 29"/>
            <p:cNvCxnSpPr>
              <a:cxnSpLocks/>
              <a:stCxn id="31" idx="0"/>
              <a:endCxn id="29" idx="2"/>
            </p:cNvCxnSpPr>
            <p:nvPr/>
          </p:nvCxnSpPr>
          <p:spPr>
            <a:xfrm flipV="1">
              <a:off x="7890152" y="2126253"/>
              <a:ext cx="0" cy="2261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円/楕円 30"/>
            <p:cNvSpPr/>
            <p:nvPr/>
          </p:nvSpPr>
          <p:spPr>
            <a:xfrm>
              <a:off x="7746152" y="23524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13" name="テキスト プレースホルダー 12">
            <a:extLst>
              <a:ext uri="{FF2B5EF4-FFF2-40B4-BE49-F238E27FC236}">
                <a16:creationId xmlns:a16="http://schemas.microsoft.com/office/drawing/2014/main" id="{F3F6A65A-586B-3F3D-F20D-C596A8FE13E1}"/>
              </a:ext>
            </a:extLst>
          </p:cNvPr>
          <p:cNvSpPr>
            <a:spLocks noGrp="1"/>
          </p:cNvSpPr>
          <p:nvPr>
            <p:ph type="body" sz="quarter" idx="10"/>
          </p:nvPr>
        </p:nvSpPr>
        <p:spPr/>
        <p:txBody>
          <a:bodyPr/>
          <a:lstStyle/>
          <a:p>
            <a:r>
              <a:rPr lang="en-US" altLang="ja-JP" dirty="0" err="1"/>
              <a:t>Hourmeter</a:t>
            </a:r>
            <a:r>
              <a:rPr lang="ja-JP" altLang="en-US" dirty="0"/>
              <a:t>画面</a:t>
            </a:r>
          </a:p>
        </p:txBody>
      </p:sp>
    </p:spTree>
    <p:extLst>
      <p:ext uri="{BB962C8B-B14F-4D97-AF65-F5344CB8AC3E}">
        <p14:creationId xmlns:p14="http://schemas.microsoft.com/office/powerpoint/2010/main" val="3665823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テキスト, アプリケーション&#10;&#10;自動的に生成された説明">
            <a:extLst>
              <a:ext uri="{FF2B5EF4-FFF2-40B4-BE49-F238E27FC236}">
                <a16:creationId xmlns:a16="http://schemas.microsoft.com/office/drawing/2014/main" id="{0758A2B5-756E-B3E4-90BA-C5095874F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68489"/>
            <a:ext cx="4857143" cy="3371429"/>
          </a:xfrm>
          <a:prstGeom prst="rect">
            <a:avLst/>
          </a:prstGeom>
        </p:spPr>
      </p:pic>
      <p:grpSp>
        <p:nvGrpSpPr>
          <p:cNvPr id="56" name="グループ化 55"/>
          <p:cNvGrpSpPr/>
          <p:nvPr/>
        </p:nvGrpSpPr>
        <p:grpSpPr>
          <a:xfrm>
            <a:off x="4605360" y="594028"/>
            <a:ext cx="607537" cy="569242"/>
            <a:chOff x="6028503" y="376329"/>
            <a:chExt cx="850552" cy="796939"/>
          </a:xfrm>
        </p:grpSpPr>
        <p:sp>
          <p:nvSpPr>
            <p:cNvPr id="10" name="角丸四角形 9"/>
            <p:cNvSpPr/>
            <p:nvPr/>
          </p:nvSpPr>
          <p:spPr>
            <a:xfrm>
              <a:off x="6028503" y="824337"/>
              <a:ext cx="850552" cy="34893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3780" y="664329"/>
              <a:ext cx="0" cy="16000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9780" y="37632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1477264"/>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リフトアラームに関する機能の確認と設定ができます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Lift alarm</a:t>
            </a:r>
          </a:p>
          <a:p>
            <a:pPr marL="128574">
              <a:tabLst>
                <a:tab pos="185627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Limit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pressure(Mono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boom)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モノブーム仕様時のリフトアラーム圧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856279"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Limit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piece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boom)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２ピースブーム仕様時のリフトアラーム圧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82852" y="594028"/>
            <a:ext cx="608570" cy="574371"/>
            <a:chOff x="6028504" y="383702"/>
            <a:chExt cx="851998" cy="804120"/>
          </a:xfrm>
        </p:grpSpPr>
        <p:sp>
          <p:nvSpPr>
            <p:cNvPr id="27" name="角丸四角形 26"/>
            <p:cNvSpPr/>
            <p:nvPr/>
          </p:nvSpPr>
          <p:spPr>
            <a:xfrm>
              <a:off x="6028504" y="838891"/>
              <a:ext cx="851998" cy="34893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flipH="1">
              <a:off x="6454503" y="671702"/>
              <a:ext cx="1443" cy="16719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11947" y="38370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74281" y="594028"/>
            <a:ext cx="608570" cy="574371"/>
            <a:chOff x="6028504" y="369663"/>
            <a:chExt cx="851998" cy="804119"/>
          </a:xfrm>
        </p:grpSpPr>
        <p:sp>
          <p:nvSpPr>
            <p:cNvPr id="35" name="角丸四角形 34"/>
            <p:cNvSpPr/>
            <p:nvPr/>
          </p:nvSpPr>
          <p:spPr>
            <a:xfrm>
              <a:off x="6028504" y="824335"/>
              <a:ext cx="851998" cy="34944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54503" y="657662"/>
              <a:ext cx="0" cy="16667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10503" y="36966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91ACA994-05F7-02D2-06D4-F4F0A4E5674F}"/>
              </a:ext>
            </a:extLst>
          </p:cNvPr>
          <p:cNvSpPr>
            <a:spLocks noGrp="1"/>
          </p:cNvSpPr>
          <p:nvPr>
            <p:ph type="body" sz="quarter" idx="10"/>
          </p:nvPr>
        </p:nvSpPr>
        <p:spPr/>
        <p:txBody>
          <a:bodyPr/>
          <a:lstStyle/>
          <a:p>
            <a:r>
              <a:rPr lang="en-US" altLang="ja-JP" dirty="0"/>
              <a:t>Lift alarm</a:t>
            </a:r>
            <a:r>
              <a:rPr lang="ja-JP" altLang="en-US" dirty="0"/>
              <a:t>画面</a:t>
            </a:r>
          </a:p>
        </p:txBody>
      </p:sp>
    </p:spTree>
    <p:extLst>
      <p:ext uri="{BB962C8B-B14F-4D97-AF65-F5344CB8AC3E}">
        <p14:creationId xmlns:p14="http://schemas.microsoft.com/office/powerpoint/2010/main" val="916461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10;&#10;自動的に生成された説明">
            <a:extLst>
              <a:ext uri="{FF2B5EF4-FFF2-40B4-BE49-F238E27FC236}">
                <a16:creationId xmlns:a16="http://schemas.microsoft.com/office/drawing/2014/main" id="{455D8B42-C226-D2E4-0FFA-EF7D837C1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444" y="657225"/>
            <a:ext cx="4857143" cy="3371429"/>
          </a:xfrm>
          <a:prstGeom prst="rect">
            <a:avLst/>
          </a:prstGeom>
        </p:spPr>
      </p:pic>
      <p:grpSp>
        <p:nvGrpSpPr>
          <p:cNvPr id="56" name="グループ化 55"/>
          <p:cNvGrpSpPr/>
          <p:nvPr/>
        </p:nvGrpSpPr>
        <p:grpSpPr>
          <a:xfrm>
            <a:off x="4570778" y="587359"/>
            <a:ext cx="608053" cy="560401"/>
            <a:chOff x="6028503" y="366009"/>
            <a:chExt cx="851274" cy="784561"/>
          </a:xfrm>
        </p:grpSpPr>
        <p:sp>
          <p:nvSpPr>
            <p:cNvPr id="10" name="角丸四角形 9"/>
            <p:cNvSpPr/>
            <p:nvPr/>
          </p:nvSpPr>
          <p:spPr>
            <a:xfrm>
              <a:off x="6028503" y="824335"/>
              <a:ext cx="851274" cy="32623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4139" y="654008"/>
              <a:ext cx="1" cy="170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0140" y="36600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60384"/>
            <a:ext cx="4234692" cy="2136739"/>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オートグリスに関する機能の確認と設定ができます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Grease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Setup</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Maximum configurable on time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ディスプレイで設定可能な最大動作時間</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Minimum configurable on time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ディスプレイで設定可能な最小動作時間。</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Set on time with maintenance tool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グリスポンプの動作時間</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Actual on time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現在設定されている動作時間</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Interval time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グリスポンプの動作間隔時間</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force supply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グリスポンプの強制駆動を行います</a:t>
            </a:r>
          </a:p>
          <a:p>
            <a:pPr marL="128574">
              <a:tabLst>
                <a:tab pos="2115953"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time since last supply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最後にグリスを供給してからの時間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758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95550" y="587359"/>
            <a:ext cx="608053" cy="560402"/>
            <a:chOff x="6028503" y="385478"/>
            <a:chExt cx="851274" cy="784564"/>
          </a:xfrm>
        </p:grpSpPr>
        <p:sp>
          <p:nvSpPr>
            <p:cNvPr id="27" name="角丸四角形 26"/>
            <p:cNvSpPr/>
            <p:nvPr/>
          </p:nvSpPr>
          <p:spPr>
            <a:xfrm>
              <a:off x="6028503" y="843804"/>
              <a:ext cx="851274" cy="32623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32" name="直線矢印コネクタ 31"/>
            <p:cNvCxnSpPr>
              <a:cxnSpLocks/>
              <a:stCxn id="33" idx="4"/>
              <a:endCxn id="27" idx="0"/>
            </p:cNvCxnSpPr>
            <p:nvPr/>
          </p:nvCxnSpPr>
          <p:spPr>
            <a:xfrm>
              <a:off x="6454139" y="673478"/>
              <a:ext cx="1" cy="1703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10140" y="385478"/>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87495" y="579740"/>
            <a:ext cx="608054" cy="568022"/>
            <a:chOff x="6028504" y="355342"/>
            <a:chExt cx="851276" cy="795231"/>
          </a:xfrm>
        </p:grpSpPr>
        <p:sp>
          <p:nvSpPr>
            <p:cNvPr id="35" name="角丸四角形 34"/>
            <p:cNvSpPr/>
            <p:nvPr/>
          </p:nvSpPr>
          <p:spPr>
            <a:xfrm>
              <a:off x="6028504" y="824335"/>
              <a:ext cx="851276" cy="32623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54142" y="643342"/>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10142"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849314EE-9D77-8363-F442-8A0C83A7F3E2}"/>
              </a:ext>
            </a:extLst>
          </p:cNvPr>
          <p:cNvSpPr>
            <a:spLocks noGrp="1"/>
          </p:cNvSpPr>
          <p:nvPr>
            <p:ph type="body" sz="quarter" idx="10"/>
          </p:nvPr>
        </p:nvSpPr>
        <p:spPr/>
        <p:txBody>
          <a:bodyPr/>
          <a:lstStyle/>
          <a:p>
            <a:r>
              <a:rPr lang="en-US" altLang="ja-JP" dirty="0"/>
              <a:t>Auto grease</a:t>
            </a:r>
            <a:r>
              <a:rPr lang="ja-JP" altLang="en-US" dirty="0"/>
              <a:t>画面</a:t>
            </a:r>
          </a:p>
        </p:txBody>
      </p:sp>
    </p:spTree>
    <p:extLst>
      <p:ext uri="{BB962C8B-B14F-4D97-AF65-F5344CB8AC3E}">
        <p14:creationId xmlns:p14="http://schemas.microsoft.com/office/powerpoint/2010/main" val="9732207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descr="グラフィカル ユーザー インターフェイス, テキスト, アプリケーション, メール&#10;&#10;自動的に生成された説明">
            <a:extLst>
              <a:ext uri="{FF2B5EF4-FFF2-40B4-BE49-F238E27FC236}">
                <a16:creationId xmlns:a16="http://schemas.microsoft.com/office/drawing/2014/main" id="{C898E3F7-C07B-7812-A63F-63CAB5286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68489"/>
            <a:ext cx="4857143" cy="3371429"/>
          </a:xfrm>
          <a:prstGeom prst="rect">
            <a:avLst/>
          </a:prstGeom>
        </p:spPr>
      </p:pic>
      <p:grpSp>
        <p:nvGrpSpPr>
          <p:cNvPr id="56" name="グループ化 55"/>
          <p:cNvGrpSpPr/>
          <p:nvPr/>
        </p:nvGrpSpPr>
        <p:grpSpPr>
          <a:xfrm>
            <a:off x="4612076" y="561377"/>
            <a:ext cx="589555" cy="598095"/>
            <a:chOff x="6028503" y="346554"/>
            <a:chExt cx="825377" cy="837333"/>
          </a:xfrm>
        </p:grpSpPr>
        <p:sp>
          <p:nvSpPr>
            <p:cNvPr id="10" name="角丸四角形 9"/>
            <p:cNvSpPr/>
            <p:nvPr/>
          </p:nvSpPr>
          <p:spPr>
            <a:xfrm>
              <a:off x="6028503" y="832266"/>
              <a:ext cx="825377" cy="35162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1191" y="634554"/>
              <a:ext cx="1" cy="1977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7191" y="34655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64234"/>
            <a:ext cx="4234692" cy="2631361"/>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標準グリップのスイッチパターンを設定できます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case1</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AUX1/AUX2,4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Reverse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と</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を入れ替えます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注意：</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case1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を利用する場合は変換ハーネス</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(05642-00904)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を取り付ける必要があります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1856279"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case2</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Reverse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Reverse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Slide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Reverse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の左右を入れ替えます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1217864"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Detent</a:t>
            </a:r>
          </a:p>
          <a:p>
            <a:pPr marL="128574">
              <a:tabLst>
                <a:tab pos="1217864"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Detent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AUX1(B)</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にデテント機能を割り当てます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76498" y="562484"/>
            <a:ext cx="594325" cy="598648"/>
            <a:chOff x="6028503" y="337850"/>
            <a:chExt cx="832055" cy="838108"/>
          </a:xfrm>
        </p:grpSpPr>
        <p:sp>
          <p:nvSpPr>
            <p:cNvPr id="27" name="角丸四角形 26"/>
            <p:cNvSpPr/>
            <p:nvPr/>
          </p:nvSpPr>
          <p:spPr>
            <a:xfrm>
              <a:off x="6028503" y="824337"/>
              <a:ext cx="832055" cy="35162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flipH="1">
              <a:off x="6444531" y="625850"/>
              <a:ext cx="12524" cy="19848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13056" y="33785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82172" y="585420"/>
            <a:ext cx="594326" cy="576629"/>
            <a:chOff x="6028504" y="368677"/>
            <a:chExt cx="832057" cy="807281"/>
          </a:xfrm>
        </p:grpSpPr>
        <p:sp>
          <p:nvSpPr>
            <p:cNvPr id="35" name="角丸四角形 34"/>
            <p:cNvSpPr/>
            <p:nvPr/>
          </p:nvSpPr>
          <p:spPr>
            <a:xfrm>
              <a:off x="6028504" y="824335"/>
              <a:ext cx="832057" cy="35162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44532" y="627270"/>
              <a:ext cx="0" cy="19706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18702" y="368677"/>
              <a:ext cx="251661" cy="258593"/>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A68553DA-5B35-BF5E-443A-39F261AB344A}"/>
              </a:ext>
            </a:extLst>
          </p:cNvPr>
          <p:cNvSpPr>
            <a:spLocks noGrp="1"/>
          </p:cNvSpPr>
          <p:nvPr>
            <p:ph type="body" sz="quarter" idx="10"/>
          </p:nvPr>
        </p:nvSpPr>
        <p:spPr/>
        <p:txBody>
          <a:bodyPr/>
          <a:lstStyle/>
          <a:p>
            <a:r>
              <a:rPr lang="en-US" altLang="ja-JP" dirty="0"/>
              <a:t>Operating lever switch</a:t>
            </a:r>
            <a:r>
              <a:rPr lang="ja-JP" altLang="en-US" dirty="0"/>
              <a:t>画面</a:t>
            </a:r>
          </a:p>
        </p:txBody>
      </p:sp>
    </p:spTree>
    <p:extLst>
      <p:ext uri="{BB962C8B-B14F-4D97-AF65-F5344CB8AC3E}">
        <p14:creationId xmlns:p14="http://schemas.microsoft.com/office/powerpoint/2010/main" val="359494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A6968D50-12D1-DD3B-245B-F8EE9E438E3B}"/>
              </a:ext>
            </a:extLst>
          </p:cNvPr>
          <p:cNvPicPr>
            <a:picLocks noChangeAspect="1"/>
          </p:cNvPicPr>
          <p:nvPr/>
        </p:nvPicPr>
        <p:blipFill>
          <a:blip r:embed="rId2"/>
          <a:stretch>
            <a:fillRect/>
          </a:stretch>
        </p:blipFill>
        <p:spPr>
          <a:xfrm>
            <a:off x="1842337" y="4452410"/>
            <a:ext cx="846549" cy="1276878"/>
          </a:xfrm>
          <a:prstGeom prst="rect">
            <a:avLst/>
          </a:prstGeom>
        </p:spPr>
      </p:pic>
      <p:pic>
        <p:nvPicPr>
          <p:cNvPr id="5" name="図 4">
            <a:extLst>
              <a:ext uri="{FF2B5EF4-FFF2-40B4-BE49-F238E27FC236}">
                <a16:creationId xmlns:a16="http://schemas.microsoft.com/office/drawing/2014/main" id="{EA28B3DC-7F44-55B4-749E-F643E355736F}"/>
              </a:ext>
            </a:extLst>
          </p:cNvPr>
          <p:cNvPicPr>
            <a:picLocks noChangeAspect="1"/>
          </p:cNvPicPr>
          <p:nvPr/>
        </p:nvPicPr>
        <p:blipFill>
          <a:blip r:embed="rId3"/>
          <a:stretch>
            <a:fillRect/>
          </a:stretch>
        </p:blipFill>
        <p:spPr>
          <a:xfrm>
            <a:off x="344488" y="657225"/>
            <a:ext cx="4880610" cy="3366135"/>
          </a:xfrm>
          <a:prstGeom prst="rect">
            <a:avLst/>
          </a:prstGeom>
        </p:spPr>
      </p:pic>
      <p:grpSp>
        <p:nvGrpSpPr>
          <p:cNvPr id="56" name="グループ化 55"/>
          <p:cNvGrpSpPr/>
          <p:nvPr/>
        </p:nvGrpSpPr>
        <p:grpSpPr>
          <a:xfrm>
            <a:off x="4635499" y="575895"/>
            <a:ext cx="604311" cy="576629"/>
            <a:chOff x="6032427" y="355342"/>
            <a:chExt cx="846036" cy="807281"/>
          </a:xfrm>
        </p:grpSpPr>
        <p:sp>
          <p:nvSpPr>
            <p:cNvPr id="10" name="角丸四角形 9"/>
            <p:cNvSpPr/>
            <p:nvPr/>
          </p:nvSpPr>
          <p:spPr>
            <a:xfrm>
              <a:off x="6032427" y="824335"/>
              <a:ext cx="846036"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38829" y="643342"/>
              <a:ext cx="16617"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294829"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304"/>
            <a:ext cx="4234692" cy="2252155"/>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多機能グリップのスイッチパターンを設定できます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Left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左グリップのスイッチを設定します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Right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Grip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右グリップのスイッチを設定します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１</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７</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プッシュボタンに機能を割り当てます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SS1~3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スライドスイッチに機能を割り当てます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Rev.</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を有効にするとスライドスイッチが反転します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Dead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Band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に数値を入力すると、中立位置に不感帯を設定できます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a:t>
            </a:r>
            <a:r>
              <a:rPr lang="en-US" altLang="ja-JP" sz="857" i="1"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設定を初期値に戻します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529312" y="575895"/>
            <a:ext cx="612773" cy="576629"/>
            <a:chOff x="6028503" y="355342"/>
            <a:chExt cx="857882" cy="807281"/>
          </a:xfrm>
        </p:grpSpPr>
        <p:sp>
          <p:nvSpPr>
            <p:cNvPr id="27" name="角丸四角形 26"/>
            <p:cNvSpPr/>
            <p:nvPr/>
          </p:nvSpPr>
          <p:spPr>
            <a:xfrm>
              <a:off x="6028503" y="824335"/>
              <a:ext cx="857882"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32" name="直線矢印コネクタ 31"/>
            <p:cNvCxnSpPr>
              <a:cxnSpLocks/>
              <a:stCxn id="33" idx="4"/>
              <a:endCxn id="27" idx="0"/>
            </p:cNvCxnSpPr>
            <p:nvPr/>
          </p:nvCxnSpPr>
          <p:spPr>
            <a:xfrm>
              <a:off x="6457443" y="643342"/>
              <a:ext cx="1"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13444"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901825" y="575895"/>
            <a:ext cx="612773" cy="576630"/>
            <a:chOff x="6007905" y="355342"/>
            <a:chExt cx="857882" cy="807283"/>
          </a:xfrm>
        </p:grpSpPr>
        <p:sp>
          <p:nvSpPr>
            <p:cNvPr id="35" name="角丸四角形 34"/>
            <p:cNvSpPr/>
            <p:nvPr/>
          </p:nvSpPr>
          <p:spPr>
            <a:xfrm>
              <a:off x="6007905" y="824337"/>
              <a:ext cx="857882" cy="338288"/>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dirty="0"/>
            </a:p>
          </p:txBody>
        </p:sp>
        <p:cxnSp>
          <p:nvCxnSpPr>
            <p:cNvPr id="36" name="直線矢印コネクタ 35"/>
            <p:cNvCxnSpPr>
              <a:cxnSpLocks/>
              <a:stCxn id="37" idx="4"/>
              <a:endCxn id="35" idx="0"/>
            </p:cNvCxnSpPr>
            <p:nvPr/>
          </p:nvCxnSpPr>
          <p:spPr>
            <a:xfrm>
              <a:off x="6436847" y="643342"/>
              <a:ext cx="0" cy="1809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92847"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7" name="グループ化 16"/>
          <p:cNvGrpSpPr/>
          <p:nvPr/>
        </p:nvGrpSpPr>
        <p:grpSpPr>
          <a:xfrm>
            <a:off x="4462583" y="3429000"/>
            <a:ext cx="704727" cy="590550"/>
            <a:chOff x="6028503" y="320026"/>
            <a:chExt cx="986618" cy="826770"/>
          </a:xfrm>
        </p:grpSpPr>
        <p:sp>
          <p:nvSpPr>
            <p:cNvPr id="18" name="角丸四角形 17"/>
            <p:cNvSpPr/>
            <p:nvPr/>
          </p:nvSpPr>
          <p:spPr>
            <a:xfrm>
              <a:off x="6028503" y="824337"/>
              <a:ext cx="986618" cy="32245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9" name="直線矢印コネクタ 18"/>
            <p:cNvCxnSpPr>
              <a:cxnSpLocks/>
              <a:stCxn id="20" idx="4"/>
              <a:endCxn id="18" idx="0"/>
            </p:cNvCxnSpPr>
            <p:nvPr/>
          </p:nvCxnSpPr>
          <p:spPr>
            <a:xfrm>
              <a:off x="6506651" y="608026"/>
              <a:ext cx="15162" cy="21631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362651" y="32002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15" name="テキスト ボックス 14">
            <a:extLst>
              <a:ext uri="{FF2B5EF4-FFF2-40B4-BE49-F238E27FC236}">
                <a16:creationId xmlns:a16="http://schemas.microsoft.com/office/drawing/2014/main" id="{9054D044-FC81-3AB2-90E6-532B4D6866BE}"/>
              </a:ext>
            </a:extLst>
          </p:cNvPr>
          <p:cNvSpPr txBox="1"/>
          <p:nvPr/>
        </p:nvSpPr>
        <p:spPr>
          <a:xfrm>
            <a:off x="418737" y="4251416"/>
            <a:ext cx="726481" cy="213264"/>
          </a:xfrm>
          <a:prstGeom prst="rect">
            <a:avLst/>
          </a:prstGeom>
          <a:noFill/>
        </p:spPr>
        <p:txBody>
          <a:bodyPr wrap="none" rtlCol="0">
            <a:spAutoFit/>
          </a:bodyPr>
          <a:lstStyle/>
          <a:p>
            <a:r>
              <a:rPr lang="ja-JP" altLang="en-US" sz="786" dirty="0"/>
              <a:t>スイッチ機能</a:t>
            </a:r>
          </a:p>
        </p:txBody>
      </p:sp>
      <p:sp>
        <p:nvSpPr>
          <p:cNvPr id="16" name="テキスト ボックス 15">
            <a:extLst>
              <a:ext uri="{FF2B5EF4-FFF2-40B4-BE49-F238E27FC236}">
                <a16:creationId xmlns:a16="http://schemas.microsoft.com/office/drawing/2014/main" id="{1F7F773D-AB3A-7F90-E0BB-734C6FD52FBE}"/>
              </a:ext>
            </a:extLst>
          </p:cNvPr>
          <p:cNvSpPr txBox="1"/>
          <p:nvPr/>
        </p:nvSpPr>
        <p:spPr>
          <a:xfrm>
            <a:off x="1755973" y="4254383"/>
            <a:ext cx="1053494" cy="213264"/>
          </a:xfrm>
          <a:prstGeom prst="rect">
            <a:avLst/>
          </a:prstGeom>
          <a:noFill/>
        </p:spPr>
        <p:txBody>
          <a:bodyPr wrap="none" rtlCol="0">
            <a:spAutoFit/>
          </a:bodyPr>
          <a:lstStyle/>
          <a:p>
            <a:r>
              <a:rPr lang="ja-JP" altLang="en-US" sz="786" dirty="0"/>
              <a:t>スライドスイッチ機能</a:t>
            </a:r>
          </a:p>
        </p:txBody>
      </p:sp>
      <p:sp>
        <p:nvSpPr>
          <p:cNvPr id="2" name="テキスト プレースホルダー 1">
            <a:extLst>
              <a:ext uri="{FF2B5EF4-FFF2-40B4-BE49-F238E27FC236}">
                <a16:creationId xmlns:a16="http://schemas.microsoft.com/office/drawing/2014/main" id="{1D8EA4B8-13A4-DFB8-75D4-77B5B93DE6A3}"/>
              </a:ext>
            </a:extLst>
          </p:cNvPr>
          <p:cNvSpPr>
            <a:spLocks noGrp="1"/>
          </p:cNvSpPr>
          <p:nvPr>
            <p:ph type="body" sz="quarter" idx="10"/>
          </p:nvPr>
        </p:nvSpPr>
        <p:spPr/>
        <p:txBody>
          <a:bodyPr/>
          <a:lstStyle/>
          <a:p>
            <a:r>
              <a:rPr lang="en-US" altLang="ja-JP" dirty="0"/>
              <a:t>Operating lever switch(Multi-Function Grip)</a:t>
            </a:r>
            <a:r>
              <a:rPr lang="ja-JP" altLang="en-US" dirty="0"/>
              <a:t>画面</a:t>
            </a:r>
          </a:p>
        </p:txBody>
      </p:sp>
      <p:pic>
        <p:nvPicPr>
          <p:cNvPr id="6" name="図 5">
            <a:extLst>
              <a:ext uri="{FF2B5EF4-FFF2-40B4-BE49-F238E27FC236}">
                <a16:creationId xmlns:a16="http://schemas.microsoft.com/office/drawing/2014/main" id="{086BEB39-84CA-EB3B-99DA-D02C90223994}"/>
              </a:ext>
            </a:extLst>
          </p:cNvPr>
          <p:cNvPicPr>
            <a:picLocks noChangeAspect="1"/>
          </p:cNvPicPr>
          <p:nvPr/>
        </p:nvPicPr>
        <p:blipFill rotWithShape="1">
          <a:blip r:embed="rId4"/>
          <a:srcRect t="13089"/>
          <a:stretch/>
        </p:blipFill>
        <p:spPr>
          <a:xfrm>
            <a:off x="456014" y="4464680"/>
            <a:ext cx="845701" cy="1069649"/>
          </a:xfrm>
          <a:prstGeom prst="rect">
            <a:avLst/>
          </a:prstGeom>
        </p:spPr>
      </p:pic>
      <p:pic>
        <p:nvPicPr>
          <p:cNvPr id="8" name="図 7">
            <a:extLst>
              <a:ext uri="{FF2B5EF4-FFF2-40B4-BE49-F238E27FC236}">
                <a16:creationId xmlns:a16="http://schemas.microsoft.com/office/drawing/2014/main" id="{E319468C-7530-543C-529C-CF39A1BAE9D4}"/>
              </a:ext>
            </a:extLst>
          </p:cNvPr>
          <p:cNvPicPr>
            <a:picLocks noChangeAspect="1"/>
          </p:cNvPicPr>
          <p:nvPr/>
        </p:nvPicPr>
        <p:blipFill>
          <a:blip r:embed="rId5"/>
          <a:srcRect l="6213" t="50037" r="1770" b="3974"/>
          <a:stretch>
            <a:fillRect/>
          </a:stretch>
        </p:blipFill>
        <p:spPr>
          <a:xfrm>
            <a:off x="456014" y="5534330"/>
            <a:ext cx="845701" cy="597254"/>
          </a:xfrm>
          <a:prstGeom prst="rect">
            <a:avLst/>
          </a:prstGeom>
        </p:spPr>
      </p:pic>
      <p:sp>
        <p:nvSpPr>
          <p:cNvPr id="21" name="テキスト ボックス 20">
            <a:extLst>
              <a:ext uri="{FF2B5EF4-FFF2-40B4-BE49-F238E27FC236}">
                <a16:creationId xmlns:a16="http://schemas.microsoft.com/office/drawing/2014/main" id="{301854B6-17A6-78A4-1BB5-BA69C74A0CAC}"/>
              </a:ext>
            </a:extLst>
          </p:cNvPr>
          <p:cNvSpPr txBox="1"/>
          <p:nvPr/>
        </p:nvSpPr>
        <p:spPr>
          <a:xfrm>
            <a:off x="198660" y="5516225"/>
            <a:ext cx="402702" cy="215444"/>
          </a:xfrm>
          <a:prstGeom prst="rect">
            <a:avLst/>
          </a:prstGeom>
          <a:noFill/>
        </p:spPr>
        <p:txBody>
          <a:bodyPr wrap="square"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22" name="テキスト ボックス 21">
            <a:extLst>
              <a:ext uri="{FF2B5EF4-FFF2-40B4-BE49-F238E27FC236}">
                <a16:creationId xmlns:a16="http://schemas.microsoft.com/office/drawing/2014/main" id="{0695427E-C1FE-CD96-3037-2B195BE683D9}"/>
              </a:ext>
            </a:extLst>
          </p:cNvPr>
          <p:cNvSpPr txBox="1"/>
          <p:nvPr/>
        </p:nvSpPr>
        <p:spPr>
          <a:xfrm>
            <a:off x="198659" y="5663332"/>
            <a:ext cx="363315" cy="215444"/>
          </a:xfrm>
          <a:prstGeom prst="rect">
            <a:avLst/>
          </a:prstGeom>
          <a:noFill/>
        </p:spPr>
        <p:txBody>
          <a:bodyPr wrap="square"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23" name="テキスト ボックス 22">
            <a:extLst>
              <a:ext uri="{FF2B5EF4-FFF2-40B4-BE49-F238E27FC236}">
                <a16:creationId xmlns:a16="http://schemas.microsoft.com/office/drawing/2014/main" id="{82ED8C17-216E-FB98-7E3F-A3CE46BF3FA8}"/>
              </a:ext>
            </a:extLst>
          </p:cNvPr>
          <p:cNvSpPr txBox="1"/>
          <p:nvPr/>
        </p:nvSpPr>
        <p:spPr>
          <a:xfrm>
            <a:off x="198659" y="5957545"/>
            <a:ext cx="363313" cy="215444"/>
          </a:xfrm>
          <a:prstGeom prst="rect">
            <a:avLst/>
          </a:prstGeom>
          <a:noFill/>
        </p:spPr>
        <p:txBody>
          <a:bodyPr wrap="square"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24" name="テキスト ボックス 23">
            <a:extLst>
              <a:ext uri="{FF2B5EF4-FFF2-40B4-BE49-F238E27FC236}">
                <a16:creationId xmlns:a16="http://schemas.microsoft.com/office/drawing/2014/main" id="{D10320A7-BF2B-D501-7ED0-06F52C989295}"/>
              </a:ext>
            </a:extLst>
          </p:cNvPr>
          <p:cNvSpPr txBox="1"/>
          <p:nvPr/>
        </p:nvSpPr>
        <p:spPr>
          <a:xfrm>
            <a:off x="198660" y="5810439"/>
            <a:ext cx="363314" cy="215444"/>
          </a:xfrm>
          <a:prstGeom prst="rect">
            <a:avLst/>
          </a:prstGeom>
          <a:noFill/>
        </p:spPr>
        <p:txBody>
          <a:bodyPr wrap="square" rtlCol="0">
            <a:spAutoFit/>
          </a:bodyPr>
          <a:lstStyle/>
          <a:p>
            <a:r>
              <a:rPr kumimoji="1" lang="en-US" altLang="ja-JP" sz="800" dirty="0">
                <a:solidFill>
                  <a:srgbClr val="FF0000"/>
                </a:solidFill>
              </a:rPr>
              <a:t>Δ07</a:t>
            </a:r>
            <a:endParaRPr kumimoji="1" lang="ja-JP" altLang="en-US" sz="800" dirty="0">
              <a:solidFill>
                <a:srgbClr val="FF0000"/>
              </a:solidFill>
            </a:endParaRPr>
          </a:p>
        </p:txBody>
      </p:sp>
      <p:sp>
        <p:nvSpPr>
          <p:cNvPr id="25" name="テキスト ボックス 24">
            <a:extLst>
              <a:ext uri="{FF2B5EF4-FFF2-40B4-BE49-F238E27FC236}">
                <a16:creationId xmlns:a16="http://schemas.microsoft.com/office/drawing/2014/main" id="{C3C825F9-75B0-41B1-231F-656C41DC6B9D}"/>
              </a:ext>
            </a:extLst>
          </p:cNvPr>
          <p:cNvSpPr txBox="1"/>
          <p:nvPr/>
        </p:nvSpPr>
        <p:spPr>
          <a:xfrm>
            <a:off x="1581590" y="5534329"/>
            <a:ext cx="366270" cy="215444"/>
          </a:xfrm>
          <a:prstGeom prst="rect">
            <a:avLst/>
          </a:prstGeom>
          <a:noFill/>
        </p:spPr>
        <p:txBody>
          <a:bodyPr wrap="square" rtlCol="0">
            <a:spAutoFit/>
          </a:bodyPr>
          <a:lstStyle/>
          <a:p>
            <a:r>
              <a:rPr kumimoji="1" lang="en-US" altLang="ja-JP" sz="800" dirty="0">
                <a:solidFill>
                  <a:srgbClr val="FF0000"/>
                </a:solidFill>
              </a:rPr>
              <a:t>Δ07</a:t>
            </a:r>
            <a:endParaRPr kumimoji="1" lang="ja-JP" altLang="en-US" sz="800" dirty="0">
              <a:solidFill>
                <a:srgbClr val="FF0000"/>
              </a:solidFill>
            </a:endParaRPr>
          </a:p>
        </p:txBody>
      </p:sp>
    </p:spTree>
    <p:extLst>
      <p:ext uri="{BB962C8B-B14F-4D97-AF65-F5344CB8AC3E}">
        <p14:creationId xmlns:p14="http://schemas.microsoft.com/office/powerpoint/2010/main" val="2210957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4C0FF06C-B69B-E154-25A6-1D762832B9DD}"/>
              </a:ext>
            </a:extLst>
          </p:cNvPr>
          <p:cNvSpPr>
            <a:spLocks noGrp="1"/>
          </p:cNvSpPr>
          <p:nvPr>
            <p:ph type="body" sz="quarter" idx="10"/>
          </p:nvPr>
        </p:nvSpPr>
        <p:spPr/>
        <p:txBody>
          <a:bodyPr/>
          <a:lstStyle/>
          <a:p>
            <a:r>
              <a:rPr lang="en-US" altLang="ja-JP" dirty="0"/>
              <a:t>270deg camera</a:t>
            </a:r>
            <a:r>
              <a:rPr lang="ja-JP" altLang="en-US" dirty="0"/>
              <a:t>画面</a:t>
            </a:r>
          </a:p>
          <a:p>
            <a:endParaRPr lang="ja-JP" altLang="en-US" dirty="0"/>
          </a:p>
        </p:txBody>
      </p:sp>
      <p:pic>
        <p:nvPicPr>
          <p:cNvPr id="2" name="コンテンツプレースホルダ 1"/>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44488" y="657958"/>
            <a:ext cx="4857750" cy="3371850"/>
          </a:xfrm>
          <a:prstGeom prst="rect">
            <a:avLst/>
          </a:prstGeom>
        </p:spPr>
      </p:pic>
      <p:grpSp>
        <p:nvGrpSpPr>
          <p:cNvPr id="56" name="グループ化 55"/>
          <p:cNvGrpSpPr/>
          <p:nvPr/>
        </p:nvGrpSpPr>
        <p:grpSpPr>
          <a:xfrm>
            <a:off x="4564085" y="575947"/>
            <a:ext cx="603226" cy="586104"/>
            <a:chOff x="6028504" y="364987"/>
            <a:chExt cx="844517" cy="820545"/>
          </a:xfrm>
        </p:grpSpPr>
        <p:sp>
          <p:nvSpPr>
            <p:cNvPr id="10" name="角丸四角形 9"/>
            <p:cNvSpPr/>
            <p:nvPr/>
          </p:nvSpPr>
          <p:spPr>
            <a:xfrm>
              <a:off x="6028504" y="824337"/>
              <a:ext cx="844517" cy="36119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50763" y="652986"/>
              <a:ext cx="0" cy="17135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6763" y="36498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958"/>
            <a:ext cx="4234692" cy="966162"/>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270°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カメラシステムのキャリブレーションを実行できます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キャリブレーションを実行します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SAVE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キャリブレーションの結果を保存します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7" name="グループ化 16"/>
          <p:cNvGrpSpPr/>
          <p:nvPr/>
        </p:nvGrpSpPr>
        <p:grpSpPr>
          <a:xfrm>
            <a:off x="1344508" y="1305265"/>
            <a:ext cx="950860" cy="594974"/>
            <a:chOff x="6028504" y="809507"/>
            <a:chExt cx="1331205" cy="832963"/>
          </a:xfrm>
        </p:grpSpPr>
        <p:sp>
          <p:nvSpPr>
            <p:cNvPr id="18" name="角丸四角形 17"/>
            <p:cNvSpPr/>
            <p:nvPr/>
          </p:nvSpPr>
          <p:spPr>
            <a:xfrm>
              <a:off x="6028504" y="809507"/>
              <a:ext cx="855174" cy="3600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sp>
          <p:nvSpPr>
            <p:cNvPr id="20" name="円/楕円 19"/>
            <p:cNvSpPr/>
            <p:nvPr/>
          </p:nvSpPr>
          <p:spPr>
            <a:xfrm>
              <a:off x="7071709" y="84552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sp>
          <p:nvSpPr>
            <p:cNvPr id="29" name="角丸四角形 28"/>
            <p:cNvSpPr/>
            <p:nvPr/>
          </p:nvSpPr>
          <p:spPr>
            <a:xfrm>
              <a:off x="6028504" y="1293537"/>
              <a:ext cx="855174" cy="34893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sp>
          <p:nvSpPr>
            <p:cNvPr id="30" name="円/楕円 29"/>
            <p:cNvSpPr/>
            <p:nvPr/>
          </p:nvSpPr>
          <p:spPr>
            <a:xfrm>
              <a:off x="7071709" y="1324004"/>
              <a:ext cx="288000" cy="287999"/>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cxnSp>
        <p:nvCxnSpPr>
          <p:cNvPr id="22" name="直線矢印コネクタ 21"/>
          <p:cNvCxnSpPr>
            <a:cxnSpLocks/>
            <a:stCxn id="20" idx="2"/>
            <a:endCxn id="18" idx="3"/>
          </p:cNvCxnSpPr>
          <p:nvPr/>
        </p:nvCxnSpPr>
        <p:spPr>
          <a:xfrm flipH="1">
            <a:off x="1955346" y="1433852"/>
            <a:ext cx="134308"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718292F3-3597-C2FE-8656-6BA3EF361263}"/>
              </a:ext>
            </a:extLst>
          </p:cNvPr>
          <p:cNvCxnSpPr>
            <a:cxnSpLocks/>
            <a:stCxn id="30" idx="2"/>
            <a:endCxn id="29" idx="3"/>
          </p:cNvCxnSpPr>
          <p:nvPr/>
        </p:nvCxnSpPr>
        <p:spPr>
          <a:xfrm flipH="1">
            <a:off x="1955346" y="1775620"/>
            <a:ext cx="13430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2204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EBF3CD8-E8B2-D7C0-AC14-62B03922F2FE}"/>
              </a:ext>
            </a:extLst>
          </p:cNvPr>
          <p:cNvPicPr>
            <a:picLocks noChangeAspect="1"/>
          </p:cNvPicPr>
          <p:nvPr/>
        </p:nvPicPr>
        <p:blipFill>
          <a:blip r:embed="rId2"/>
          <a:stretch>
            <a:fillRect/>
          </a:stretch>
        </p:blipFill>
        <p:spPr>
          <a:xfrm>
            <a:off x="348355" y="675895"/>
            <a:ext cx="4849110" cy="3357952"/>
          </a:xfrm>
          <a:prstGeom prst="rect">
            <a:avLst/>
          </a:prstGeom>
        </p:spPr>
      </p:pic>
      <p:grpSp>
        <p:nvGrpSpPr>
          <p:cNvPr id="56" name="グループ化 55"/>
          <p:cNvGrpSpPr/>
          <p:nvPr/>
        </p:nvGrpSpPr>
        <p:grpSpPr>
          <a:xfrm>
            <a:off x="4600596" y="562355"/>
            <a:ext cx="619101" cy="599694"/>
            <a:chOff x="6028503" y="345324"/>
            <a:chExt cx="866742" cy="839571"/>
          </a:xfrm>
        </p:grpSpPr>
        <p:sp>
          <p:nvSpPr>
            <p:cNvPr id="10" name="角丸四角形 9"/>
            <p:cNvSpPr/>
            <p:nvPr/>
          </p:nvSpPr>
          <p:spPr>
            <a:xfrm>
              <a:off x="6028503" y="824335"/>
              <a:ext cx="866742"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1875" y="633323"/>
              <a:ext cx="0" cy="1910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7875" y="34532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2631361"/>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エンジンオートストップの情報と設定を行えます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1344613" algn="l"/>
                <a:tab pos="2066925"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auto stop time</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レバーロックを上げた状態で何分間後に</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en-US" altLang="ja-JP" sz="857" dirty="0">
                <a:latin typeface="Meiryo UI" panose="020B0604030504040204" pitchFamily="50" charset="-128"/>
                <a:ea typeface="Meiryo UI" panose="020B0604030504040204" pitchFamily="50" charset="-128"/>
                <a:cs typeface="Meiryo UI" panose="020B0604030504040204" pitchFamily="50" charset="-128"/>
              </a:rPr>
              <a: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エンジン停止するか設定できます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639549" algn="l"/>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設定可能範囲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0~255</a:t>
            </a:r>
          </a:p>
          <a:p>
            <a:pPr marL="128574">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に設定するとオートストップしなくなります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6213" indent="-176213">
              <a:spcBef>
                <a:spcPts val="857"/>
              </a:spcBef>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countdown timer	</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エンジンが停止するまでの時間を表示します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701916"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machine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conditions</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エンジンオートストップに関する状態を確認できます。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すべて</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OFF</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であれば指定時間後にエンジンが停止します。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どれか一つでも</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がある場合、エンジンは停止しません。</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93589" y="562355"/>
            <a:ext cx="602220" cy="596887"/>
            <a:chOff x="5992899" y="401080"/>
            <a:chExt cx="843108" cy="835643"/>
          </a:xfrm>
        </p:grpSpPr>
        <p:sp>
          <p:nvSpPr>
            <p:cNvPr id="27" name="角丸四角形 26"/>
            <p:cNvSpPr/>
            <p:nvPr/>
          </p:nvSpPr>
          <p:spPr>
            <a:xfrm>
              <a:off x="5992899" y="876162"/>
              <a:ext cx="843108" cy="3605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a:off x="6414453" y="689080"/>
              <a:ext cx="0" cy="1870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70453" y="40108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80631" y="562355"/>
            <a:ext cx="602220" cy="596888"/>
            <a:chOff x="6028504" y="343100"/>
            <a:chExt cx="843108" cy="835644"/>
          </a:xfrm>
        </p:grpSpPr>
        <p:sp>
          <p:nvSpPr>
            <p:cNvPr id="35" name="角丸四角形 34"/>
            <p:cNvSpPr/>
            <p:nvPr/>
          </p:nvSpPr>
          <p:spPr>
            <a:xfrm>
              <a:off x="6028504" y="818184"/>
              <a:ext cx="843108"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flipH="1">
              <a:off x="6450058" y="631100"/>
              <a:ext cx="3214" cy="1870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09273" y="34310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9B997D1C-15E9-AFE7-7F9C-F24835E6230D}"/>
              </a:ext>
            </a:extLst>
          </p:cNvPr>
          <p:cNvSpPr>
            <a:spLocks noGrp="1"/>
          </p:cNvSpPr>
          <p:nvPr>
            <p:ph type="body" sz="quarter" idx="10"/>
          </p:nvPr>
        </p:nvSpPr>
        <p:spPr/>
        <p:txBody>
          <a:bodyPr/>
          <a:lstStyle/>
          <a:p>
            <a:r>
              <a:rPr lang="en-US" altLang="ja-JP" dirty="0"/>
              <a:t>Engine auto stop</a:t>
            </a:r>
            <a:r>
              <a:rPr lang="ja-JP" altLang="en-US" dirty="0"/>
              <a:t>画面</a:t>
            </a:r>
          </a:p>
        </p:txBody>
      </p:sp>
      <p:sp>
        <p:nvSpPr>
          <p:cNvPr id="7" name="テキスト ボックス 6">
            <a:extLst>
              <a:ext uri="{FF2B5EF4-FFF2-40B4-BE49-F238E27FC236}">
                <a16:creationId xmlns:a16="http://schemas.microsoft.com/office/drawing/2014/main" id="{82C8584B-6096-CF54-A76E-B2F2C8B6AF92}"/>
              </a:ext>
            </a:extLst>
          </p:cNvPr>
          <p:cNvSpPr txBox="1"/>
          <p:nvPr/>
        </p:nvSpPr>
        <p:spPr>
          <a:xfrm>
            <a:off x="350176" y="4057358"/>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Δ04</a:t>
            </a:r>
            <a:r>
              <a:rPr kumimoji="1" lang="ja-JP" altLang="en-US" sz="800" dirty="0">
                <a:solidFill>
                  <a:srgbClr val="FF0000"/>
                </a:solidFill>
              </a:rPr>
              <a:t> 画面イメージ更新</a:t>
            </a:r>
          </a:p>
        </p:txBody>
      </p:sp>
      <p:sp>
        <p:nvSpPr>
          <p:cNvPr id="5" name="テキスト ボックス 4">
            <a:extLst>
              <a:ext uri="{FF2B5EF4-FFF2-40B4-BE49-F238E27FC236}">
                <a16:creationId xmlns:a16="http://schemas.microsoft.com/office/drawing/2014/main" id="{FE387567-65C4-707C-A880-C72FB865AD9E}"/>
              </a:ext>
            </a:extLst>
          </p:cNvPr>
          <p:cNvSpPr txBox="1"/>
          <p:nvPr/>
        </p:nvSpPr>
        <p:spPr>
          <a:xfrm>
            <a:off x="8697148" y="963428"/>
            <a:ext cx="665814" cy="195814"/>
          </a:xfrm>
          <a:prstGeom prst="rect">
            <a:avLst/>
          </a:prstGeom>
          <a:noFill/>
        </p:spPr>
        <p:txBody>
          <a:bodyPr wrap="none" lIns="36000" tIns="36000" rIns="36000" bIns="36000" rtlCol="0">
            <a:spAutoFit/>
          </a:bodyPr>
          <a:lstStyle/>
          <a:p>
            <a:r>
              <a:rPr kumimoji="1" lang="en-US" altLang="ja-JP" sz="800" dirty="0">
                <a:solidFill>
                  <a:srgbClr val="FF0000"/>
                </a:solidFill>
              </a:rPr>
              <a:t>Δ04</a:t>
            </a:r>
            <a:r>
              <a:rPr kumimoji="1" lang="ja-JP" altLang="en-US" sz="800" dirty="0">
                <a:solidFill>
                  <a:srgbClr val="FF0000"/>
                </a:solidFill>
              </a:rPr>
              <a:t> 名称変更</a:t>
            </a:r>
          </a:p>
        </p:txBody>
      </p:sp>
    </p:spTree>
    <p:extLst>
      <p:ext uri="{BB962C8B-B14F-4D97-AF65-F5344CB8AC3E}">
        <p14:creationId xmlns:p14="http://schemas.microsoft.com/office/powerpoint/2010/main" val="22397976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C06F4CA3-3EDE-0EAE-3DE9-392C369747D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44488" y="665121"/>
            <a:ext cx="4857143" cy="3355637"/>
          </a:xfrm>
          <a:prstGeom prst="rect">
            <a:avLst/>
          </a:prstGeom>
        </p:spPr>
      </p:pic>
      <p:grpSp>
        <p:nvGrpSpPr>
          <p:cNvPr id="56" name="グループ化 55"/>
          <p:cNvGrpSpPr/>
          <p:nvPr/>
        </p:nvGrpSpPr>
        <p:grpSpPr>
          <a:xfrm>
            <a:off x="4600596" y="562355"/>
            <a:ext cx="619101" cy="599694"/>
            <a:chOff x="6028503" y="345324"/>
            <a:chExt cx="866742" cy="839571"/>
          </a:xfrm>
        </p:grpSpPr>
        <p:sp>
          <p:nvSpPr>
            <p:cNvPr id="10" name="角丸四角形 9"/>
            <p:cNvSpPr/>
            <p:nvPr/>
          </p:nvSpPr>
          <p:spPr>
            <a:xfrm>
              <a:off x="6028503" y="824335"/>
              <a:ext cx="866742"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61875" y="633323"/>
              <a:ext cx="0" cy="1910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17875" y="34532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3109506"/>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エコプラスモードのパラメータを設定できます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361950" algn="l"/>
                <a:tab pos="701675"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エンジン回転数が</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モードから通常モードに移行するための件を設定します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エンジン負荷率とメインポンプ圧が共に設定値を超えると通常モードに移行します。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8953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エンジン負荷率</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en-US" altLang="ja-JP" sz="857" dirty="0">
                <a:latin typeface="Meiryo UI" panose="020B0604030504040204" pitchFamily="50" charset="-128"/>
                <a:ea typeface="Meiryo UI" panose="020B0604030504040204" pitchFamily="50" charset="-128"/>
                <a:cs typeface="Meiryo UI" panose="020B0604030504040204" pitchFamily="50" charset="-128"/>
              </a:rPr>
              <a:t>Pump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メインポンプ圧</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Speed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エンジン回転数が通常モードから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モードに移行するための条件を設定します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エンジン負荷率が設定値以下になったら</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Eco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モードに移行します。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8953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エンジン負荷率</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895350"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77800" indent="-177800">
              <a:spcBef>
                <a:spcPts val="857"/>
              </a:spcBef>
              <a:tabLst>
                <a:tab pos="895350"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エコプラスモードのパラメータをリセットします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93589" y="562355"/>
            <a:ext cx="602220" cy="596887"/>
            <a:chOff x="5992899" y="401080"/>
            <a:chExt cx="843108" cy="835643"/>
          </a:xfrm>
        </p:grpSpPr>
        <p:sp>
          <p:nvSpPr>
            <p:cNvPr id="27" name="角丸四角形 26"/>
            <p:cNvSpPr/>
            <p:nvPr/>
          </p:nvSpPr>
          <p:spPr>
            <a:xfrm>
              <a:off x="5992899" y="876162"/>
              <a:ext cx="843108" cy="36056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a:off x="6414453" y="689080"/>
              <a:ext cx="0" cy="18708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70453" y="40108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80631" y="562355"/>
            <a:ext cx="602220" cy="596888"/>
            <a:chOff x="6028504" y="343100"/>
            <a:chExt cx="843108" cy="835644"/>
          </a:xfrm>
        </p:grpSpPr>
        <p:sp>
          <p:nvSpPr>
            <p:cNvPr id="35" name="角丸四角形 34"/>
            <p:cNvSpPr/>
            <p:nvPr/>
          </p:nvSpPr>
          <p:spPr>
            <a:xfrm>
              <a:off x="6028504" y="818184"/>
              <a:ext cx="843108"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flipH="1">
              <a:off x="6450058" y="631100"/>
              <a:ext cx="3214" cy="18708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09273" y="34310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9B997D1C-15E9-AFE7-7F9C-F24835E6230D}"/>
              </a:ext>
            </a:extLst>
          </p:cNvPr>
          <p:cNvSpPr>
            <a:spLocks noGrp="1"/>
          </p:cNvSpPr>
          <p:nvPr>
            <p:ph type="body" sz="quarter" idx="10"/>
          </p:nvPr>
        </p:nvSpPr>
        <p:spPr/>
        <p:txBody>
          <a:bodyPr/>
          <a:lstStyle/>
          <a:p>
            <a:r>
              <a:rPr lang="en-US" altLang="ja-JP" dirty="0"/>
              <a:t>Eco</a:t>
            </a:r>
            <a:r>
              <a:rPr lang="ja-JP" altLang="en-US" dirty="0"/>
              <a:t> </a:t>
            </a:r>
            <a:r>
              <a:rPr lang="en-US" altLang="ja-JP" dirty="0"/>
              <a:t>plus</a:t>
            </a:r>
            <a:r>
              <a:rPr lang="ja-JP" altLang="en-US" dirty="0"/>
              <a:t> </a:t>
            </a:r>
            <a:r>
              <a:rPr lang="en-US" altLang="ja-JP" dirty="0"/>
              <a:t>mode</a:t>
            </a:r>
            <a:r>
              <a:rPr lang="ja-JP" altLang="en-US" dirty="0"/>
              <a:t>画面</a:t>
            </a:r>
          </a:p>
        </p:txBody>
      </p:sp>
      <p:grpSp>
        <p:nvGrpSpPr>
          <p:cNvPr id="2" name="グループ化 1">
            <a:extLst>
              <a:ext uri="{FF2B5EF4-FFF2-40B4-BE49-F238E27FC236}">
                <a16:creationId xmlns:a16="http://schemas.microsoft.com/office/drawing/2014/main" id="{6E03EE5C-3698-70DA-67D8-7A98614E82E0}"/>
              </a:ext>
            </a:extLst>
          </p:cNvPr>
          <p:cNvGrpSpPr/>
          <p:nvPr/>
        </p:nvGrpSpPr>
        <p:grpSpPr>
          <a:xfrm>
            <a:off x="3976915" y="562355"/>
            <a:ext cx="619101" cy="599694"/>
            <a:chOff x="6028503" y="345324"/>
            <a:chExt cx="866742" cy="839571"/>
          </a:xfrm>
        </p:grpSpPr>
        <p:sp>
          <p:nvSpPr>
            <p:cNvPr id="3" name="角丸四角形 9">
              <a:extLst>
                <a:ext uri="{FF2B5EF4-FFF2-40B4-BE49-F238E27FC236}">
                  <a16:creationId xmlns:a16="http://schemas.microsoft.com/office/drawing/2014/main" id="{40F175E1-2889-5E83-B089-F0AEE8EDFAFA}"/>
                </a:ext>
              </a:extLst>
            </p:cNvPr>
            <p:cNvSpPr/>
            <p:nvPr/>
          </p:nvSpPr>
          <p:spPr>
            <a:xfrm>
              <a:off x="6028503" y="824335"/>
              <a:ext cx="866742" cy="36056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4" name="直線矢印コネクタ 3">
              <a:extLst>
                <a:ext uri="{FF2B5EF4-FFF2-40B4-BE49-F238E27FC236}">
                  <a16:creationId xmlns:a16="http://schemas.microsoft.com/office/drawing/2014/main" id="{8ACAEE3B-4DAB-A0A3-73D3-88ADF078DFC2}"/>
                </a:ext>
              </a:extLst>
            </p:cNvPr>
            <p:cNvCxnSpPr>
              <a:cxnSpLocks/>
              <a:stCxn id="6" idx="4"/>
              <a:endCxn id="3" idx="0"/>
            </p:cNvCxnSpPr>
            <p:nvPr/>
          </p:nvCxnSpPr>
          <p:spPr>
            <a:xfrm>
              <a:off x="6461875" y="633323"/>
              <a:ext cx="0" cy="19101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円/楕円 11">
              <a:extLst>
                <a:ext uri="{FF2B5EF4-FFF2-40B4-BE49-F238E27FC236}">
                  <a16:creationId xmlns:a16="http://schemas.microsoft.com/office/drawing/2014/main" id="{7A139743-955C-A7E7-1409-17BFCDF61AC9}"/>
                </a:ext>
              </a:extLst>
            </p:cNvPr>
            <p:cNvSpPr/>
            <p:nvPr/>
          </p:nvSpPr>
          <p:spPr>
            <a:xfrm>
              <a:off x="6317875" y="34532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Tree>
    <p:extLst>
      <p:ext uri="{BB962C8B-B14F-4D97-AF65-F5344CB8AC3E}">
        <p14:creationId xmlns:p14="http://schemas.microsoft.com/office/powerpoint/2010/main" val="3557187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CEA47D3-ADDB-A30D-E711-3E104200A820}"/>
              </a:ext>
            </a:extLst>
          </p:cNvPr>
          <p:cNvPicPr>
            <a:picLocks noChangeAspect="1"/>
          </p:cNvPicPr>
          <p:nvPr/>
        </p:nvPicPr>
        <p:blipFill>
          <a:blip r:embed="rId2"/>
          <a:stretch>
            <a:fillRect/>
          </a:stretch>
        </p:blipFill>
        <p:spPr>
          <a:xfrm>
            <a:off x="339121" y="654520"/>
            <a:ext cx="4863533" cy="3381096"/>
          </a:xfrm>
          <a:prstGeom prst="rect">
            <a:avLst/>
          </a:prstGeom>
        </p:spPr>
      </p:pic>
      <p:grpSp>
        <p:nvGrpSpPr>
          <p:cNvPr id="56" name="グループ化 55"/>
          <p:cNvGrpSpPr/>
          <p:nvPr/>
        </p:nvGrpSpPr>
        <p:grpSpPr>
          <a:xfrm>
            <a:off x="4607312" y="552696"/>
            <a:ext cx="599686" cy="609348"/>
            <a:chOff x="6028504" y="322280"/>
            <a:chExt cx="839561" cy="853087"/>
          </a:xfrm>
        </p:grpSpPr>
        <p:sp>
          <p:nvSpPr>
            <p:cNvPr id="10" name="角丸四角形 9"/>
            <p:cNvSpPr/>
            <p:nvPr/>
          </p:nvSpPr>
          <p:spPr>
            <a:xfrm>
              <a:off x="6028504" y="828658"/>
              <a:ext cx="839561" cy="34670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448285" y="610280"/>
              <a:ext cx="0" cy="21837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304285" y="322280"/>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352018" cy="3983270"/>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オプション機能の確認と設定ができます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Option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	: 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	: 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AUX4</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Outrigger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アウトリガー仕様時にチェックを入れてください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Tow</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piece boom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２ピースブーム時にチェックを入れてください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 pressure fix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 pressure fix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AUX2</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圧力調整仕様時にチェックを入れてください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Multi function grip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多機能グリップ仕様時にチェックをいれてください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Boom suspension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ブームサスペンション仕様時にチェックをいれてください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Digging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brake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ディギングブレーキ仕様時にチェックをいれてください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270deg</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camera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270</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度カメラ仕様時にチェックをいれてください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High</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AUX1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高圧仕様時にチェックをいれてください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Extension Output	: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拡張出力機能を有効にする場合にチェックを入れてください</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279097"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Function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Setting</a:t>
            </a: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auto stop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エンジンオートストップを有効にする場合にチェックを入れてください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Auto grease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オートグリスを有効にする場合にチェックを入れてください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Display Rotation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ディスプレイ横画面切替を有効にする場合にチェックを入れてください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LED Pack 2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LED</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Pack</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２を有効にする場合にチェックを入れてください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decal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オートデセルを有効にする場合はチェックをいれてください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15663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camera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オートカメラを有効にする場合はチェックをいれてください</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87358" y="552696"/>
            <a:ext cx="589517" cy="609352"/>
            <a:chOff x="6028503" y="305351"/>
            <a:chExt cx="825324" cy="853093"/>
          </a:xfrm>
        </p:grpSpPr>
        <p:sp>
          <p:nvSpPr>
            <p:cNvPr id="27" name="角丸四角形 26"/>
            <p:cNvSpPr/>
            <p:nvPr/>
          </p:nvSpPr>
          <p:spPr>
            <a:xfrm>
              <a:off x="6028503" y="811735"/>
              <a:ext cx="825324" cy="34670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a:off x="6441166" y="593351"/>
              <a:ext cx="0" cy="21838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297166" y="305351"/>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80631" y="554368"/>
            <a:ext cx="589520" cy="607681"/>
            <a:chOff x="6028504" y="320296"/>
            <a:chExt cx="825328" cy="850753"/>
          </a:xfrm>
        </p:grpSpPr>
        <p:sp>
          <p:nvSpPr>
            <p:cNvPr id="35" name="角丸四角形 34"/>
            <p:cNvSpPr/>
            <p:nvPr/>
          </p:nvSpPr>
          <p:spPr>
            <a:xfrm>
              <a:off x="6028504" y="824335"/>
              <a:ext cx="825328" cy="34671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41168" y="608295"/>
              <a:ext cx="0" cy="21603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297168" y="320296"/>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13" name="テキスト プレースホルダー 12">
            <a:extLst>
              <a:ext uri="{FF2B5EF4-FFF2-40B4-BE49-F238E27FC236}">
                <a16:creationId xmlns:a16="http://schemas.microsoft.com/office/drawing/2014/main" id="{C2B8BCAD-193F-C8B0-DF90-FBF48EB3C51C}"/>
              </a:ext>
            </a:extLst>
          </p:cNvPr>
          <p:cNvSpPr>
            <a:spLocks noGrp="1"/>
          </p:cNvSpPr>
          <p:nvPr>
            <p:ph type="body" sz="quarter" idx="10"/>
          </p:nvPr>
        </p:nvSpPr>
        <p:spPr/>
        <p:txBody>
          <a:bodyPr/>
          <a:lstStyle/>
          <a:p>
            <a:r>
              <a:rPr lang="en-US" altLang="ja-JP" dirty="0"/>
              <a:t>Option</a:t>
            </a:r>
            <a:r>
              <a:rPr lang="ja-JP" altLang="en-US" dirty="0"/>
              <a:t> </a:t>
            </a:r>
            <a:r>
              <a:rPr lang="en-US" altLang="ja-JP" dirty="0"/>
              <a:t>setting</a:t>
            </a:r>
            <a:r>
              <a:rPr lang="ja-JP" altLang="en-US" dirty="0"/>
              <a:t>画面</a:t>
            </a:r>
          </a:p>
        </p:txBody>
      </p:sp>
      <p:sp>
        <p:nvSpPr>
          <p:cNvPr id="5" name="テキスト ボックス 4">
            <a:extLst>
              <a:ext uri="{FF2B5EF4-FFF2-40B4-BE49-F238E27FC236}">
                <a16:creationId xmlns:a16="http://schemas.microsoft.com/office/drawing/2014/main" id="{1693EF42-DE6F-3CC5-3170-AC9324CC7842}"/>
              </a:ext>
            </a:extLst>
          </p:cNvPr>
          <p:cNvSpPr txBox="1"/>
          <p:nvPr/>
        </p:nvSpPr>
        <p:spPr>
          <a:xfrm>
            <a:off x="350176" y="4057358"/>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r>
              <a:rPr kumimoji="1" lang="ja-JP" altLang="en-US" sz="800" dirty="0">
                <a:solidFill>
                  <a:srgbClr val="FF0000"/>
                </a:solidFill>
              </a:rPr>
              <a:t> 画面イメージ更新</a:t>
            </a:r>
          </a:p>
        </p:txBody>
      </p:sp>
      <p:sp>
        <p:nvSpPr>
          <p:cNvPr id="9" name="テキスト ボックス 8">
            <a:extLst>
              <a:ext uri="{FF2B5EF4-FFF2-40B4-BE49-F238E27FC236}">
                <a16:creationId xmlns:a16="http://schemas.microsoft.com/office/drawing/2014/main" id="{858866F4-1A2C-AD36-FCC0-0506669417C6}"/>
              </a:ext>
            </a:extLst>
          </p:cNvPr>
          <p:cNvSpPr txBox="1"/>
          <p:nvPr/>
        </p:nvSpPr>
        <p:spPr>
          <a:xfrm>
            <a:off x="5342424" y="2603608"/>
            <a:ext cx="359877" cy="215444"/>
          </a:xfrm>
          <a:prstGeom prst="rect">
            <a:avLst/>
          </a:prstGeom>
          <a:noFill/>
        </p:spPr>
        <p:txBody>
          <a:bodyPr wrap="square">
            <a:spAutoFit/>
          </a:bodyPr>
          <a:lstStyle/>
          <a:p>
            <a:r>
              <a:rPr kumimoji="1" lang="en-US" altLang="ja-JP" sz="800" b="0" i="0" u="none" strike="noStrike" kern="1200" cap="none" spc="0" normalizeH="0" baseline="0" noProof="0" dirty="0">
                <a:ln>
                  <a:noFill/>
                </a:ln>
                <a:solidFill>
                  <a:srgbClr val="FF0000"/>
                </a:solidFill>
                <a:effectLst/>
                <a:uLnTx/>
                <a:uFillTx/>
                <a:latin typeface="Calibri" panose="020F0502020204030204"/>
                <a:ea typeface="游ゴシック" panose="020B0400000000000000" pitchFamily="50" charset="-128"/>
                <a:cs typeface="+mn-cs"/>
              </a:rPr>
              <a:t>Δ07</a:t>
            </a:r>
            <a:endParaRPr lang="ja-JP" altLang="en-US" dirty="0"/>
          </a:p>
        </p:txBody>
      </p:sp>
    </p:spTree>
    <p:extLst>
      <p:ext uri="{BB962C8B-B14F-4D97-AF65-F5344CB8AC3E}">
        <p14:creationId xmlns:p14="http://schemas.microsoft.com/office/powerpoint/2010/main" val="3450208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890FB73-C963-5A34-1A22-49401823E4AB}"/>
              </a:ext>
            </a:extLst>
          </p:cNvPr>
          <p:cNvPicPr>
            <a:picLocks noChangeAspect="1"/>
          </p:cNvPicPr>
          <p:nvPr/>
        </p:nvPicPr>
        <p:blipFill>
          <a:blip r:embed="rId2"/>
          <a:stretch>
            <a:fillRect/>
          </a:stretch>
        </p:blipFill>
        <p:spPr>
          <a:xfrm>
            <a:off x="345745" y="650447"/>
            <a:ext cx="4881537" cy="3378207"/>
          </a:xfrm>
          <a:prstGeom prst="rect">
            <a:avLst/>
          </a:prstGeom>
        </p:spPr>
      </p:pic>
      <p:grpSp>
        <p:nvGrpSpPr>
          <p:cNvPr id="56" name="グループ化 55"/>
          <p:cNvGrpSpPr/>
          <p:nvPr/>
        </p:nvGrpSpPr>
        <p:grpSpPr>
          <a:xfrm>
            <a:off x="4619623" y="570123"/>
            <a:ext cx="600079" cy="582400"/>
            <a:chOff x="6172669" y="277583"/>
            <a:chExt cx="840111" cy="815361"/>
          </a:xfrm>
        </p:grpSpPr>
        <p:sp>
          <p:nvSpPr>
            <p:cNvPr id="10" name="角丸四角形 9"/>
            <p:cNvSpPr/>
            <p:nvPr/>
          </p:nvSpPr>
          <p:spPr>
            <a:xfrm>
              <a:off x="6172669" y="756893"/>
              <a:ext cx="840111" cy="33605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592725" y="565583"/>
              <a:ext cx="0" cy="1913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448725" y="27758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3175421"/>
          </a:xfrm>
          <a:prstGeom prst="rect">
            <a:avLst/>
          </a:prstGeom>
          <a:solidFill>
            <a:schemeClr val="bg1"/>
          </a:solidFill>
          <a:ln w="6350">
            <a:solidFill>
              <a:schemeClr val="tx1"/>
            </a:solidFill>
          </a:ln>
        </p:spPr>
        <p:txBody>
          <a:bodyPr wrap="square" rtlCol="0">
            <a:spAutoFit/>
          </a:bodyPr>
          <a:lstStyle/>
          <a:p>
            <a:r>
              <a:rPr lang="ja-JP" altLang="en-US" sz="857" dirty="0">
                <a:latin typeface="Meiryo UI" panose="020B0604030504040204" pitchFamily="50" charset="-128"/>
                <a:ea typeface="Meiryo UI" panose="020B0604030504040204" pitchFamily="50" charset="-128"/>
                <a:cs typeface="Meiryo UI" panose="020B0604030504040204" pitchFamily="50" charset="-128"/>
              </a:rPr>
              <a:t>間欠ワイパー、スイッチランプに関する機能の確認と設定ができます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err="1">
                <a:latin typeface="Meiryo UI" panose="020B0604030504040204" pitchFamily="50" charset="-128"/>
                <a:ea typeface="Meiryo UI" panose="020B0604030504040204" pitchFamily="50" charset="-128"/>
                <a:cs typeface="Meiryo UI" panose="020B0604030504040204" pitchFamily="50" charset="-128"/>
              </a:rPr>
              <a:t>Misc</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Wiper</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interval time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間欠ワイパー時、ワイパーが一回動作する間隔</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Illumination brightness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ライト</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ON</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時の照光スイッチの明るさ</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(0-100%)</a:t>
            </a:r>
          </a:p>
          <a:p>
            <a:pPr marL="128574">
              <a:tabLst>
                <a:tab pos="1408367"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Cluster Password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クラスタで設定したパスワードを表示します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1156630"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例</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t>
            </a:r>
          </a:p>
          <a:p>
            <a:pPr marL="257148">
              <a:tabLst>
                <a:tab pos="1156630"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と表示されたら、パスワードは</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”0001”</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が設定されています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1156630" algn="l"/>
              </a:tabLst>
            </a:pPr>
            <a:r>
              <a:rPr lang="en-US" altLang="ja-JP" sz="857" strike="sngStrike" dirty="0">
                <a:latin typeface="Meiryo UI" panose="020B0604030504040204" pitchFamily="50" charset="-128"/>
                <a:ea typeface="Meiryo UI" panose="020B0604030504040204" pitchFamily="50" charset="-128"/>
                <a:cs typeface="Meiryo UI" panose="020B0604030504040204" pitchFamily="50" charset="-128"/>
              </a:rPr>
              <a:t>“65535”</a:t>
            </a:r>
            <a:r>
              <a:rPr lang="ja-JP" altLang="en-US" sz="857" strike="sngStrike" dirty="0">
                <a:latin typeface="Meiryo UI" panose="020B0604030504040204" pitchFamily="50" charset="-128"/>
                <a:ea typeface="Meiryo UI" panose="020B0604030504040204" pitchFamily="50" charset="-128"/>
                <a:cs typeface="Meiryo UI" panose="020B0604030504040204" pitchFamily="50" charset="-128"/>
              </a:rPr>
              <a:t>が表示された場合は、パスワードは設定されていません</a:t>
            </a:r>
            <a:endParaRPr lang="en-US" altLang="ja-JP" sz="857" strike="sngStrike" dirty="0">
              <a:latin typeface="Meiryo UI" panose="020B0604030504040204" pitchFamily="50" charset="-128"/>
              <a:ea typeface="Meiryo UI" panose="020B0604030504040204" pitchFamily="50" charset="-128"/>
              <a:cs typeface="Meiryo UI" panose="020B0604030504040204" pitchFamily="50" charset="-128"/>
            </a:endParaRPr>
          </a:p>
          <a:p>
            <a:pPr marL="257148">
              <a:tabLst>
                <a:tab pos="1156630"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auto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stop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time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エンジンオートストップの時間を設定できます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After light time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残照機能の作動時間を設定できます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Startup swing/adjust mode	:</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起動時のスイングアジャストモードを設定できます。</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Swing…</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起動時スイングモードになります。</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Adjust…</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起動時アジャストモードになります。</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128574">
              <a:tabLst>
                <a:tab pos="1476405" algn="l"/>
              </a:tabLst>
            </a:pP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Keep…</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前回</a:t>
            </a:r>
            <a:r>
              <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ACC OFF</a:t>
            </a:r>
            <a:r>
              <a:rPr lang="ja-JP" altLang="en-US"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時のモードを保持します。</a:t>
            </a:r>
            <a:endParaRPr lang="en-US" altLang="ja-JP" sz="857"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コントローラ内のすべてのパラーメタが初期状態にもどります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89542" y="577492"/>
            <a:ext cx="596557" cy="575032"/>
            <a:chOff x="6092506" y="208657"/>
            <a:chExt cx="835180" cy="805045"/>
          </a:xfrm>
        </p:grpSpPr>
        <p:sp>
          <p:nvSpPr>
            <p:cNvPr id="27" name="角丸四角形 26"/>
            <p:cNvSpPr/>
            <p:nvPr/>
          </p:nvSpPr>
          <p:spPr>
            <a:xfrm>
              <a:off x="6092506" y="677650"/>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a:off x="6510097" y="496657"/>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66097" y="20865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79942" y="577492"/>
            <a:ext cx="596557" cy="575032"/>
            <a:chOff x="6028503" y="355342"/>
            <a:chExt cx="835180" cy="805045"/>
          </a:xfrm>
        </p:grpSpPr>
        <p:sp>
          <p:nvSpPr>
            <p:cNvPr id="35" name="角丸四角形 34"/>
            <p:cNvSpPr/>
            <p:nvPr/>
          </p:nvSpPr>
          <p:spPr>
            <a:xfrm>
              <a:off x="6028503" y="824335"/>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45693" y="643342"/>
              <a:ext cx="40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0169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7" name="グループ化 16"/>
          <p:cNvGrpSpPr/>
          <p:nvPr/>
        </p:nvGrpSpPr>
        <p:grpSpPr>
          <a:xfrm>
            <a:off x="3856248" y="3347941"/>
            <a:ext cx="644315" cy="571597"/>
            <a:chOff x="6028504" y="366012"/>
            <a:chExt cx="902041" cy="800236"/>
          </a:xfrm>
        </p:grpSpPr>
        <p:sp>
          <p:nvSpPr>
            <p:cNvPr id="18" name="角丸四角形 17"/>
            <p:cNvSpPr/>
            <p:nvPr/>
          </p:nvSpPr>
          <p:spPr>
            <a:xfrm>
              <a:off x="6028504" y="824337"/>
              <a:ext cx="902041"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9" name="直線矢印コネクタ 18"/>
            <p:cNvCxnSpPr>
              <a:cxnSpLocks/>
              <a:stCxn id="20" idx="4"/>
              <a:endCxn id="18" idx="0"/>
            </p:cNvCxnSpPr>
            <p:nvPr/>
          </p:nvCxnSpPr>
          <p:spPr>
            <a:xfrm>
              <a:off x="6479525" y="654012"/>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335525" y="366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97271D52-5CEF-6DE3-E07A-A2C24728759C}"/>
              </a:ext>
            </a:extLst>
          </p:cNvPr>
          <p:cNvSpPr>
            <a:spLocks noGrp="1"/>
          </p:cNvSpPr>
          <p:nvPr>
            <p:ph type="body" sz="quarter" idx="10"/>
          </p:nvPr>
        </p:nvSpPr>
        <p:spPr/>
        <p:txBody>
          <a:bodyPr/>
          <a:lstStyle/>
          <a:p>
            <a:r>
              <a:rPr lang="en-US" altLang="ja-JP" dirty="0" err="1"/>
              <a:t>Misc</a:t>
            </a:r>
            <a:r>
              <a:rPr lang="ja-JP" altLang="en-US" dirty="0"/>
              <a:t>画面</a:t>
            </a:r>
          </a:p>
          <a:p>
            <a:endParaRPr lang="ja-JP" altLang="en-US" dirty="0"/>
          </a:p>
        </p:txBody>
      </p:sp>
      <p:sp>
        <p:nvSpPr>
          <p:cNvPr id="2" name="テキスト ボックス 1">
            <a:extLst>
              <a:ext uri="{FF2B5EF4-FFF2-40B4-BE49-F238E27FC236}">
                <a16:creationId xmlns:a16="http://schemas.microsoft.com/office/drawing/2014/main" id="{5A76A60B-9BBD-E1BB-C703-CB11F1C0D817}"/>
              </a:ext>
            </a:extLst>
          </p:cNvPr>
          <p:cNvSpPr txBox="1"/>
          <p:nvPr/>
        </p:nvSpPr>
        <p:spPr>
          <a:xfrm>
            <a:off x="8601642" y="1725698"/>
            <a:ext cx="665814" cy="195814"/>
          </a:xfrm>
          <a:prstGeom prst="rect">
            <a:avLst/>
          </a:prstGeom>
          <a:noFill/>
        </p:spPr>
        <p:txBody>
          <a:bodyPr wrap="none" lIns="36000" tIns="36000" rIns="36000" bIns="36000" rtlCol="0">
            <a:spAutoFit/>
          </a:bodyPr>
          <a:lstStyle/>
          <a:p>
            <a:r>
              <a:rPr kumimoji="1" lang="en-US" altLang="ja-JP" sz="800" dirty="0"/>
              <a:t>Δ02</a:t>
            </a:r>
            <a:r>
              <a:rPr kumimoji="1" lang="ja-JP" altLang="en-US" sz="800" dirty="0"/>
              <a:t> 誤記訂正</a:t>
            </a:r>
          </a:p>
        </p:txBody>
      </p:sp>
      <p:sp>
        <p:nvSpPr>
          <p:cNvPr id="9" name="テキスト ボックス 8">
            <a:extLst>
              <a:ext uri="{FF2B5EF4-FFF2-40B4-BE49-F238E27FC236}">
                <a16:creationId xmlns:a16="http://schemas.microsoft.com/office/drawing/2014/main" id="{46BC0545-29A7-6FE6-E3BC-826184D2E096}"/>
              </a:ext>
            </a:extLst>
          </p:cNvPr>
          <p:cNvSpPr txBox="1"/>
          <p:nvPr/>
        </p:nvSpPr>
        <p:spPr>
          <a:xfrm>
            <a:off x="5421313" y="2241643"/>
            <a:ext cx="233003" cy="195814"/>
          </a:xfrm>
          <a:prstGeom prst="rect">
            <a:avLst/>
          </a:prstGeom>
          <a:noFill/>
        </p:spPr>
        <p:txBody>
          <a:bodyPr wrap="none" lIns="36000" tIns="36000" rIns="36000" bIns="36000" rtlCol="0">
            <a:spAutoFit/>
          </a:bodyPr>
          <a:lstStyle/>
          <a:p>
            <a:r>
              <a:rPr kumimoji="1" lang="en-US" altLang="ja-JP" sz="800" dirty="0">
                <a:solidFill>
                  <a:srgbClr val="FF0000"/>
                </a:solidFill>
              </a:rPr>
              <a:t>Δ06</a:t>
            </a:r>
            <a:endParaRPr kumimoji="1" lang="ja-JP" altLang="en-US" sz="800" dirty="0">
              <a:solidFill>
                <a:srgbClr val="FF0000"/>
              </a:solidFill>
            </a:endParaRPr>
          </a:p>
        </p:txBody>
      </p:sp>
    </p:spTree>
    <p:extLst>
      <p:ext uri="{BB962C8B-B14F-4D97-AF65-F5344CB8AC3E}">
        <p14:creationId xmlns:p14="http://schemas.microsoft.com/office/powerpoint/2010/main" val="3741012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A0649C2-4C7D-370E-B3AA-CC55403CBE8A}"/>
              </a:ext>
            </a:extLst>
          </p:cNvPr>
          <p:cNvPicPr>
            <a:picLocks noChangeAspect="1"/>
          </p:cNvPicPr>
          <p:nvPr/>
        </p:nvPicPr>
        <p:blipFill>
          <a:blip r:embed="rId2"/>
          <a:stretch>
            <a:fillRect/>
          </a:stretch>
        </p:blipFill>
        <p:spPr>
          <a:xfrm>
            <a:off x="345746" y="650447"/>
            <a:ext cx="4873292" cy="3378207"/>
          </a:xfrm>
          <a:prstGeom prst="rect">
            <a:avLst/>
          </a:prstGeom>
        </p:spPr>
      </p:pic>
      <p:sp>
        <p:nvSpPr>
          <p:cNvPr id="2" name="テキスト プレースホルダー 1">
            <a:extLst>
              <a:ext uri="{FF2B5EF4-FFF2-40B4-BE49-F238E27FC236}">
                <a16:creationId xmlns:a16="http://schemas.microsoft.com/office/drawing/2014/main" id="{E6E97512-F5C2-CFF8-6657-2CA6CC0B27B0}"/>
              </a:ext>
            </a:extLst>
          </p:cNvPr>
          <p:cNvSpPr>
            <a:spLocks noGrp="1"/>
          </p:cNvSpPr>
          <p:nvPr>
            <p:ph type="body" sz="quarter" idx="10"/>
          </p:nvPr>
        </p:nvSpPr>
        <p:spPr/>
        <p:txBody>
          <a:bodyPr/>
          <a:lstStyle/>
          <a:p>
            <a:r>
              <a:rPr kumimoji="1" lang="en-US" altLang="ja-JP" dirty="0"/>
              <a:t>Extension Output</a:t>
            </a:r>
            <a:r>
              <a:rPr kumimoji="1" lang="ja-JP" altLang="en-US" dirty="0"/>
              <a:t>画面</a:t>
            </a:r>
          </a:p>
        </p:txBody>
      </p:sp>
      <p:sp>
        <p:nvSpPr>
          <p:cNvPr id="6" name="テキスト ボックス 39">
            <a:extLst>
              <a:ext uri="{FF2B5EF4-FFF2-40B4-BE49-F238E27FC236}">
                <a16:creationId xmlns:a16="http://schemas.microsoft.com/office/drawing/2014/main" id="{8BD81BD0-8123-CB1B-EA9D-2F5FBA6F9168}"/>
              </a:ext>
            </a:extLst>
          </p:cNvPr>
          <p:cNvSpPr txBox="1"/>
          <p:nvPr/>
        </p:nvSpPr>
        <p:spPr>
          <a:xfrm>
            <a:off x="5344312" y="584543"/>
            <a:ext cx="4449407" cy="6220164"/>
          </a:xfrm>
          <a:prstGeom prst="rect">
            <a:avLst/>
          </a:prstGeom>
          <a:solidFill>
            <a:schemeClr val="bg1"/>
          </a:solidFill>
          <a:ln w="6350">
            <a:solidFill>
              <a:schemeClr val="tx1"/>
            </a:solidFill>
          </a:ln>
        </p:spPr>
        <p:txBody>
          <a:bodyPr wrap="square" rtlCol="0">
            <a:spAutoFit/>
          </a:bodyPr>
          <a:lstStyle>
            <a:defPPr>
              <a:defRPr lang="ja-JP"/>
            </a:defPPr>
            <a:lvl1pPr marL="0" algn="l" defTabSz="1075055" rtl="0" eaLnBrk="1" latinLnBrk="0" hangingPunct="1">
              <a:defRPr kumimoji="1" sz="2115" kern="1200">
                <a:solidFill>
                  <a:schemeClr val="tx1"/>
                </a:solidFill>
                <a:latin typeface="+mn-lt"/>
                <a:ea typeface="+mn-ea"/>
                <a:cs typeface="+mn-cs"/>
              </a:defRPr>
            </a:lvl1pPr>
            <a:lvl2pPr marL="537210" algn="l" defTabSz="1075055" rtl="0" eaLnBrk="1" latinLnBrk="0" hangingPunct="1">
              <a:defRPr kumimoji="1" sz="2115" kern="1200">
                <a:solidFill>
                  <a:schemeClr val="tx1"/>
                </a:solidFill>
                <a:latin typeface="+mn-lt"/>
                <a:ea typeface="+mn-ea"/>
                <a:cs typeface="+mn-cs"/>
              </a:defRPr>
            </a:lvl2pPr>
            <a:lvl3pPr marL="1075055" algn="l" defTabSz="1075055" rtl="0" eaLnBrk="1" latinLnBrk="0" hangingPunct="1">
              <a:defRPr kumimoji="1" sz="2115" kern="1200">
                <a:solidFill>
                  <a:schemeClr val="tx1"/>
                </a:solidFill>
                <a:latin typeface="+mn-lt"/>
                <a:ea typeface="+mn-ea"/>
                <a:cs typeface="+mn-cs"/>
              </a:defRPr>
            </a:lvl3pPr>
            <a:lvl4pPr marL="1612265" algn="l" defTabSz="1075055" rtl="0" eaLnBrk="1" latinLnBrk="0" hangingPunct="1">
              <a:defRPr kumimoji="1" sz="2115" kern="1200">
                <a:solidFill>
                  <a:schemeClr val="tx1"/>
                </a:solidFill>
                <a:latin typeface="+mn-lt"/>
                <a:ea typeface="+mn-ea"/>
                <a:cs typeface="+mn-cs"/>
              </a:defRPr>
            </a:lvl4pPr>
            <a:lvl5pPr marL="2150110" algn="l" defTabSz="1075055" rtl="0" eaLnBrk="1" latinLnBrk="0" hangingPunct="1">
              <a:defRPr kumimoji="1" sz="2115" kern="1200">
                <a:solidFill>
                  <a:schemeClr val="tx1"/>
                </a:solidFill>
                <a:latin typeface="+mn-lt"/>
                <a:ea typeface="+mn-ea"/>
                <a:cs typeface="+mn-cs"/>
              </a:defRPr>
            </a:lvl5pPr>
            <a:lvl6pPr marL="2687320" algn="l" defTabSz="1075055" rtl="0" eaLnBrk="1" latinLnBrk="0" hangingPunct="1">
              <a:defRPr kumimoji="1" sz="2115" kern="1200">
                <a:solidFill>
                  <a:schemeClr val="tx1"/>
                </a:solidFill>
                <a:latin typeface="+mn-lt"/>
                <a:ea typeface="+mn-ea"/>
                <a:cs typeface="+mn-cs"/>
              </a:defRPr>
            </a:lvl6pPr>
            <a:lvl7pPr marL="3225165" algn="l" defTabSz="1075055" rtl="0" eaLnBrk="1" latinLnBrk="0" hangingPunct="1">
              <a:defRPr kumimoji="1" sz="2115" kern="1200">
                <a:solidFill>
                  <a:schemeClr val="tx1"/>
                </a:solidFill>
                <a:latin typeface="+mn-lt"/>
                <a:ea typeface="+mn-ea"/>
                <a:cs typeface="+mn-cs"/>
              </a:defRPr>
            </a:lvl7pPr>
            <a:lvl8pPr marL="3762375" algn="l" defTabSz="1075055" rtl="0" eaLnBrk="1" latinLnBrk="0" hangingPunct="1">
              <a:defRPr kumimoji="1" sz="2115" kern="1200">
                <a:solidFill>
                  <a:schemeClr val="tx1"/>
                </a:solidFill>
                <a:latin typeface="+mn-lt"/>
                <a:ea typeface="+mn-ea"/>
                <a:cs typeface="+mn-cs"/>
              </a:defRPr>
            </a:lvl8pPr>
            <a:lvl9pPr marL="4300220" algn="l" defTabSz="1075055" rtl="0" eaLnBrk="1" latinLnBrk="0" hangingPunct="1">
              <a:defRPr kumimoji="1" sz="2115" kern="1200">
                <a:solidFill>
                  <a:schemeClr val="tx1"/>
                </a:solidFill>
                <a:latin typeface="+mn-lt"/>
                <a:ea typeface="+mn-ea"/>
                <a:cs typeface="+mn-cs"/>
              </a:defRPr>
            </a:lvl9p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拡張出力に関する機能の確認と設定ができます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Enable Extension Output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拡張出力機能を使用したいときにチェックを入れてください</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Main controller C2P39 &amp; C2P40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各ピンの出力設定ができます</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mode</a:t>
            </a:r>
          </a:p>
          <a:p>
            <a:pPr marL="179388" indent="1588">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not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use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未使用</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out1 &amp; out2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out1(C2P39)</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と</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out2(C2P40)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操作に応じて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out5(PWM)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多機能ブリップに割り当てた</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out5</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の操作量に応じて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PWM</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力します</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(C2P39</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側、</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C2P40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B</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側</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p>
          <a:p>
            <a:pPr marL="180000">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1 detent	:out1</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のディテント機能を使用したいときにチェックを入れてください</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2 detent	:out2</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のディテント機能を使用したいときにチェックを入れてください</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combination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ディテント出力中にもう一方の</a:t>
            </a:r>
            <a:r>
              <a:rPr lang="en-US" altLang="ja-JP" sz="860" dirty="0" err="1">
                <a:latin typeface="Meiryo UI" panose="020B0604030504040204" pitchFamily="50" charset="-128"/>
                <a:ea typeface="Meiryo UI" panose="020B0604030504040204" pitchFamily="50" charset="-128"/>
                <a:cs typeface="Meiryo UI" panose="020B0604030504040204" pitchFamily="50" charset="-128"/>
              </a:rPr>
              <a:t>Sw</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を操作した時にディテント出力を</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停止する機能です。使用したい時にチェックを入れてください</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Out5(PWM) time lamp filter</a:t>
            </a: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increase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出力に対するランプフィルタのパラメータ</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増加分</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を変更できます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decrease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出力に対するランプフィルタのパラメータ</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減少分</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を変更できます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Current	:Extension Output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5 current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画面に遷移します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Sub controller C1P36 &amp; C1P37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各ピンの出力設定ができます</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mode</a:t>
            </a:r>
          </a:p>
          <a:p>
            <a:pPr marL="180000">
              <a:tabLst>
                <a:tab pos="1343025"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not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use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未使用</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out3 &amp; out4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out3(C1P36)</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と</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out4 (C1P37)</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操作に応じて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out3 &amp; gear1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多機能グリップに割り当てた</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out3</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の操作に応じて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C1P36</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に</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ON/OFF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出力します。変速ギアの状態に応じて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C1P37</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に</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1343025"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Output monitor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各ピンへの出力状態を確認できます</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1 :out1</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2 :out2</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3 :out3</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4 :out4</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の出力</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5(PWM) A :out5 A</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への出力電流</a:t>
            </a:r>
            <a:br>
              <a:rPr lang="en-US" altLang="ja-JP" sz="860" dirty="0">
                <a:latin typeface="Meiryo UI" panose="020B0604030504040204" pitchFamily="50" charset="-128"/>
                <a:ea typeface="Meiryo UI" panose="020B0604030504040204" pitchFamily="50" charset="-128"/>
                <a:cs typeface="Meiryo UI" panose="020B0604030504040204" pitchFamily="50" charset="-128"/>
              </a:rPr>
            </a:b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 5(PWM) B :out5 B</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への出力電流</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82663"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すべてのパラメータが初期状態にもどります　</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7" name="グループ化 6">
            <a:extLst>
              <a:ext uri="{FF2B5EF4-FFF2-40B4-BE49-F238E27FC236}">
                <a16:creationId xmlns:a16="http://schemas.microsoft.com/office/drawing/2014/main" id="{44988290-3AE5-5C84-E55A-688EE73033D9}"/>
              </a:ext>
            </a:extLst>
          </p:cNvPr>
          <p:cNvGrpSpPr/>
          <p:nvPr/>
        </p:nvGrpSpPr>
        <p:grpSpPr>
          <a:xfrm>
            <a:off x="4619623" y="570123"/>
            <a:ext cx="600079" cy="582400"/>
            <a:chOff x="6172669" y="277583"/>
            <a:chExt cx="840111" cy="815361"/>
          </a:xfrm>
        </p:grpSpPr>
        <p:sp>
          <p:nvSpPr>
            <p:cNvPr id="8" name="角丸四角形 9">
              <a:extLst>
                <a:ext uri="{FF2B5EF4-FFF2-40B4-BE49-F238E27FC236}">
                  <a16:creationId xmlns:a16="http://schemas.microsoft.com/office/drawing/2014/main" id="{133136CA-BB77-33CD-5CF0-7CA1BF2A67B7}"/>
                </a:ext>
              </a:extLst>
            </p:cNvPr>
            <p:cNvSpPr/>
            <p:nvPr/>
          </p:nvSpPr>
          <p:spPr>
            <a:xfrm>
              <a:off x="6172669" y="756893"/>
              <a:ext cx="840111" cy="33605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9" name="直線矢印コネクタ 8">
              <a:extLst>
                <a:ext uri="{FF2B5EF4-FFF2-40B4-BE49-F238E27FC236}">
                  <a16:creationId xmlns:a16="http://schemas.microsoft.com/office/drawing/2014/main" id="{E9FC3DE6-AE31-2E83-3AC9-B503C34F1C1A}"/>
                </a:ext>
              </a:extLst>
            </p:cNvPr>
            <p:cNvCxnSpPr>
              <a:cxnSpLocks/>
              <a:stCxn id="10" idx="4"/>
              <a:endCxn id="8" idx="0"/>
            </p:cNvCxnSpPr>
            <p:nvPr/>
          </p:nvCxnSpPr>
          <p:spPr>
            <a:xfrm>
              <a:off x="6592725" y="565583"/>
              <a:ext cx="0" cy="1913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円/楕円 11">
              <a:extLst>
                <a:ext uri="{FF2B5EF4-FFF2-40B4-BE49-F238E27FC236}">
                  <a16:creationId xmlns:a16="http://schemas.microsoft.com/office/drawing/2014/main" id="{19B0E203-F546-27DE-77BF-CC0026F02A8D}"/>
                </a:ext>
              </a:extLst>
            </p:cNvPr>
            <p:cNvSpPr/>
            <p:nvPr/>
          </p:nvSpPr>
          <p:spPr>
            <a:xfrm>
              <a:off x="6448725" y="27758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1" name="グループ化 10">
            <a:extLst>
              <a:ext uri="{FF2B5EF4-FFF2-40B4-BE49-F238E27FC236}">
                <a16:creationId xmlns:a16="http://schemas.microsoft.com/office/drawing/2014/main" id="{B2C377BB-EAF6-D4B5-EF18-8832585970FE}"/>
              </a:ext>
            </a:extLst>
          </p:cNvPr>
          <p:cNvGrpSpPr/>
          <p:nvPr/>
        </p:nvGrpSpPr>
        <p:grpSpPr>
          <a:xfrm>
            <a:off x="2489542" y="577492"/>
            <a:ext cx="596557" cy="575032"/>
            <a:chOff x="6092506" y="208657"/>
            <a:chExt cx="835180" cy="805045"/>
          </a:xfrm>
        </p:grpSpPr>
        <p:sp>
          <p:nvSpPr>
            <p:cNvPr id="12" name="角丸四角形 26">
              <a:extLst>
                <a:ext uri="{FF2B5EF4-FFF2-40B4-BE49-F238E27FC236}">
                  <a16:creationId xmlns:a16="http://schemas.microsoft.com/office/drawing/2014/main" id="{67D6A4F4-6FA1-C7D6-580C-AD73F2EE6DCE}"/>
                </a:ext>
              </a:extLst>
            </p:cNvPr>
            <p:cNvSpPr/>
            <p:nvPr/>
          </p:nvSpPr>
          <p:spPr>
            <a:xfrm>
              <a:off x="6092506" y="677650"/>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3" name="直線矢印コネクタ 12">
              <a:extLst>
                <a:ext uri="{FF2B5EF4-FFF2-40B4-BE49-F238E27FC236}">
                  <a16:creationId xmlns:a16="http://schemas.microsoft.com/office/drawing/2014/main" id="{11983335-DEB0-5759-6269-B4B469CC2ACB}"/>
                </a:ext>
              </a:extLst>
            </p:cNvPr>
            <p:cNvCxnSpPr>
              <a:cxnSpLocks/>
              <a:stCxn id="14" idx="4"/>
              <a:endCxn id="12" idx="0"/>
            </p:cNvCxnSpPr>
            <p:nvPr/>
          </p:nvCxnSpPr>
          <p:spPr>
            <a:xfrm>
              <a:off x="6510097" y="496657"/>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円/楕円 32">
              <a:extLst>
                <a:ext uri="{FF2B5EF4-FFF2-40B4-BE49-F238E27FC236}">
                  <a16:creationId xmlns:a16="http://schemas.microsoft.com/office/drawing/2014/main" id="{38766087-2232-7CE3-4091-9878A8A49194}"/>
                </a:ext>
              </a:extLst>
            </p:cNvPr>
            <p:cNvSpPr/>
            <p:nvPr/>
          </p:nvSpPr>
          <p:spPr>
            <a:xfrm>
              <a:off x="6366097" y="20865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15" name="グループ化 14">
            <a:extLst>
              <a:ext uri="{FF2B5EF4-FFF2-40B4-BE49-F238E27FC236}">
                <a16:creationId xmlns:a16="http://schemas.microsoft.com/office/drawing/2014/main" id="{33EFA57D-9B1B-7516-21D3-EC512707AE8F}"/>
              </a:ext>
            </a:extLst>
          </p:cNvPr>
          <p:cNvGrpSpPr/>
          <p:nvPr/>
        </p:nvGrpSpPr>
        <p:grpSpPr>
          <a:xfrm>
            <a:off x="1879942" y="577492"/>
            <a:ext cx="596557" cy="575032"/>
            <a:chOff x="6028503" y="355342"/>
            <a:chExt cx="835180" cy="805045"/>
          </a:xfrm>
        </p:grpSpPr>
        <p:sp>
          <p:nvSpPr>
            <p:cNvPr id="16" name="角丸四角形 34">
              <a:extLst>
                <a:ext uri="{FF2B5EF4-FFF2-40B4-BE49-F238E27FC236}">
                  <a16:creationId xmlns:a16="http://schemas.microsoft.com/office/drawing/2014/main" id="{A68D6329-9E86-D4CD-764D-F99858018E9E}"/>
                </a:ext>
              </a:extLst>
            </p:cNvPr>
            <p:cNvSpPr/>
            <p:nvPr/>
          </p:nvSpPr>
          <p:spPr>
            <a:xfrm>
              <a:off x="6028503" y="824335"/>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7" name="直線矢印コネクタ 16">
              <a:extLst>
                <a:ext uri="{FF2B5EF4-FFF2-40B4-BE49-F238E27FC236}">
                  <a16:creationId xmlns:a16="http://schemas.microsoft.com/office/drawing/2014/main" id="{4ACBA932-3574-AA20-E2DF-67CD4BA459FD}"/>
                </a:ext>
              </a:extLst>
            </p:cNvPr>
            <p:cNvCxnSpPr>
              <a:cxnSpLocks/>
              <a:stCxn id="18" idx="4"/>
              <a:endCxn id="16" idx="0"/>
            </p:cNvCxnSpPr>
            <p:nvPr/>
          </p:nvCxnSpPr>
          <p:spPr>
            <a:xfrm>
              <a:off x="6445693" y="643342"/>
              <a:ext cx="40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円/楕円 36">
              <a:extLst>
                <a:ext uri="{FF2B5EF4-FFF2-40B4-BE49-F238E27FC236}">
                  <a16:creationId xmlns:a16="http://schemas.microsoft.com/office/drawing/2014/main" id="{901595D9-F6C4-A9FD-77E3-9B9161F4EDE2}"/>
                </a:ext>
              </a:extLst>
            </p:cNvPr>
            <p:cNvSpPr/>
            <p:nvPr/>
          </p:nvSpPr>
          <p:spPr>
            <a:xfrm>
              <a:off x="630169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9" name="グループ化 18">
            <a:extLst>
              <a:ext uri="{FF2B5EF4-FFF2-40B4-BE49-F238E27FC236}">
                <a16:creationId xmlns:a16="http://schemas.microsoft.com/office/drawing/2014/main" id="{72024652-676E-A585-8427-4FC839E90477}"/>
              </a:ext>
            </a:extLst>
          </p:cNvPr>
          <p:cNvGrpSpPr/>
          <p:nvPr/>
        </p:nvGrpSpPr>
        <p:grpSpPr>
          <a:xfrm>
            <a:off x="3975308" y="577492"/>
            <a:ext cx="644315" cy="571597"/>
            <a:chOff x="6028504" y="366012"/>
            <a:chExt cx="902041" cy="800236"/>
          </a:xfrm>
        </p:grpSpPr>
        <p:sp>
          <p:nvSpPr>
            <p:cNvPr id="20" name="角丸四角形 17">
              <a:extLst>
                <a:ext uri="{FF2B5EF4-FFF2-40B4-BE49-F238E27FC236}">
                  <a16:creationId xmlns:a16="http://schemas.microsoft.com/office/drawing/2014/main" id="{19C556A3-AC77-C5AD-F7A2-7C4691060382}"/>
                </a:ext>
              </a:extLst>
            </p:cNvPr>
            <p:cNvSpPr/>
            <p:nvPr/>
          </p:nvSpPr>
          <p:spPr>
            <a:xfrm>
              <a:off x="6028504" y="824337"/>
              <a:ext cx="902041"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a:extLst>
                <a:ext uri="{FF2B5EF4-FFF2-40B4-BE49-F238E27FC236}">
                  <a16:creationId xmlns:a16="http://schemas.microsoft.com/office/drawing/2014/main" id="{086190D2-5F54-1FFF-C192-5B1F51CC1FBE}"/>
                </a:ext>
              </a:extLst>
            </p:cNvPr>
            <p:cNvCxnSpPr>
              <a:cxnSpLocks/>
              <a:stCxn id="22" idx="4"/>
              <a:endCxn id="20" idx="0"/>
            </p:cNvCxnSpPr>
            <p:nvPr/>
          </p:nvCxnSpPr>
          <p:spPr>
            <a:xfrm>
              <a:off x="6479525" y="654012"/>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19">
              <a:extLst>
                <a:ext uri="{FF2B5EF4-FFF2-40B4-BE49-F238E27FC236}">
                  <a16:creationId xmlns:a16="http://schemas.microsoft.com/office/drawing/2014/main" id="{F6A447B9-7F21-C219-AD5C-CF6224A3754F}"/>
                </a:ext>
              </a:extLst>
            </p:cNvPr>
            <p:cNvSpPr/>
            <p:nvPr/>
          </p:nvSpPr>
          <p:spPr>
            <a:xfrm>
              <a:off x="6335525" y="366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23" name="テキスト ボックス 22">
            <a:extLst>
              <a:ext uri="{FF2B5EF4-FFF2-40B4-BE49-F238E27FC236}">
                <a16:creationId xmlns:a16="http://schemas.microsoft.com/office/drawing/2014/main" id="{F4B5AB93-2C62-93BF-E83D-B04C079FAB01}"/>
              </a:ext>
            </a:extLst>
          </p:cNvPr>
          <p:cNvSpPr txBox="1"/>
          <p:nvPr/>
        </p:nvSpPr>
        <p:spPr>
          <a:xfrm>
            <a:off x="2476499" y="236893"/>
            <a:ext cx="768406"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r>
              <a:rPr kumimoji="1" lang="ja-JP" altLang="en-US" sz="800" dirty="0">
                <a:solidFill>
                  <a:srgbClr val="FF0000"/>
                </a:solidFill>
              </a:rPr>
              <a:t> ページ追加</a:t>
            </a:r>
          </a:p>
        </p:txBody>
      </p:sp>
    </p:spTree>
    <p:extLst>
      <p:ext uri="{BB962C8B-B14F-4D97-AF65-F5344CB8AC3E}">
        <p14:creationId xmlns:p14="http://schemas.microsoft.com/office/powerpoint/2010/main" val="1360608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C56523A9-F865-71F9-36AA-6391334CEB9A}"/>
              </a:ext>
            </a:extLst>
          </p:cNvPr>
          <p:cNvPicPr>
            <a:picLocks noChangeAspect="1"/>
          </p:cNvPicPr>
          <p:nvPr/>
        </p:nvPicPr>
        <p:blipFill>
          <a:blip r:embed="rId2"/>
          <a:stretch>
            <a:fillRect/>
          </a:stretch>
        </p:blipFill>
        <p:spPr>
          <a:xfrm>
            <a:off x="345745" y="680349"/>
            <a:ext cx="4854629" cy="3370484"/>
          </a:xfrm>
          <a:prstGeom prst="rect">
            <a:avLst/>
          </a:prstGeom>
        </p:spPr>
      </p:pic>
      <p:sp>
        <p:nvSpPr>
          <p:cNvPr id="2" name="テキスト プレースホルダー 1">
            <a:extLst>
              <a:ext uri="{FF2B5EF4-FFF2-40B4-BE49-F238E27FC236}">
                <a16:creationId xmlns:a16="http://schemas.microsoft.com/office/drawing/2014/main" id="{CEA6CAE1-9180-C728-2CA2-D7B0FD6160BB}"/>
              </a:ext>
            </a:extLst>
          </p:cNvPr>
          <p:cNvSpPr>
            <a:spLocks noGrp="1"/>
          </p:cNvSpPr>
          <p:nvPr>
            <p:ph type="body" sz="quarter" idx="10"/>
          </p:nvPr>
        </p:nvSpPr>
        <p:spPr/>
        <p:txBody>
          <a:bodyPr/>
          <a:lstStyle/>
          <a:p>
            <a:r>
              <a:rPr kumimoji="1" lang="en-US" altLang="ja-JP" dirty="0"/>
              <a:t>Extension output 5 current</a:t>
            </a:r>
            <a:r>
              <a:rPr kumimoji="1" lang="ja-JP" altLang="en-US" dirty="0"/>
              <a:t>画面</a:t>
            </a:r>
          </a:p>
        </p:txBody>
      </p:sp>
      <p:sp>
        <p:nvSpPr>
          <p:cNvPr id="6" name="テキスト ボックス 5">
            <a:extLst>
              <a:ext uri="{FF2B5EF4-FFF2-40B4-BE49-F238E27FC236}">
                <a16:creationId xmlns:a16="http://schemas.microsoft.com/office/drawing/2014/main" id="{140BA92C-D644-6584-8A2A-732F71FF05F9}"/>
              </a:ext>
            </a:extLst>
          </p:cNvPr>
          <p:cNvSpPr txBox="1"/>
          <p:nvPr/>
        </p:nvSpPr>
        <p:spPr>
          <a:xfrm>
            <a:off x="3407376" y="236893"/>
            <a:ext cx="768406" cy="195814"/>
          </a:xfrm>
          <a:prstGeom prst="rect">
            <a:avLst/>
          </a:prstGeom>
          <a:noFill/>
        </p:spPr>
        <p:txBody>
          <a:bodyPr wrap="none" lIns="36000" tIns="36000" rIns="36000" bIns="36000" rtlCol="0">
            <a:spAutoFit/>
          </a:bodyPr>
          <a:lstStyle/>
          <a:p>
            <a:r>
              <a:rPr kumimoji="1" lang="en-US" altLang="ja-JP" sz="800" dirty="0">
                <a:solidFill>
                  <a:srgbClr val="FF0000"/>
                </a:solidFill>
              </a:rPr>
              <a:t>Δ07</a:t>
            </a:r>
            <a:r>
              <a:rPr kumimoji="1" lang="ja-JP" altLang="en-US" sz="800" dirty="0">
                <a:solidFill>
                  <a:srgbClr val="FF0000"/>
                </a:solidFill>
              </a:rPr>
              <a:t> ページ追加</a:t>
            </a:r>
          </a:p>
        </p:txBody>
      </p:sp>
      <p:sp>
        <p:nvSpPr>
          <p:cNvPr id="7" name="テキスト ボックス 39">
            <a:extLst>
              <a:ext uri="{FF2B5EF4-FFF2-40B4-BE49-F238E27FC236}">
                <a16:creationId xmlns:a16="http://schemas.microsoft.com/office/drawing/2014/main" id="{11F972A7-915E-2F84-E3CB-8E3355F265C8}"/>
              </a:ext>
            </a:extLst>
          </p:cNvPr>
          <p:cNvSpPr txBox="1"/>
          <p:nvPr/>
        </p:nvSpPr>
        <p:spPr>
          <a:xfrm>
            <a:off x="5426428" y="663873"/>
            <a:ext cx="3799952" cy="1634294"/>
          </a:xfrm>
          <a:prstGeom prst="rect">
            <a:avLst/>
          </a:prstGeom>
          <a:solidFill>
            <a:schemeClr val="bg1"/>
          </a:solidFill>
          <a:ln w="6350">
            <a:solidFill>
              <a:schemeClr val="tx1"/>
            </a:solidFill>
          </a:ln>
        </p:spPr>
        <p:txBody>
          <a:bodyPr wrap="square" rtlCol="0">
            <a:spAutoFit/>
          </a:bodyPr>
          <a:lstStyle>
            <a:defPPr>
              <a:defRPr lang="ja-JP"/>
            </a:defPPr>
            <a:lvl1pPr marL="0" algn="l" defTabSz="1075055" rtl="0" eaLnBrk="1" latinLnBrk="0" hangingPunct="1">
              <a:defRPr kumimoji="1" sz="2115" kern="1200">
                <a:solidFill>
                  <a:schemeClr val="tx1"/>
                </a:solidFill>
                <a:latin typeface="+mn-lt"/>
                <a:ea typeface="+mn-ea"/>
                <a:cs typeface="+mn-cs"/>
              </a:defRPr>
            </a:lvl1pPr>
            <a:lvl2pPr marL="537210" algn="l" defTabSz="1075055" rtl="0" eaLnBrk="1" latinLnBrk="0" hangingPunct="1">
              <a:defRPr kumimoji="1" sz="2115" kern="1200">
                <a:solidFill>
                  <a:schemeClr val="tx1"/>
                </a:solidFill>
                <a:latin typeface="+mn-lt"/>
                <a:ea typeface="+mn-ea"/>
                <a:cs typeface="+mn-cs"/>
              </a:defRPr>
            </a:lvl2pPr>
            <a:lvl3pPr marL="1075055" algn="l" defTabSz="1075055" rtl="0" eaLnBrk="1" latinLnBrk="0" hangingPunct="1">
              <a:defRPr kumimoji="1" sz="2115" kern="1200">
                <a:solidFill>
                  <a:schemeClr val="tx1"/>
                </a:solidFill>
                <a:latin typeface="+mn-lt"/>
                <a:ea typeface="+mn-ea"/>
                <a:cs typeface="+mn-cs"/>
              </a:defRPr>
            </a:lvl3pPr>
            <a:lvl4pPr marL="1612265" algn="l" defTabSz="1075055" rtl="0" eaLnBrk="1" latinLnBrk="0" hangingPunct="1">
              <a:defRPr kumimoji="1" sz="2115" kern="1200">
                <a:solidFill>
                  <a:schemeClr val="tx1"/>
                </a:solidFill>
                <a:latin typeface="+mn-lt"/>
                <a:ea typeface="+mn-ea"/>
                <a:cs typeface="+mn-cs"/>
              </a:defRPr>
            </a:lvl4pPr>
            <a:lvl5pPr marL="2150110" algn="l" defTabSz="1075055" rtl="0" eaLnBrk="1" latinLnBrk="0" hangingPunct="1">
              <a:defRPr kumimoji="1" sz="2115" kern="1200">
                <a:solidFill>
                  <a:schemeClr val="tx1"/>
                </a:solidFill>
                <a:latin typeface="+mn-lt"/>
                <a:ea typeface="+mn-ea"/>
                <a:cs typeface="+mn-cs"/>
              </a:defRPr>
            </a:lvl5pPr>
            <a:lvl6pPr marL="2687320" algn="l" defTabSz="1075055" rtl="0" eaLnBrk="1" latinLnBrk="0" hangingPunct="1">
              <a:defRPr kumimoji="1" sz="2115" kern="1200">
                <a:solidFill>
                  <a:schemeClr val="tx1"/>
                </a:solidFill>
                <a:latin typeface="+mn-lt"/>
                <a:ea typeface="+mn-ea"/>
                <a:cs typeface="+mn-cs"/>
              </a:defRPr>
            </a:lvl6pPr>
            <a:lvl7pPr marL="3225165" algn="l" defTabSz="1075055" rtl="0" eaLnBrk="1" latinLnBrk="0" hangingPunct="1">
              <a:defRPr kumimoji="1" sz="2115" kern="1200">
                <a:solidFill>
                  <a:schemeClr val="tx1"/>
                </a:solidFill>
                <a:latin typeface="+mn-lt"/>
                <a:ea typeface="+mn-ea"/>
                <a:cs typeface="+mn-cs"/>
              </a:defRPr>
            </a:lvl7pPr>
            <a:lvl8pPr marL="3762375" algn="l" defTabSz="1075055" rtl="0" eaLnBrk="1" latinLnBrk="0" hangingPunct="1">
              <a:defRPr kumimoji="1" sz="2115" kern="1200">
                <a:solidFill>
                  <a:schemeClr val="tx1"/>
                </a:solidFill>
                <a:latin typeface="+mn-lt"/>
                <a:ea typeface="+mn-ea"/>
                <a:cs typeface="+mn-cs"/>
              </a:defRPr>
            </a:lvl8pPr>
            <a:lvl9pPr marL="4300220" algn="l" defTabSz="1075055" rtl="0" eaLnBrk="1" latinLnBrk="0" hangingPunct="1">
              <a:defRPr kumimoji="1" sz="2115" kern="1200">
                <a:solidFill>
                  <a:schemeClr val="tx1"/>
                </a:solidFill>
                <a:latin typeface="+mn-lt"/>
                <a:ea typeface="+mn-ea"/>
                <a:cs typeface="+mn-cs"/>
              </a:defRPr>
            </a:lvl9pPr>
          </a:lstStyle>
          <a:p>
            <a:r>
              <a:rPr lang="en-US" altLang="ja-JP" sz="860" dirty="0">
                <a:latin typeface="Meiryo UI" panose="020B0604030504040204" pitchFamily="50" charset="-128"/>
                <a:ea typeface="Meiryo UI" panose="020B0604030504040204" pitchFamily="50" charset="-128"/>
                <a:cs typeface="Meiryo UI" panose="020B0604030504040204" pitchFamily="50" charset="-128"/>
              </a:rPr>
              <a:t>Extension</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Output5</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の操作量に対する出力電流値の確認、設定ができます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Signal</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area</a:t>
            </a:r>
          </a:p>
          <a:p>
            <a:pPr marL="180000">
              <a:tabLst>
                <a:tab pos="355600"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X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output5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操作量</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marL="180000">
              <a:tabLst>
                <a:tab pos="355600" algn="l"/>
              </a:tabLst>
            </a:pPr>
            <a:r>
              <a:rPr lang="en-US" altLang="ja-JP" sz="860" dirty="0">
                <a:latin typeface="Meiryo UI" panose="020B0604030504040204" pitchFamily="50" charset="-128"/>
                <a:ea typeface="Meiryo UI" panose="020B0604030504040204" pitchFamily="50" charset="-128"/>
                <a:cs typeface="Meiryo UI" panose="020B0604030504040204" pitchFamily="50" charset="-128"/>
              </a:rPr>
              <a:t>Y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output5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出力電流値</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Back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Extension Output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a:spcBef>
                <a:spcPts val="1200"/>
              </a:spcBef>
              <a:tabLst>
                <a:tab pos="990600" algn="l"/>
              </a:tabLst>
            </a:pPr>
            <a:r>
              <a:rPr lang="ja-JP" altLang="en-US" sz="860"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現在の設定を読み込みます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8" name="グループ化 7">
            <a:extLst>
              <a:ext uri="{FF2B5EF4-FFF2-40B4-BE49-F238E27FC236}">
                <a16:creationId xmlns:a16="http://schemas.microsoft.com/office/drawing/2014/main" id="{E9EEA82A-8E44-815F-4F1A-83574FC8B9A8}"/>
              </a:ext>
            </a:extLst>
          </p:cNvPr>
          <p:cNvGrpSpPr/>
          <p:nvPr/>
        </p:nvGrpSpPr>
        <p:grpSpPr>
          <a:xfrm>
            <a:off x="4616771" y="594837"/>
            <a:ext cx="600079" cy="582400"/>
            <a:chOff x="6172669" y="277583"/>
            <a:chExt cx="840111" cy="815361"/>
          </a:xfrm>
        </p:grpSpPr>
        <p:sp>
          <p:nvSpPr>
            <p:cNvPr id="9" name="角丸四角形 9">
              <a:extLst>
                <a:ext uri="{FF2B5EF4-FFF2-40B4-BE49-F238E27FC236}">
                  <a16:creationId xmlns:a16="http://schemas.microsoft.com/office/drawing/2014/main" id="{63DDDC7B-F9B0-3618-13A8-B77AEC18C7D4}"/>
                </a:ext>
              </a:extLst>
            </p:cNvPr>
            <p:cNvSpPr/>
            <p:nvPr/>
          </p:nvSpPr>
          <p:spPr>
            <a:xfrm>
              <a:off x="6172669" y="756893"/>
              <a:ext cx="840111" cy="33605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0" name="直線矢印コネクタ 9">
              <a:extLst>
                <a:ext uri="{FF2B5EF4-FFF2-40B4-BE49-F238E27FC236}">
                  <a16:creationId xmlns:a16="http://schemas.microsoft.com/office/drawing/2014/main" id="{C9C9AA1F-E44F-EC81-EC06-BB7431558E02}"/>
                </a:ext>
              </a:extLst>
            </p:cNvPr>
            <p:cNvCxnSpPr>
              <a:cxnSpLocks/>
              <a:stCxn id="11" idx="4"/>
              <a:endCxn id="9" idx="0"/>
            </p:cNvCxnSpPr>
            <p:nvPr/>
          </p:nvCxnSpPr>
          <p:spPr>
            <a:xfrm>
              <a:off x="6592725" y="565583"/>
              <a:ext cx="0" cy="1913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円/楕円 11">
              <a:extLst>
                <a:ext uri="{FF2B5EF4-FFF2-40B4-BE49-F238E27FC236}">
                  <a16:creationId xmlns:a16="http://schemas.microsoft.com/office/drawing/2014/main" id="{7A949917-2C62-FCDE-CEF3-1AC37AF1F821}"/>
                </a:ext>
              </a:extLst>
            </p:cNvPr>
            <p:cNvSpPr/>
            <p:nvPr/>
          </p:nvSpPr>
          <p:spPr>
            <a:xfrm>
              <a:off x="6448725" y="27758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2" name="グループ化 11">
            <a:extLst>
              <a:ext uri="{FF2B5EF4-FFF2-40B4-BE49-F238E27FC236}">
                <a16:creationId xmlns:a16="http://schemas.microsoft.com/office/drawing/2014/main" id="{24E077BF-7E73-AC7C-DB01-BA2AFA146978}"/>
              </a:ext>
            </a:extLst>
          </p:cNvPr>
          <p:cNvGrpSpPr/>
          <p:nvPr/>
        </p:nvGrpSpPr>
        <p:grpSpPr>
          <a:xfrm>
            <a:off x="2536118" y="602206"/>
            <a:ext cx="596557" cy="575032"/>
            <a:chOff x="6092506" y="208657"/>
            <a:chExt cx="835180" cy="805045"/>
          </a:xfrm>
        </p:grpSpPr>
        <p:sp>
          <p:nvSpPr>
            <p:cNvPr id="13" name="角丸四角形 26">
              <a:extLst>
                <a:ext uri="{FF2B5EF4-FFF2-40B4-BE49-F238E27FC236}">
                  <a16:creationId xmlns:a16="http://schemas.microsoft.com/office/drawing/2014/main" id="{EDB68DCE-8170-A69F-0A5D-7C11A30AF48D}"/>
                </a:ext>
              </a:extLst>
            </p:cNvPr>
            <p:cNvSpPr/>
            <p:nvPr/>
          </p:nvSpPr>
          <p:spPr>
            <a:xfrm>
              <a:off x="6092506" y="677650"/>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4" name="直線矢印コネクタ 13">
              <a:extLst>
                <a:ext uri="{FF2B5EF4-FFF2-40B4-BE49-F238E27FC236}">
                  <a16:creationId xmlns:a16="http://schemas.microsoft.com/office/drawing/2014/main" id="{F98FD930-99F0-C6D7-5902-DB1BB709DABE}"/>
                </a:ext>
              </a:extLst>
            </p:cNvPr>
            <p:cNvCxnSpPr>
              <a:cxnSpLocks/>
              <a:stCxn id="15" idx="4"/>
              <a:endCxn id="13" idx="0"/>
            </p:cNvCxnSpPr>
            <p:nvPr/>
          </p:nvCxnSpPr>
          <p:spPr>
            <a:xfrm>
              <a:off x="6510097" y="496657"/>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円/楕円 32">
              <a:extLst>
                <a:ext uri="{FF2B5EF4-FFF2-40B4-BE49-F238E27FC236}">
                  <a16:creationId xmlns:a16="http://schemas.microsoft.com/office/drawing/2014/main" id="{4798048E-1E8D-B087-60D6-C0750A3C3E0C}"/>
                </a:ext>
              </a:extLst>
            </p:cNvPr>
            <p:cNvSpPr/>
            <p:nvPr/>
          </p:nvSpPr>
          <p:spPr>
            <a:xfrm>
              <a:off x="6366097" y="20865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16" name="グループ化 15">
            <a:extLst>
              <a:ext uri="{FF2B5EF4-FFF2-40B4-BE49-F238E27FC236}">
                <a16:creationId xmlns:a16="http://schemas.microsoft.com/office/drawing/2014/main" id="{F011D107-CC34-2AF1-A7D5-1322DF5C71CD}"/>
              </a:ext>
            </a:extLst>
          </p:cNvPr>
          <p:cNvGrpSpPr/>
          <p:nvPr/>
        </p:nvGrpSpPr>
        <p:grpSpPr>
          <a:xfrm>
            <a:off x="1926518" y="602206"/>
            <a:ext cx="596557" cy="575032"/>
            <a:chOff x="6028503" y="355342"/>
            <a:chExt cx="835180" cy="805045"/>
          </a:xfrm>
        </p:grpSpPr>
        <p:sp>
          <p:nvSpPr>
            <p:cNvPr id="17" name="角丸四角形 34">
              <a:extLst>
                <a:ext uri="{FF2B5EF4-FFF2-40B4-BE49-F238E27FC236}">
                  <a16:creationId xmlns:a16="http://schemas.microsoft.com/office/drawing/2014/main" id="{6366949E-9E1A-D4EC-D167-949DD5C5E44C}"/>
                </a:ext>
              </a:extLst>
            </p:cNvPr>
            <p:cNvSpPr/>
            <p:nvPr/>
          </p:nvSpPr>
          <p:spPr>
            <a:xfrm>
              <a:off x="6028503" y="824335"/>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8" name="直線矢印コネクタ 17">
              <a:extLst>
                <a:ext uri="{FF2B5EF4-FFF2-40B4-BE49-F238E27FC236}">
                  <a16:creationId xmlns:a16="http://schemas.microsoft.com/office/drawing/2014/main" id="{8D686322-EA97-700F-B01B-08E15B91CA4A}"/>
                </a:ext>
              </a:extLst>
            </p:cNvPr>
            <p:cNvCxnSpPr>
              <a:cxnSpLocks/>
              <a:stCxn id="19" idx="4"/>
              <a:endCxn id="17" idx="0"/>
            </p:cNvCxnSpPr>
            <p:nvPr/>
          </p:nvCxnSpPr>
          <p:spPr>
            <a:xfrm>
              <a:off x="6445693" y="643342"/>
              <a:ext cx="40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36">
              <a:extLst>
                <a:ext uri="{FF2B5EF4-FFF2-40B4-BE49-F238E27FC236}">
                  <a16:creationId xmlns:a16="http://schemas.microsoft.com/office/drawing/2014/main" id="{8936B0F7-338E-6836-2D88-A1E8E172266F}"/>
                </a:ext>
              </a:extLst>
            </p:cNvPr>
            <p:cNvSpPr/>
            <p:nvPr/>
          </p:nvSpPr>
          <p:spPr>
            <a:xfrm>
              <a:off x="630169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Tree>
    <p:extLst>
      <p:ext uri="{BB962C8B-B14F-4D97-AF65-F5344CB8AC3E}">
        <p14:creationId xmlns:p14="http://schemas.microsoft.com/office/powerpoint/2010/main" val="19115864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BB4D879A-95DF-6769-0AF6-7D33EEFFE2C8}"/>
              </a:ext>
            </a:extLst>
          </p:cNvPr>
          <p:cNvPicPr>
            <a:picLocks noChangeAspect="1"/>
          </p:cNvPicPr>
          <p:nvPr/>
        </p:nvPicPr>
        <p:blipFill>
          <a:blip r:embed="rId2"/>
          <a:stretch>
            <a:fillRect/>
          </a:stretch>
        </p:blipFill>
        <p:spPr>
          <a:xfrm>
            <a:off x="345745" y="680349"/>
            <a:ext cx="4854629" cy="3361774"/>
          </a:xfrm>
          <a:prstGeom prst="rect">
            <a:avLst/>
          </a:prstGeom>
        </p:spPr>
      </p:pic>
      <p:grpSp>
        <p:nvGrpSpPr>
          <p:cNvPr id="56" name="グループ化 55"/>
          <p:cNvGrpSpPr/>
          <p:nvPr/>
        </p:nvGrpSpPr>
        <p:grpSpPr>
          <a:xfrm>
            <a:off x="4619623" y="570123"/>
            <a:ext cx="600079" cy="582400"/>
            <a:chOff x="6172669" y="277583"/>
            <a:chExt cx="840111" cy="815361"/>
          </a:xfrm>
        </p:grpSpPr>
        <p:sp>
          <p:nvSpPr>
            <p:cNvPr id="10" name="角丸四角形 9"/>
            <p:cNvSpPr/>
            <p:nvPr/>
          </p:nvSpPr>
          <p:spPr>
            <a:xfrm>
              <a:off x="6172669" y="756893"/>
              <a:ext cx="840111" cy="33605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p:cNvCxnSpPr>
              <a:cxnSpLocks/>
              <a:stCxn id="12" idx="4"/>
              <a:endCxn id="10" idx="0"/>
            </p:cNvCxnSpPr>
            <p:nvPr/>
          </p:nvCxnSpPr>
          <p:spPr>
            <a:xfrm>
              <a:off x="6592725" y="565583"/>
              <a:ext cx="0" cy="19131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1"/>
            <p:cNvSpPr/>
            <p:nvPr/>
          </p:nvSpPr>
          <p:spPr>
            <a:xfrm>
              <a:off x="6448725" y="277583"/>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40" name="テキスト ボックス 39"/>
          <p:cNvSpPr txBox="1"/>
          <p:nvPr/>
        </p:nvSpPr>
        <p:spPr>
          <a:xfrm>
            <a:off x="5421313" y="657225"/>
            <a:ext cx="4234692" cy="2763257"/>
          </a:xfrm>
          <a:prstGeom prst="rect">
            <a:avLst/>
          </a:prstGeom>
          <a:solidFill>
            <a:schemeClr val="bg1"/>
          </a:solidFill>
          <a:ln w="6350">
            <a:solidFill>
              <a:schemeClr val="tx1"/>
            </a:solidFill>
          </a:ln>
        </p:spPr>
        <p:txBody>
          <a:bodyPr wrap="square" rtlCol="0">
            <a:spAutoFit/>
          </a:bodyPr>
          <a:lstStyle/>
          <a:p>
            <a:r>
              <a:rPr lang="en-US" altLang="ja-JP" sz="857" dirty="0">
                <a:latin typeface="Meiryo UI" panose="020B0604030504040204" pitchFamily="50" charset="-128"/>
                <a:ea typeface="Meiryo UI" panose="020B0604030504040204" pitchFamily="50" charset="-128"/>
                <a:cs typeface="Meiryo UI" panose="020B0604030504040204" pitchFamily="50" charset="-128"/>
              </a:rPr>
              <a:t>Eco</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プラスモードの設定ができます。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Speed Up</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エンジン回転数がエコ回転から通常回転に切り替わる条件を設定できます。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設定したどちらも上回るとエコ回転から通常回転に切り替わります。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731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load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エンジン負荷率</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731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Pump</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pressure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ポンプ圧力</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 Speed Down</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エンジン回転数が通常回転からエコ回転に切り替わる条件を設定できます。</a:t>
            </a:r>
            <a:br>
              <a:rPr lang="en-US" altLang="ja-JP" sz="857" dirty="0">
                <a:latin typeface="Meiryo UI" panose="020B0604030504040204" pitchFamily="50" charset="-128"/>
                <a:ea typeface="Meiryo UI" panose="020B0604030504040204" pitchFamily="50" charset="-128"/>
                <a:cs typeface="Meiryo UI" panose="020B0604030504040204" pitchFamily="50" charset="-128"/>
              </a:rPr>
            </a:br>
            <a:r>
              <a:rPr lang="ja-JP" altLang="en-US" sz="857" dirty="0">
                <a:latin typeface="Meiryo UI" panose="020B0604030504040204" pitchFamily="50" charset="-128"/>
                <a:ea typeface="Meiryo UI" panose="020B0604030504040204" pitchFamily="50" charset="-128"/>
                <a:cs typeface="Meiryo UI" panose="020B0604030504040204" pitchFamily="50" charset="-128"/>
              </a:rPr>
              <a:t>設定を下回ると通常回転からエコ通常回転に切り替わります。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73150" algn="l"/>
              </a:tabLst>
            </a:pPr>
            <a:r>
              <a:rPr lang="en-US" altLang="ja-JP" sz="857" dirty="0">
                <a:latin typeface="Meiryo UI" panose="020B0604030504040204" pitchFamily="50" charset="-128"/>
                <a:ea typeface="Meiryo UI" panose="020B0604030504040204" pitchFamily="50" charset="-128"/>
                <a:cs typeface="Meiryo UI" panose="020B0604030504040204" pitchFamily="50" charset="-128"/>
              </a:rPr>
              <a:t>Engine</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load	: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エンジン負荷率</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marL="128574">
              <a:tabLst>
                <a:tab pos="1073150" algn="l"/>
              </a:tabLst>
            </a:pP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Home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ホーム画面に戻ります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Download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変更した値を反映させます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Upload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現在の設定を読み込みます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a:p>
            <a:pPr>
              <a:spcBef>
                <a:spcPts val="857"/>
              </a:spcBef>
              <a:tabLst>
                <a:tab pos="701916" algn="l"/>
              </a:tabLst>
            </a:pPr>
            <a:r>
              <a:rPr lang="ja-JP" altLang="en-US" sz="857" dirty="0">
                <a:latin typeface="Meiryo UI" panose="020B0604030504040204" pitchFamily="50" charset="-128"/>
                <a:ea typeface="Meiryo UI" panose="020B0604030504040204" pitchFamily="50" charset="-128"/>
                <a:cs typeface="Meiryo UI" panose="020B0604030504040204" pitchFamily="50" charset="-128"/>
              </a:rPr>
              <a:t>④</a:t>
            </a:r>
            <a:r>
              <a:rPr lang="en-US" altLang="ja-JP" sz="857" dirty="0">
                <a:latin typeface="Meiryo UI" panose="020B0604030504040204" pitchFamily="50" charset="-128"/>
                <a:ea typeface="Meiryo UI" panose="020B0604030504040204" pitchFamily="50" charset="-128"/>
                <a:cs typeface="Meiryo UI" panose="020B0604030504040204" pitchFamily="50" charset="-128"/>
              </a:rPr>
              <a:t>Reset	:</a:t>
            </a:r>
            <a:r>
              <a:rPr lang="ja-JP" altLang="en-US" sz="857" dirty="0">
                <a:latin typeface="Meiryo UI" panose="020B0604030504040204" pitchFamily="50" charset="-128"/>
                <a:ea typeface="Meiryo UI" panose="020B0604030504040204" pitchFamily="50" charset="-128"/>
                <a:cs typeface="Meiryo UI" panose="020B0604030504040204" pitchFamily="50" charset="-128"/>
              </a:rPr>
              <a:t> コントローラ内のすべてのパラーメタが初期状態にもどります</a:t>
            </a:r>
            <a:endParaRPr lang="en-US" altLang="ja-JP" sz="857"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 name="グループ化 25"/>
          <p:cNvGrpSpPr/>
          <p:nvPr/>
        </p:nvGrpSpPr>
        <p:grpSpPr>
          <a:xfrm>
            <a:off x="2489542" y="577492"/>
            <a:ext cx="596557" cy="575032"/>
            <a:chOff x="6092506" y="208657"/>
            <a:chExt cx="835180" cy="805045"/>
          </a:xfrm>
        </p:grpSpPr>
        <p:sp>
          <p:nvSpPr>
            <p:cNvPr id="27" name="角丸四角形 26"/>
            <p:cNvSpPr/>
            <p:nvPr/>
          </p:nvSpPr>
          <p:spPr>
            <a:xfrm>
              <a:off x="6092506" y="677650"/>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2" name="直線矢印コネクタ 31"/>
            <p:cNvCxnSpPr>
              <a:cxnSpLocks/>
              <a:stCxn id="33" idx="4"/>
              <a:endCxn id="27" idx="0"/>
            </p:cNvCxnSpPr>
            <p:nvPr/>
          </p:nvCxnSpPr>
          <p:spPr>
            <a:xfrm>
              <a:off x="6510097" y="496657"/>
              <a:ext cx="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円/楕円 32"/>
            <p:cNvSpPr/>
            <p:nvPr/>
          </p:nvSpPr>
          <p:spPr>
            <a:xfrm>
              <a:off x="6366097" y="20865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34" name="グループ化 33"/>
          <p:cNvGrpSpPr/>
          <p:nvPr/>
        </p:nvGrpSpPr>
        <p:grpSpPr>
          <a:xfrm>
            <a:off x="1879942" y="577492"/>
            <a:ext cx="596557" cy="575032"/>
            <a:chOff x="6028503" y="355342"/>
            <a:chExt cx="835180" cy="805045"/>
          </a:xfrm>
        </p:grpSpPr>
        <p:sp>
          <p:nvSpPr>
            <p:cNvPr id="35" name="角丸四角形 34"/>
            <p:cNvSpPr/>
            <p:nvPr/>
          </p:nvSpPr>
          <p:spPr>
            <a:xfrm>
              <a:off x="6028503" y="824335"/>
              <a:ext cx="835180" cy="3360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6" name="直線矢印コネクタ 35"/>
            <p:cNvCxnSpPr>
              <a:cxnSpLocks/>
              <a:stCxn id="37" idx="4"/>
              <a:endCxn id="35" idx="0"/>
            </p:cNvCxnSpPr>
            <p:nvPr/>
          </p:nvCxnSpPr>
          <p:spPr>
            <a:xfrm>
              <a:off x="6445693" y="643342"/>
              <a:ext cx="400" cy="180993"/>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円/楕円 36"/>
            <p:cNvSpPr/>
            <p:nvPr/>
          </p:nvSpPr>
          <p:spPr>
            <a:xfrm>
              <a:off x="6301693" y="35534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7" name="グループ化 16"/>
          <p:cNvGrpSpPr/>
          <p:nvPr/>
        </p:nvGrpSpPr>
        <p:grpSpPr>
          <a:xfrm>
            <a:off x="3962856" y="606461"/>
            <a:ext cx="644315" cy="571597"/>
            <a:chOff x="6028504" y="366012"/>
            <a:chExt cx="902041" cy="800236"/>
          </a:xfrm>
        </p:grpSpPr>
        <p:sp>
          <p:nvSpPr>
            <p:cNvPr id="18" name="角丸四角形 17"/>
            <p:cNvSpPr/>
            <p:nvPr/>
          </p:nvSpPr>
          <p:spPr>
            <a:xfrm>
              <a:off x="6028504" y="824337"/>
              <a:ext cx="902041"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9" name="直線矢印コネクタ 18"/>
            <p:cNvCxnSpPr>
              <a:cxnSpLocks/>
              <a:stCxn id="20" idx="4"/>
              <a:endCxn id="18" idx="0"/>
            </p:cNvCxnSpPr>
            <p:nvPr/>
          </p:nvCxnSpPr>
          <p:spPr>
            <a:xfrm>
              <a:off x="6479525" y="654012"/>
              <a:ext cx="0" cy="1703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6335525" y="366012"/>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8" name="テキスト プレースホルダー 7">
            <a:extLst>
              <a:ext uri="{FF2B5EF4-FFF2-40B4-BE49-F238E27FC236}">
                <a16:creationId xmlns:a16="http://schemas.microsoft.com/office/drawing/2014/main" id="{97271D52-5CEF-6DE3-E07A-A2C24728759C}"/>
              </a:ext>
            </a:extLst>
          </p:cNvPr>
          <p:cNvSpPr>
            <a:spLocks noGrp="1"/>
          </p:cNvSpPr>
          <p:nvPr>
            <p:ph type="body" sz="quarter" idx="10"/>
          </p:nvPr>
        </p:nvSpPr>
        <p:spPr/>
        <p:txBody>
          <a:bodyPr/>
          <a:lstStyle/>
          <a:p>
            <a:r>
              <a:rPr lang="en-US" altLang="ja-JP" dirty="0"/>
              <a:t>Eco plus mode</a:t>
            </a:r>
            <a:r>
              <a:rPr lang="ja-JP" altLang="en-US" dirty="0"/>
              <a:t>画面</a:t>
            </a:r>
          </a:p>
          <a:p>
            <a:endParaRPr lang="ja-JP" altLang="en-US" dirty="0"/>
          </a:p>
        </p:txBody>
      </p:sp>
      <p:sp>
        <p:nvSpPr>
          <p:cNvPr id="2" name="テキスト ボックス 1">
            <a:extLst>
              <a:ext uri="{FF2B5EF4-FFF2-40B4-BE49-F238E27FC236}">
                <a16:creationId xmlns:a16="http://schemas.microsoft.com/office/drawing/2014/main" id="{5A76A60B-9BBD-E1BB-C703-CB11F1C0D817}"/>
              </a:ext>
            </a:extLst>
          </p:cNvPr>
          <p:cNvSpPr txBox="1"/>
          <p:nvPr/>
        </p:nvSpPr>
        <p:spPr>
          <a:xfrm>
            <a:off x="2224864" y="251245"/>
            <a:ext cx="768406" cy="195814"/>
          </a:xfrm>
          <a:prstGeom prst="rect">
            <a:avLst/>
          </a:prstGeom>
          <a:noFill/>
        </p:spPr>
        <p:txBody>
          <a:bodyPr wrap="none" lIns="36000" tIns="36000" rIns="36000" bIns="36000" rtlCol="0">
            <a:spAutoFit/>
          </a:bodyPr>
          <a:lstStyle/>
          <a:p>
            <a:r>
              <a:rPr kumimoji="1" lang="en-US" altLang="ja-JP" sz="800" dirty="0">
                <a:solidFill>
                  <a:srgbClr val="FF0000"/>
                </a:solidFill>
              </a:rPr>
              <a:t>Δ04</a:t>
            </a:r>
            <a:r>
              <a:rPr kumimoji="1" lang="ja-JP" altLang="en-US" sz="800" dirty="0">
                <a:solidFill>
                  <a:srgbClr val="FF0000"/>
                </a:solidFill>
              </a:rPr>
              <a:t> ページ追加</a:t>
            </a:r>
          </a:p>
        </p:txBody>
      </p:sp>
    </p:spTree>
    <p:extLst>
      <p:ext uri="{BB962C8B-B14F-4D97-AF65-F5344CB8AC3E}">
        <p14:creationId xmlns:p14="http://schemas.microsoft.com/office/powerpoint/2010/main" val="38254085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7B7FB3E-F537-82A5-4A85-CCEF894D00B9}"/>
              </a:ext>
            </a:extLst>
          </p:cNvPr>
          <p:cNvSpPr>
            <a:spLocks noGrp="1"/>
          </p:cNvSpPr>
          <p:nvPr>
            <p:ph type="body" sz="quarter" idx="10"/>
          </p:nvPr>
        </p:nvSpPr>
        <p:spPr/>
        <p:txBody>
          <a:bodyPr/>
          <a:lstStyle/>
          <a:p>
            <a:r>
              <a:rPr kumimoji="1" lang="en-US" altLang="ja-JP" dirty="0"/>
              <a:t>TFM command</a:t>
            </a:r>
            <a:endParaRPr kumimoji="1" lang="ja-JP" altLang="en-US" dirty="0"/>
          </a:p>
        </p:txBody>
      </p:sp>
      <p:pic>
        <p:nvPicPr>
          <p:cNvPr id="3" name="図 2">
            <a:extLst>
              <a:ext uri="{FF2B5EF4-FFF2-40B4-BE49-F238E27FC236}">
                <a16:creationId xmlns:a16="http://schemas.microsoft.com/office/drawing/2014/main" id="{AFAE7BFA-089D-3B97-5B32-CF8E145CC1DA}"/>
              </a:ext>
            </a:extLst>
          </p:cNvPr>
          <p:cNvPicPr>
            <a:picLocks noChangeAspect="1"/>
          </p:cNvPicPr>
          <p:nvPr/>
        </p:nvPicPr>
        <p:blipFill>
          <a:blip r:embed="rId2"/>
          <a:stretch>
            <a:fillRect/>
          </a:stretch>
        </p:blipFill>
        <p:spPr>
          <a:xfrm>
            <a:off x="344488" y="657225"/>
            <a:ext cx="4906962" cy="3891071"/>
          </a:xfrm>
          <a:prstGeom prst="rect">
            <a:avLst/>
          </a:prstGeom>
        </p:spPr>
      </p:pic>
      <p:sp>
        <p:nvSpPr>
          <p:cNvPr id="4" name="テキスト ボックス 3">
            <a:extLst>
              <a:ext uri="{FF2B5EF4-FFF2-40B4-BE49-F238E27FC236}">
                <a16:creationId xmlns:a16="http://schemas.microsoft.com/office/drawing/2014/main" id="{DCDC93C1-5F20-3AF2-713A-9845921D89E1}"/>
              </a:ext>
            </a:extLst>
          </p:cNvPr>
          <p:cNvSpPr txBox="1"/>
          <p:nvPr/>
        </p:nvSpPr>
        <p:spPr>
          <a:xfrm>
            <a:off x="5421313" y="657225"/>
            <a:ext cx="3605795" cy="1283428"/>
          </a:xfrm>
          <a:prstGeom prst="rect">
            <a:avLst/>
          </a:prstGeom>
          <a:solidFill>
            <a:schemeClr val="bg1"/>
          </a:solidFill>
          <a:ln w="6350">
            <a:solidFill>
              <a:schemeClr val="tx1"/>
            </a:solidFill>
          </a:ln>
        </p:spPr>
        <p:txBody>
          <a:bodyPr wrap="none" rtlCol="0">
            <a:spAutoFit/>
          </a:bodyPr>
          <a:lstStyle/>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TFM</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リモートコマンドの機能を設定できます。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①エンジンの回転数制限・始動制限を選択します。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	Engine start disable</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・・・有効の場合、エンジン始動不可</a:t>
            </a: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	Engine speed low</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・・・有効の場合、アクセル開度の上限を</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に制限</a:t>
            </a: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	Engine speed mid</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・・・有効の場合、アクセル開度の上限を</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50%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に制限</a:t>
            </a: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	Limit unlock</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・・・有効の場合、制限なし</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②選択した</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TFM</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コマンドを更新します。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③</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HOME</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BD3F3801-5F07-98E1-0A46-6335E4C0F8EA}"/>
              </a:ext>
            </a:extLst>
          </p:cNvPr>
          <p:cNvGrpSpPr/>
          <p:nvPr/>
        </p:nvGrpSpPr>
        <p:grpSpPr>
          <a:xfrm>
            <a:off x="4489447" y="4264023"/>
            <a:ext cx="657225" cy="556729"/>
            <a:chOff x="5214380" y="1121305"/>
            <a:chExt cx="920114" cy="779422"/>
          </a:xfrm>
        </p:grpSpPr>
        <p:sp>
          <p:nvSpPr>
            <p:cNvPr id="6" name="角丸四角形 17">
              <a:extLst>
                <a:ext uri="{FF2B5EF4-FFF2-40B4-BE49-F238E27FC236}">
                  <a16:creationId xmlns:a16="http://schemas.microsoft.com/office/drawing/2014/main" id="{D92D93DA-80D6-F768-D26B-5E25168C614B}"/>
                </a:ext>
              </a:extLst>
            </p:cNvPr>
            <p:cNvSpPr/>
            <p:nvPr/>
          </p:nvSpPr>
          <p:spPr>
            <a:xfrm>
              <a:off x="5214380" y="1121305"/>
              <a:ext cx="920114" cy="3111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EB7B26D8-68F9-9966-6E65-972B01A40DDD}"/>
                </a:ext>
              </a:extLst>
            </p:cNvPr>
            <p:cNvCxnSpPr>
              <a:cxnSpLocks/>
              <a:stCxn id="8" idx="0"/>
              <a:endCxn id="6" idx="2"/>
            </p:cNvCxnSpPr>
            <p:nvPr/>
          </p:nvCxnSpPr>
          <p:spPr>
            <a:xfrm flipV="1">
              <a:off x="5674436" y="1432457"/>
              <a:ext cx="1" cy="1802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60B713AA-9EAA-3691-E0A0-C69E3770A09B}"/>
                </a:ext>
              </a:extLst>
            </p:cNvPr>
            <p:cNvSpPr/>
            <p:nvPr/>
          </p:nvSpPr>
          <p:spPr>
            <a:xfrm>
              <a:off x="5530437" y="161272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9" name="グループ化 8">
            <a:extLst>
              <a:ext uri="{FF2B5EF4-FFF2-40B4-BE49-F238E27FC236}">
                <a16:creationId xmlns:a16="http://schemas.microsoft.com/office/drawing/2014/main" id="{25B20F4E-7B0B-ADED-CE38-98BD9D9F3826}"/>
              </a:ext>
            </a:extLst>
          </p:cNvPr>
          <p:cNvGrpSpPr/>
          <p:nvPr/>
        </p:nvGrpSpPr>
        <p:grpSpPr>
          <a:xfrm>
            <a:off x="2914647" y="1489073"/>
            <a:ext cx="1486830" cy="682627"/>
            <a:chOff x="5214380" y="1121305"/>
            <a:chExt cx="2081560" cy="955680"/>
          </a:xfrm>
        </p:grpSpPr>
        <p:sp>
          <p:nvSpPr>
            <p:cNvPr id="10" name="角丸四角形 17">
              <a:extLst>
                <a:ext uri="{FF2B5EF4-FFF2-40B4-BE49-F238E27FC236}">
                  <a16:creationId xmlns:a16="http://schemas.microsoft.com/office/drawing/2014/main" id="{2CF18744-E9C9-2B27-67DB-5351CBD0A6E3}"/>
                </a:ext>
              </a:extLst>
            </p:cNvPr>
            <p:cNvSpPr/>
            <p:nvPr/>
          </p:nvSpPr>
          <p:spPr>
            <a:xfrm>
              <a:off x="5214380" y="1121305"/>
              <a:ext cx="1555753" cy="955680"/>
            </a:xfrm>
            <a:prstGeom prst="roundRect">
              <a:avLst>
                <a:gd name="adj" fmla="val 12016"/>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a:extLst>
                <a:ext uri="{FF2B5EF4-FFF2-40B4-BE49-F238E27FC236}">
                  <a16:creationId xmlns:a16="http://schemas.microsoft.com/office/drawing/2014/main" id="{6A466A9C-8F2A-FE81-48F1-2780B269D60E}"/>
                </a:ext>
              </a:extLst>
            </p:cNvPr>
            <p:cNvCxnSpPr>
              <a:cxnSpLocks/>
              <a:stCxn id="12" idx="2"/>
              <a:endCxn id="10" idx="3"/>
            </p:cNvCxnSpPr>
            <p:nvPr/>
          </p:nvCxnSpPr>
          <p:spPr>
            <a:xfrm flipH="1">
              <a:off x="6770133" y="1599144"/>
              <a:ext cx="237808"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9">
              <a:extLst>
                <a:ext uri="{FF2B5EF4-FFF2-40B4-BE49-F238E27FC236}">
                  <a16:creationId xmlns:a16="http://schemas.microsoft.com/office/drawing/2014/main" id="{CFA0C783-2145-D893-56A2-A2B44B1F991D}"/>
                </a:ext>
              </a:extLst>
            </p:cNvPr>
            <p:cNvSpPr/>
            <p:nvPr/>
          </p:nvSpPr>
          <p:spPr>
            <a:xfrm>
              <a:off x="7007941" y="1455144"/>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9" name="グループ化 18">
            <a:extLst>
              <a:ext uri="{FF2B5EF4-FFF2-40B4-BE49-F238E27FC236}">
                <a16:creationId xmlns:a16="http://schemas.microsoft.com/office/drawing/2014/main" id="{D954808F-602D-593F-23B2-BC440554A593}"/>
              </a:ext>
            </a:extLst>
          </p:cNvPr>
          <p:cNvGrpSpPr/>
          <p:nvPr/>
        </p:nvGrpSpPr>
        <p:grpSpPr>
          <a:xfrm>
            <a:off x="517523" y="2219656"/>
            <a:ext cx="802943" cy="205714"/>
            <a:chOff x="5214381" y="1092878"/>
            <a:chExt cx="1124119" cy="288000"/>
          </a:xfrm>
        </p:grpSpPr>
        <p:sp>
          <p:nvSpPr>
            <p:cNvPr id="20" name="角丸四角形 17">
              <a:extLst>
                <a:ext uri="{FF2B5EF4-FFF2-40B4-BE49-F238E27FC236}">
                  <a16:creationId xmlns:a16="http://schemas.microsoft.com/office/drawing/2014/main" id="{B9946BBE-D4DE-878C-92D7-AF81E10C5987}"/>
                </a:ext>
              </a:extLst>
            </p:cNvPr>
            <p:cNvSpPr/>
            <p:nvPr/>
          </p:nvSpPr>
          <p:spPr>
            <a:xfrm>
              <a:off x="5214381" y="1121306"/>
              <a:ext cx="655642" cy="23114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a:extLst>
                <a:ext uri="{FF2B5EF4-FFF2-40B4-BE49-F238E27FC236}">
                  <a16:creationId xmlns:a16="http://schemas.microsoft.com/office/drawing/2014/main" id="{802333F0-3EF6-ADD7-7CBE-4E50EBE76D4F}"/>
                </a:ext>
              </a:extLst>
            </p:cNvPr>
            <p:cNvCxnSpPr>
              <a:cxnSpLocks/>
              <a:endCxn id="20" idx="3"/>
            </p:cNvCxnSpPr>
            <p:nvPr/>
          </p:nvCxnSpPr>
          <p:spPr>
            <a:xfrm flipH="1">
              <a:off x="5870023" y="1236878"/>
              <a:ext cx="180478"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19">
              <a:extLst>
                <a:ext uri="{FF2B5EF4-FFF2-40B4-BE49-F238E27FC236}">
                  <a16:creationId xmlns:a16="http://schemas.microsoft.com/office/drawing/2014/main" id="{BA3851CD-53FC-D028-C2A4-CDE863717B36}"/>
                </a:ext>
              </a:extLst>
            </p:cNvPr>
            <p:cNvSpPr/>
            <p:nvPr/>
          </p:nvSpPr>
          <p:spPr>
            <a:xfrm>
              <a:off x="6050501" y="1092878"/>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8" name="テキスト ボックス 27">
            <a:extLst>
              <a:ext uri="{FF2B5EF4-FFF2-40B4-BE49-F238E27FC236}">
                <a16:creationId xmlns:a16="http://schemas.microsoft.com/office/drawing/2014/main" id="{DB82589C-2E9E-031B-F31A-FB6CB28762E6}"/>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Tree>
    <p:extLst>
      <p:ext uri="{BB962C8B-B14F-4D97-AF65-F5344CB8AC3E}">
        <p14:creationId xmlns:p14="http://schemas.microsoft.com/office/powerpoint/2010/main" val="513313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9A4C65F-208D-B8E3-8F9F-04ADA987368C}"/>
              </a:ext>
            </a:extLst>
          </p:cNvPr>
          <p:cNvSpPr>
            <a:spLocks noGrp="1"/>
          </p:cNvSpPr>
          <p:nvPr>
            <p:ph type="body" sz="quarter" idx="10"/>
          </p:nvPr>
        </p:nvSpPr>
        <p:spPr>
          <a:xfrm>
            <a:off x="132671" y="179162"/>
            <a:ext cx="4706030" cy="253545"/>
          </a:xfrm>
        </p:spPr>
        <p:txBody>
          <a:bodyPr/>
          <a:lstStyle/>
          <a:p>
            <a:r>
              <a:rPr kumimoji="1" lang="en-US" altLang="ja-JP" dirty="0"/>
              <a:t>Data Monitor(SI Unit)</a:t>
            </a:r>
            <a:r>
              <a:rPr kumimoji="1" lang="ja-JP" altLang="en-US" dirty="0"/>
              <a:t>画面</a:t>
            </a:r>
            <a:endParaRPr kumimoji="1" lang="ja-JP" altLang="en-US" b="1" dirty="0">
              <a:solidFill>
                <a:schemeClr val="accent2"/>
              </a:solidFill>
            </a:endParaRPr>
          </a:p>
        </p:txBody>
      </p:sp>
      <p:pic>
        <p:nvPicPr>
          <p:cNvPr id="4" name="図 3" descr="グラフィカル ユーザー インターフェイス, テキスト, アプリケーション, メール&#10;&#10;自動的に生成された説明">
            <a:extLst>
              <a:ext uri="{FF2B5EF4-FFF2-40B4-BE49-F238E27FC236}">
                <a16:creationId xmlns:a16="http://schemas.microsoft.com/office/drawing/2014/main" id="{558DC47E-E86C-0ED7-3EBE-978FFE63E0BA}"/>
              </a:ext>
            </a:extLst>
          </p:cNvPr>
          <p:cNvPicPr>
            <a:picLocks noChangeAspect="1"/>
          </p:cNvPicPr>
          <p:nvPr/>
        </p:nvPicPr>
        <p:blipFill rotWithShape="1">
          <a:blip r:embed="rId2">
            <a:extLst>
              <a:ext uri="{28A0092B-C50C-407E-A947-70E740481C1C}">
                <a14:useLocalDpi xmlns:a14="http://schemas.microsoft.com/office/drawing/2010/main" val="0"/>
              </a:ext>
            </a:extLst>
          </a:blip>
          <a:srcRect b="8474"/>
          <a:stretch/>
        </p:blipFill>
        <p:spPr>
          <a:xfrm>
            <a:off x="344488" y="657225"/>
            <a:ext cx="4859279" cy="2962275"/>
          </a:xfrm>
          <a:prstGeom prst="rect">
            <a:avLst/>
          </a:prstGeom>
        </p:spPr>
      </p:pic>
      <p:sp>
        <p:nvSpPr>
          <p:cNvPr id="10" name="テキスト ボックス 9">
            <a:extLst>
              <a:ext uri="{FF2B5EF4-FFF2-40B4-BE49-F238E27FC236}">
                <a16:creationId xmlns:a16="http://schemas.microsoft.com/office/drawing/2014/main" id="{FAA38E91-9B61-3D23-F564-415AD53857B3}"/>
              </a:ext>
            </a:extLst>
          </p:cNvPr>
          <p:cNvSpPr txBox="1"/>
          <p:nvPr/>
        </p:nvSpPr>
        <p:spPr>
          <a:xfrm>
            <a:off x="5421313" y="657225"/>
            <a:ext cx="3067367" cy="489365"/>
          </a:xfrm>
          <a:prstGeom prst="rect">
            <a:avLst/>
          </a:prstGeom>
          <a:solidFill>
            <a:schemeClr val="bg1"/>
          </a:solidFill>
          <a:ln w="6350">
            <a:solidFill>
              <a:schemeClr val="tx1"/>
            </a:solidFill>
          </a:ln>
        </p:spPr>
        <p:txBody>
          <a:bodyPr wrap="squar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Maker Info.</a:t>
            </a:r>
          </a:p>
          <a:p>
            <a:pPr indent="182563"/>
            <a:r>
              <a:rPr lang="en-US" altLang="ja-JP" sz="860" dirty="0">
                <a:latin typeface="Meiryo UI" panose="020B0604030504040204" pitchFamily="50" charset="-128"/>
                <a:ea typeface="Meiryo UI" panose="020B0604030504040204" pitchFamily="50" charset="-128"/>
                <a:cs typeface="Meiryo UI" panose="020B0604030504040204" pitchFamily="50" charset="-128"/>
              </a:rPr>
              <a:t>ECU</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シリアルナンバー</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indent="182563"/>
            <a:r>
              <a:rPr lang="ja-JP" altLang="en-US" sz="860" dirty="0">
                <a:latin typeface="Meiryo UI" panose="020B0604030504040204" pitchFamily="50" charset="-128"/>
                <a:ea typeface="Meiryo UI" panose="020B0604030504040204" pitchFamily="50" charset="-128"/>
                <a:cs typeface="Meiryo UI" panose="020B0604030504040204" pitchFamily="50" charset="-128"/>
              </a:rPr>
              <a:t>エンジン識別ナンバー</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2" name="グループ化 11">
            <a:extLst>
              <a:ext uri="{FF2B5EF4-FFF2-40B4-BE49-F238E27FC236}">
                <a16:creationId xmlns:a16="http://schemas.microsoft.com/office/drawing/2014/main" id="{A16CF56E-5B3B-6D11-9CE6-BAA877E0FE89}"/>
              </a:ext>
            </a:extLst>
          </p:cNvPr>
          <p:cNvGrpSpPr/>
          <p:nvPr/>
        </p:nvGrpSpPr>
        <p:grpSpPr>
          <a:xfrm>
            <a:off x="344488" y="3666133"/>
            <a:ext cx="5354993" cy="2831878"/>
            <a:chOff x="344488" y="3893280"/>
            <a:chExt cx="5354993" cy="2831878"/>
          </a:xfrm>
        </p:grpSpPr>
        <p:sp>
          <p:nvSpPr>
            <p:cNvPr id="5" name="テキスト ボックス 4">
              <a:extLst>
                <a:ext uri="{FF2B5EF4-FFF2-40B4-BE49-F238E27FC236}">
                  <a16:creationId xmlns:a16="http://schemas.microsoft.com/office/drawing/2014/main" id="{150C4236-2FD1-F67A-33E2-340CD13C07FE}"/>
                </a:ext>
              </a:extLst>
            </p:cNvPr>
            <p:cNvSpPr txBox="1"/>
            <p:nvPr/>
          </p:nvSpPr>
          <p:spPr>
            <a:xfrm>
              <a:off x="2178644" y="4117463"/>
              <a:ext cx="1895071" cy="2606867"/>
            </a:xfrm>
            <a:prstGeom prst="rect">
              <a:avLst/>
            </a:prstGeom>
            <a:solidFill>
              <a:schemeClr val="bg1"/>
            </a:solidFill>
            <a:ln w="6350">
              <a:solidFill>
                <a:schemeClr val="tx1"/>
              </a:solidFill>
            </a:ln>
          </p:spPr>
          <p:txBody>
            <a:bodyPr wrap="non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吸気マニホールド圧力</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吸気マニホールド圧力センサー電圧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目標レール圧力</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レール圧力</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レール圧力センサー電圧</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EGR</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率</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目標</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EGR</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率</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0</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排気温度センサー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排気温度センサー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2</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排気温度センサー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吸気スロットル最終デューティー操作量</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吸気スロットル実開度（全開</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100</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吸気スロットル開度電圧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噴射タイミング補正値（</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V3</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噴射タイミング補正値（</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07</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噴射タイミング補正値（</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03)</a:t>
              </a:r>
            </a:p>
          </p:txBody>
        </p:sp>
        <p:sp>
          <p:nvSpPr>
            <p:cNvPr id="8" name="テキスト ボックス 7">
              <a:extLst>
                <a:ext uri="{FF2B5EF4-FFF2-40B4-BE49-F238E27FC236}">
                  <a16:creationId xmlns:a16="http://schemas.microsoft.com/office/drawing/2014/main" id="{C69E4016-6C16-2031-959C-91A1B4FC3E0C}"/>
                </a:ext>
              </a:extLst>
            </p:cNvPr>
            <p:cNvSpPr txBox="1"/>
            <p:nvPr/>
          </p:nvSpPr>
          <p:spPr>
            <a:xfrm>
              <a:off x="4073715" y="4117463"/>
              <a:ext cx="1625766" cy="2606867"/>
            </a:xfrm>
            <a:prstGeom prst="rect">
              <a:avLst/>
            </a:prstGeom>
            <a:solidFill>
              <a:schemeClr val="bg1"/>
            </a:solidFill>
            <a:ln w="6350">
              <a:solidFill>
                <a:schemeClr val="tx1"/>
              </a:solidFill>
            </a:ln>
          </p:spPr>
          <p:txBody>
            <a:bodyPr wrap="squar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最終燃料量</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質量空気流量</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外気</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温</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外気</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温センサ電圧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目標空気流量</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PM</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堆積量</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PM</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堆積量</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2</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再生制御レベル（</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RL</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再生制御ステータス（</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RS</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差圧</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差圧</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センサー電圧</a:t>
              </a: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自動再生禁止スイッチ</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手動再生実行スイッチ</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再生実行時間</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最終噴射燃料増加量</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前回ポンプ学習</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エンジン運転合計時間</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ポンプタイミング学習補正値</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ポンプ学習補正値</a:t>
              </a:r>
            </a:p>
          </p:txBody>
        </p:sp>
        <p:sp>
          <p:nvSpPr>
            <p:cNvPr id="9" name="テキスト ボックス 8">
              <a:extLst>
                <a:ext uri="{FF2B5EF4-FFF2-40B4-BE49-F238E27FC236}">
                  <a16:creationId xmlns:a16="http://schemas.microsoft.com/office/drawing/2014/main" id="{301D225E-B547-5BA7-67E2-6509E91AF5E1}"/>
                </a:ext>
              </a:extLst>
            </p:cNvPr>
            <p:cNvSpPr txBox="1"/>
            <p:nvPr/>
          </p:nvSpPr>
          <p:spPr>
            <a:xfrm>
              <a:off x="344488" y="4118291"/>
              <a:ext cx="1834156" cy="2606867"/>
            </a:xfrm>
            <a:prstGeom prst="rect">
              <a:avLst/>
            </a:prstGeom>
            <a:solidFill>
              <a:schemeClr val="bg1"/>
            </a:solidFill>
            <a:ln w="6350">
              <a:solidFill>
                <a:schemeClr val="tx1"/>
              </a:solidFill>
            </a:ln>
          </p:spPr>
          <p:txBody>
            <a:bodyPr wrap="non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バッテリ電圧</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860" dirty="0">
                  <a:latin typeface="Meiryo UI" panose="020B0604030504040204" pitchFamily="50" charset="-128"/>
                  <a:ea typeface="Meiryo UI" panose="020B0604030504040204" pitchFamily="50" charset="-128"/>
                  <a:cs typeface="Meiryo UI" panose="020B0604030504040204" pitchFamily="50" charset="-128"/>
                </a:rPr>
                <a:t>エンジンスピード</a:t>
              </a:r>
              <a:endParaRPr kumimoji="1"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アイソクロナス制御目標速度</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車両速度</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860" dirty="0">
                  <a:latin typeface="Meiryo UI" panose="020B0604030504040204" pitchFamily="50" charset="-128"/>
                  <a:ea typeface="Meiryo UI" panose="020B0604030504040204" pitchFamily="50" charset="-128"/>
                  <a:cs typeface="Meiryo UI" panose="020B0604030504040204" pitchFamily="50" charset="-128"/>
                </a:rPr>
                <a:t>ニュートラルスイッチ</a:t>
              </a:r>
              <a:endParaRPr kumimoji="1"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パーキングスイッチ</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アクセルペダルポジション</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アクセルペダルポジションセンサー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1</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アクセルペダルポジションセンサー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クーラント温度</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クーラント温度センサー電圧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燃料温度</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燃料温度センサー電圧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吸気温度</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吸気温度センサーの電圧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外気圧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外気圧センサー電圧</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吸気スロットルの空気流量</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油圧スイッチ</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テキスト ボックス 10">
              <a:extLst>
                <a:ext uri="{FF2B5EF4-FFF2-40B4-BE49-F238E27FC236}">
                  <a16:creationId xmlns:a16="http://schemas.microsoft.com/office/drawing/2014/main" id="{66025768-56F8-EB63-0F54-DCA9531BA022}"/>
                </a:ext>
              </a:extLst>
            </p:cNvPr>
            <p:cNvSpPr txBox="1"/>
            <p:nvPr/>
          </p:nvSpPr>
          <p:spPr>
            <a:xfrm>
              <a:off x="344488" y="3893280"/>
              <a:ext cx="5354993" cy="224677"/>
            </a:xfrm>
            <a:prstGeom prst="rect">
              <a:avLst/>
            </a:prstGeom>
            <a:solidFill>
              <a:schemeClr val="bg1"/>
            </a:solidFill>
            <a:ln w="6350">
              <a:solidFill>
                <a:schemeClr val="tx1"/>
              </a:solidFill>
            </a:ln>
          </p:spPr>
          <p:txBody>
            <a:bodyPr wrap="squar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Engine control Info.</a:t>
              </a:r>
            </a:p>
          </p:txBody>
        </p:sp>
      </p:grpSp>
      <p:sp>
        <p:nvSpPr>
          <p:cNvPr id="13" name="テキスト ボックス 12">
            <a:extLst>
              <a:ext uri="{FF2B5EF4-FFF2-40B4-BE49-F238E27FC236}">
                <a16:creationId xmlns:a16="http://schemas.microsoft.com/office/drawing/2014/main" id="{A11ABA08-3839-7801-75DE-067279C9D168}"/>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Tree>
    <p:extLst>
      <p:ext uri="{BB962C8B-B14F-4D97-AF65-F5344CB8AC3E}">
        <p14:creationId xmlns:p14="http://schemas.microsoft.com/office/powerpoint/2010/main" val="28588624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DFF20B2-9E99-760A-C61D-0BFEF32F9817}"/>
              </a:ext>
            </a:extLst>
          </p:cNvPr>
          <p:cNvSpPr>
            <a:spLocks noGrp="1"/>
          </p:cNvSpPr>
          <p:nvPr>
            <p:ph type="body" sz="quarter" idx="10"/>
          </p:nvPr>
        </p:nvSpPr>
        <p:spPr>
          <a:xfrm>
            <a:off x="132671" y="179162"/>
            <a:ext cx="3372530" cy="253545"/>
          </a:xfrm>
        </p:spPr>
        <p:txBody>
          <a:bodyPr/>
          <a:lstStyle/>
          <a:p>
            <a:r>
              <a:rPr kumimoji="1" lang="en-US" altLang="ja-JP" dirty="0"/>
              <a:t>Data Monitor(US Unit)</a:t>
            </a:r>
            <a:r>
              <a:rPr kumimoji="1" lang="ja-JP" altLang="en-US" dirty="0"/>
              <a:t>画面 </a:t>
            </a:r>
            <a:endParaRPr kumimoji="1" lang="ja-JP" altLang="en-US" b="1" dirty="0">
              <a:solidFill>
                <a:schemeClr val="accent2"/>
              </a:solidFill>
            </a:endParaRPr>
          </a:p>
        </p:txBody>
      </p:sp>
      <p:pic>
        <p:nvPicPr>
          <p:cNvPr id="4" name="図 3" descr="グラフィカル ユーザー インターフェイス, テキスト, アプリケーション, メール&#10;&#10;自動的に生成された説明">
            <a:extLst>
              <a:ext uri="{FF2B5EF4-FFF2-40B4-BE49-F238E27FC236}">
                <a16:creationId xmlns:a16="http://schemas.microsoft.com/office/drawing/2014/main" id="{37BE344E-8139-9D8D-61BF-4F0B834B68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883524" cy="3267619"/>
          </a:xfrm>
          <a:prstGeom prst="rect">
            <a:avLst/>
          </a:prstGeom>
        </p:spPr>
      </p:pic>
      <p:sp>
        <p:nvSpPr>
          <p:cNvPr id="5" name="テキスト ボックス 4">
            <a:extLst>
              <a:ext uri="{FF2B5EF4-FFF2-40B4-BE49-F238E27FC236}">
                <a16:creationId xmlns:a16="http://schemas.microsoft.com/office/drawing/2014/main" id="{16847626-593C-200A-1EED-C7E92059493E}"/>
              </a:ext>
            </a:extLst>
          </p:cNvPr>
          <p:cNvSpPr txBox="1"/>
          <p:nvPr/>
        </p:nvSpPr>
        <p:spPr>
          <a:xfrm>
            <a:off x="5421313" y="657225"/>
            <a:ext cx="4042727" cy="224677"/>
          </a:xfrm>
          <a:prstGeom prst="rect">
            <a:avLst/>
          </a:prstGeom>
          <a:solidFill>
            <a:schemeClr val="bg1"/>
          </a:solidFill>
          <a:ln w="6350">
            <a:solidFill>
              <a:schemeClr val="tx1"/>
            </a:solidFill>
          </a:ln>
        </p:spPr>
        <p:txBody>
          <a:bodyPr wrap="squar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各項目は</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SI</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 </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Unit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画面と同様</a:t>
            </a:r>
          </a:p>
        </p:txBody>
      </p:sp>
      <p:sp>
        <p:nvSpPr>
          <p:cNvPr id="6" name="テキスト ボックス 5">
            <a:extLst>
              <a:ext uri="{FF2B5EF4-FFF2-40B4-BE49-F238E27FC236}">
                <a16:creationId xmlns:a16="http://schemas.microsoft.com/office/drawing/2014/main" id="{5E6D9F89-0112-5371-FE33-43639718C429}"/>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Tree>
    <p:extLst>
      <p:ext uri="{BB962C8B-B14F-4D97-AF65-F5344CB8AC3E}">
        <p14:creationId xmlns:p14="http://schemas.microsoft.com/office/powerpoint/2010/main" val="3902064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FDAFF97-E2F4-A07D-B5D0-EA2337F2B1FC}"/>
              </a:ext>
            </a:extLst>
          </p:cNvPr>
          <p:cNvSpPr>
            <a:spLocks noGrp="1"/>
          </p:cNvSpPr>
          <p:nvPr>
            <p:ph type="body" sz="quarter" idx="10"/>
          </p:nvPr>
        </p:nvSpPr>
        <p:spPr>
          <a:xfrm>
            <a:off x="132671" y="179162"/>
            <a:ext cx="3380150" cy="253545"/>
          </a:xfrm>
        </p:spPr>
        <p:txBody>
          <a:bodyPr/>
          <a:lstStyle/>
          <a:p>
            <a:r>
              <a:rPr kumimoji="1" lang="en-US" altLang="ja-JP" dirty="0"/>
              <a:t>Active test(ECU)</a:t>
            </a:r>
            <a:r>
              <a:rPr kumimoji="1" lang="ja-JP" altLang="en-US" dirty="0"/>
              <a:t>画面</a:t>
            </a:r>
            <a:r>
              <a:rPr kumimoji="1" lang="en-US" altLang="ja-JP" dirty="0"/>
              <a:t> </a:t>
            </a:r>
            <a:endParaRPr kumimoji="1" lang="en-US" altLang="ja-JP" b="1" dirty="0">
              <a:solidFill>
                <a:schemeClr val="accent2"/>
              </a:solidFill>
            </a:endParaRPr>
          </a:p>
        </p:txBody>
      </p:sp>
      <p:pic>
        <p:nvPicPr>
          <p:cNvPr id="4" name="図 3" descr="グラフィカル ユーザー インターフェイス, アプリケーション, テーブル&#10;&#10;自動的に生成された説明">
            <a:extLst>
              <a:ext uri="{FF2B5EF4-FFF2-40B4-BE49-F238E27FC236}">
                <a16:creationId xmlns:a16="http://schemas.microsoft.com/office/drawing/2014/main" id="{CBFD0A06-F0F2-15FE-9660-090F281C2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88" y="657225"/>
            <a:ext cx="4457143" cy="4034285"/>
          </a:xfrm>
          <a:prstGeom prst="rect">
            <a:avLst/>
          </a:prstGeom>
        </p:spPr>
      </p:pic>
      <p:sp>
        <p:nvSpPr>
          <p:cNvPr id="5" name="テキスト ボックス 4">
            <a:extLst>
              <a:ext uri="{FF2B5EF4-FFF2-40B4-BE49-F238E27FC236}">
                <a16:creationId xmlns:a16="http://schemas.microsoft.com/office/drawing/2014/main" id="{D0613AB8-0978-22B7-4185-3A39B32490AB}"/>
              </a:ext>
            </a:extLst>
          </p:cNvPr>
          <p:cNvSpPr txBox="1"/>
          <p:nvPr/>
        </p:nvSpPr>
        <p:spPr>
          <a:xfrm>
            <a:off x="5421313" y="657225"/>
            <a:ext cx="3920807" cy="1283428"/>
          </a:xfrm>
          <a:prstGeom prst="rect">
            <a:avLst/>
          </a:prstGeom>
          <a:solidFill>
            <a:schemeClr val="bg1"/>
          </a:solidFill>
          <a:ln w="6350">
            <a:solidFill>
              <a:schemeClr val="tx1"/>
            </a:solidFill>
          </a:ln>
        </p:spPr>
        <p:txBody>
          <a:bodyPr wrap="squar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①インジェクタテスト</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EGR</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バルブ</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③グローリレー</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④インテークスロットル</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⑤インジェクタ補正</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⑥</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積算値</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再生頻度初期化</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手動再生</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⑧サプライポンプ機差学習</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(TL6R,TL8R,TL10V-2)</a:t>
            </a: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⑨サプライポンプ機差学習</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(TL12V-2,TL1R-2)</a:t>
            </a:r>
          </a:p>
        </p:txBody>
      </p:sp>
      <p:grpSp>
        <p:nvGrpSpPr>
          <p:cNvPr id="6" name="グループ化 5">
            <a:extLst>
              <a:ext uri="{FF2B5EF4-FFF2-40B4-BE49-F238E27FC236}">
                <a16:creationId xmlns:a16="http://schemas.microsoft.com/office/drawing/2014/main" id="{BD794970-F556-81A4-7F9D-B5D5FF1F0FAD}"/>
              </a:ext>
            </a:extLst>
          </p:cNvPr>
          <p:cNvGrpSpPr/>
          <p:nvPr/>
        </p:nvGrpSpPr>
        <p:grpSpPr>
          <a:xfrm>
            <a:off x="396770" y="1282636"/>
            <a:ext cx="2707695" cy="244222"/>
            <a:chOff x="6028504" y="824337"/>
            <a:chExt cx="3790772" cy="341911"/>
          </a:xfrm>
        </p:grpSpPr>
        <p:sp>
          <p:nvSpPr>
            <p:cNvPr id="7" name="角丸四角形 17">
              <a:extLst>
                <a:ext uri="{FF2B5EF4-FFF2-40B4-BE49-F238E27FC236}">
                  <a16:creationId xmlns:a16="http://schemas.microsoft.com/office/drawing/2014/main" id="{4650971A-30D3-A6F9-7D77-C81F493A94B6}"/>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8" name="直線矢印コネクタ 7">
              <a:extLst>
                <a:ext uri="{FF2B5EF4-FFF2-40B4-BE49-F238E27FC236}">
                  <a16:creationId xmlns:a16="http://schemas.microsoft.com/office/drawing/2014/main" id="{77775C31-BEC8-93A3-E3D4-BDAA196D01DE}"/>
                </a:ext>
              </a:extLst>
            </p:cNvPr>
            <p:cNvCxnSpPr>
              <a:cxnSpLocks/>
              <a:stCxn id="9" idx="2"/>
              <a:endCxn id="7"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円/楕円 19">
              <a:extLst>
                <a:ext uri="{FF2B5EF4-FFF2-40B4-BE49-F238E27FC236}">
                  <a16:creationId xmlns:a16="http://schemas.microsoft.com/office/drawing/2014/main" id="{83F134EA-A826-800D-A7FE-824DF040ED08}"/>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5" name="グループ化 14">
            <a:extLst>
              <a:ext uri="{FF2B5EF4-FFF2-40B4-BE49-F238E27FC236}">
                <a16:creationId xmlns:a16="http://schemas.microsoft.com/office/drawing/2014/main" id="{A7FB3CA4-F408-F06D-71C5-163E13ACACC8}"/>
              </a:ext>
            </a:extLst>
          </p:cNvPr>
          <p:cNvGrpSpPr/>
          <p:nvPr/>
        </p:nvGrpSpPr>
        <p:grpSpPr>
          <a:xfrm>
            <a:off x="396770" y="1600136"/>
            <a:ext cx="2707695" cy="244222"/>
            <a:chOff x="6028504" y="824337"/>
            <a:chExt cx="3790772" cy="341911"/>
          </a:xfrm>
        </p:grpSpPr>
        <p:sp>
          <p:nvSpPr>
            <p:cNvPr id="16" name="角丸四角形 17">
              <a:extLst>
                <a:ext uri="{FF2B5EF4-FFF2-40B4-BE49-F238E27FC236}">
                  <a16:creationId xmlns:a16="http://schemas.microsoft.com/office/drawing/2014/main" id="{4B14EEB6-C8DC-0E6C-95D4-382C13AB5613}"/>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7" name="直線矢印コネクタ 16">
              <a:extLst>
                <a:ext uri="{FF2B5EF4-FFF2-40B4-BE49-F238E27FC236}">
                  <a16:creationId xmlns:a16="http://schemas.microsoft.com/office/drawing/2014/main" id="{4C9925D8-86D9-0507-7F24-F14EF02EB888}"/>
                </a:ext>
              </a:extLst>
            </p:cNvPr>
            <p:cNvCxnSpPr>
              <a:cxnSpLocks/>
              <a:stCxn id="18" idx="2"/>
              <a:endCxn id="16"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円/楕円 19">
              <a:extLst>
                <a:ext uri="{FF2B5EF4-FFF2-40B4-BE49-F238E27FC236}">
                  <a16:creationId xmlns:a16="http://schemas.microsoft.com/office/drawing/2014/main" id="{5BE73B14-DFAE-C25B-137C-B9131AC84A37}"/>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9" name="グループ化 18">
            <a:extLst>
              <a:ext uri="{FF2B5EF4-FFF2-40B4-BE49-F238E27FC236}">
                <a16:creationId xmlns:a16="http://schemas.microsoft.com/office/drawing/2014/main" id="{07E1187F-7F2C-58F1-666F-3CD57518F0B0}"/>
              </a:ext>
            </a:extLst>
          </p:cNvPr>
          <p:cNvGrpSpPr/>
          <p:nvPr/>
        </p:nvGrpSpPr>
        <p:grpSpPr>
          <a:xfrm>
            <a:off x="396770" y="1914461"/>
            <a:ext cx="2707695" cy="244222"/>
            <a:chOff x="6028504" y="824337"/>
            <a:chExt cx="3790772" cy="341911"/>
          </a:xfrm>
        </p:grpSpPr>
        <p:sp>
          <p:nvSpPr>
            <p:cNvPr id="20" name="角丸四角形 17">
              <a:extLst>
                <a:ext uri="{FF2B5EF4-FFF2-40B4-BE49-F238E27FC236}">
                  <a16:creationId xmlns:a16="http://schemas.microsoft.com/office/drawing/2014/main" id="{50F5C355-0908-EDF2-CAC2-095FA07CA183}"/>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a:extLst>
                <a:ext uri="{FF2B5EF4-FFF2-40B4-BE49-F238E27FC236}">
                  <a16:creationId xmlns:a16="http://schemas.microsoft.com/office/drawing/2014/main" id="{FBF1E742-2237-D4EE-5874-20873FFFE2B6}"/>
                </a:ext>
              </a:extLst>
            </p:cNvPr>
            <p:cNvCxnSpPr>
              <a:cxnSpLocks/>
              <a:stCxn id="22" idx="2"/>
              <a:endCxn id="20"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19">
              <a:extLst>
                <a:ext uri="{FF2B5EF4-FFF2-40B4-BE49-F238E27FC236}">
                  <a16:creationId xmlns:a16="http://schemas.microsoft.com/office/drawing/2014/main" id="{1BA29256-0419-446C-C6D1-D4DA4AD45025}"/>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23" name="グループ化 22">
            <a:extLst>
              <a:ext uri="{FF2B5EF4-FFF2-40B4-BE49-F238E27FC236}">
                <a16:creationId xmlns:a16="http://schemas.microsoft.com/office/drawing/2014/main" id="{0378E156-BE78-0432-335C-61F38BC184A7}"/>
              </a:ext>
            </a:extLst>
          </p:cNvPr>
          <p:cNvGrpSpPr/>
          <p:nvPr/>
        </p:nvGrpSpPr>
        <p:grpSpPr>
          <a:xfrm>
            <a:off x="396770" y="2219261"/>
            <a:ext cx="2707695" cy="244222"/>
            <a:chOff x="6028504" y="824337"/>
            <a:chExt cx="3790772" cy="341911"/>
          </a:xfrm>
        </p:grpSpPr>
        <p:sp>
          <p:nvSpPr>
            <p:cNvPr id="24" name="角丸四角形 17">
              <a:extLst>
                <a:ext uri="{FF2B5EF4-FFF2-40B4-BE49-F238E27FC236}">
                  <a16:creationId xmlns:a16="http://schemas.microsoft.com/office/drawing/2014/main" id="{FD1CC72B-A86E-CDF9-7D7C-713770B65E0B}"/>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5" name="直線矢印コネクタ 24">
              <a:extLst>
                <a:ext uri="{FF2B5EF4-FFF2-40B4-BE49-F238E27FC236}">
                  <a16:creationId xmlns:a16="http://schemas.microsoft.com/office/drawing/2014/main" id="{790AED03-CC71-B801-7106-17FAE2A6504A}"/>
                </a:ext>
              </a:extLst>
            </p:cNvPr>
            <p:cNvCxnSpPr>
              <a:cxnSpLocks/>
              <a:stCxn id="26" idx="2"/>
              <a:endCxn id="24"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円/楕円 19">
              <a:extLst>
                <a:ext uri="{FF2B5EF4-FFF2-40B4-BE49-F238E27FC236}">
                  <a16:creationId xmlns:a16="http://schemas.microsoft.com/office/drawing/2014/main" id="{675AB12D-2050-2F77-88DB-305AA7F91903}"/>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grpSp>
        <p:nvGrpSpPr>
          <p:cNvPr id="27" name="グループ化 26">
            <a:extLst>
              <a:ext uri="{FF2B5EF4-FFF2-40B4-BE49-F238E27FC236}">
                <a16:creationId xmlns:a16="http://schemas.microsoft.com/office/drawing/2014/main" id="{E6240FD3-DC4A-6392-C928-4C184089610E}"/>
              </a:ext>
            </a:extLst>
          </p:cNvPr>
          <p:cNvGrpSpPr/>
          <p:nvPr/>
        </p:nvGrpSpPr>
        <p:grpSpPr>
          <a:xfrm>
            <a:off x="396770" y="2536761"/>
            <a:ext cx="2707695" cy="244222"/>
            <a:chOff x="6028504" y="824337"/>
            <a:chExt cx="3790772" cy="341911"/>
          </a:xfrm>
        </p:grpSpPr>
        <p:sp>
          <p:nvSpPr>
            <p:cNvPr id="28" name="角丸四角形 17">
              <a:extLst>
                <a:ext uri="{FF2B5EF4-FFF2-40B4-BE49-F238E27FC236}">
                  <a16:creationId xmlns:a16="http://schemas.microsoft.com/office/drawing/2014/main" id="{81D2E289-C400-F84D-9A22-2DE68B8B1790}"/>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9" name="直線矢印コネクタ 28">
              <a:extLst>
                <a:ext uri="{FF2B5EF4-FFF2-40B4-BE49-F238E27FC236}">
                  <a16:creationId xmlns:a16="http://schemas.microsoft.com/office/drawing/2014/main" id="{5D357BB9-4D8D-B186-C6DD-A7156D691D14}"/>
                </a:ext>
              </a:extLst>
            </p:cNvPr>
            <p:cNvCxnSpPr>
              <a:cxnSpLocks/>
              <a:stCxn id="30" idx="2"/>
              <a:endCxn id="28"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円/楕円 19">
              <a:extLst>
                <a:ext uri="{FF2B5EF4-FFF2-40B4-BE49-F238E27FC236}">
                  <a16:creationId xmlns:a16="http://schemas.microsoft.com/office/drawing/2014/main" id="{E1348E96-FA7A-7A86-26B6-706877985287}"/>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5</a:t>
              </a:r>
              <a:endParaRPr lang="ja-JP" altLang="en-US" sz="1286" dirty="0">
                <a:solidFill>
                  <a:srgbClr val="FF0000"/>
                </a:solidFill>
              </a:endParaRPr>
            </a:p>
          </p:txBody>
        </p:sp>
      </p:grpSp>
      <p:grpSp>
        <p:nvGrpSpPr>
          <p:cNvPr id="31" name="グループ化 30">
            <a:extLst>
              <a:ext uri="{FF2B5EF4-FFF2-40B4-BE49-F238E27FC236}">
                <a16:creationId xmlns:a16="http://schemas.microsoft.com/office/drawing/2014/main" id="{89DFD7FA-9205-CAE1-8D75-536FF79C0057}"/>
              </a:ext>
            </a:extLst>
          </p:cNvPr>
          <p:cNvGrpSpPr/>
          <p:nvPr/>
        </p:nvGrpSpPr>
        <p:grpSpPr>
          <a:xfrm>
            <a:off x="396770" y="2835211"/>
            <a:ext cx="2707695" cy="244222"/>
            <a:chOff x="6028504" y="824337"/>
            <a:chExt cx="3790772" cy="341911"/>
          </a:xfrm>
        </p:grpSpPr>
        <p:sp>
          <p:nvSpPr>
            <p:cNvPr id="32" name="角丸四角形 17">
              <a:extLst>
                <a:ext uri="{FF2B5EF4-FFF2-40B4-BE49-F238E27FC236}">
                  <a16:creationId xmlns:a16="http://schemas.microsoft.com/office/drawing/2014/main" id="{0402E6B8-B238-F16B-AEF2-0035C6F90E61}"/>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3" name="直線矢印コネクタ 32">
              <a:extLst>
                <a:ext uri="{FF2B5EF4-FFF2-40B4-BE49-F238E27FC236}">
                  <a16:creationId xmlns:a16="http://schemas.microsoft.com/office/drawing/2014/main" id="{EB3C2DED-3224-5B20-4415-1CC933CF12B1}"/>
                </a:ext>
              </a:extLst>
            </p:cNvPr>
            <p:cNvCxnSpPr>
              <a:cxnSpLocks/>
              <a:stCxn id="34" idx="2"/>
              <a:endCxn id="32"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円/楕円 19">
              <a:extLst>
                <a:ext uri="{FF2B5EF4-FFF2-40B4-BE49-F238E27FC236}">
                  <a16:creationId xmlns:a16="http://schemas.microsoft.com/office/drawing/2014/main" id="{241B2EE8-CE60-7995-1197-792D131D8908}"/>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6</a:t>
              </a:r>
              <a:endParaRPr lang="ja-JP" altLang="en-US" sz="1286" dirty="0">
                <a:solidFill>
                  <a:srgbClr val="FF0000"/>
                </a:solidFill>
              </a:endParaRPr>
            </a:p>
          </p:txBody>
        </p:sp>
      </p:grpSp>
      <p:grpSp>
        <p:nvGrpSpPr>
          <p:cNvPr id="35" name="グループ化 34">
            <a:extLst>
              <a:ext uri="{FF2B5EF4-FFF2-40B4-BE49-F238E27FC236}">
                <a16:creationId xmlns:a16="http://schemas.microsoft.com/office/drawing/2014/main" id="{369C2CC8-4094-B4AF-FB88-ACA5900B5AD8}"/>
              </a:ext>
            </a:extLst>
          </p:cNvPr>
          <p:cNvGrpSpPr/>
          <p:nvPr/>
        </p:nvGrpSpPr>
        <p:grpSpPr>
          <a:xfrm>
            <a:off x="396770" y="3152711"/>
            <a:ext cx="2707695" cy="244222"/>
            <a:chOff x="6028504" y="824337"/>
            <a:chExt cx="3790772" cy="341911"/>
          </a:xfrm>
        </p:grpSpPr>
        <p:sp>
          <p:nvSpPr>
            <p:cNvPr id="36" name="角丸四角形 17">
              <a:extLst>
                <a:ext uri="{FF2B5EF4-FFF2-40B4-BE49-F238E27FC236}">
                  <a16:creationId xmlns:a16="http://schemas.microsoft.com/office/drawing/2014/main" id="{1C85FDEF-8D90-B66E-950A-7952E31EF2A9}"/>
                </a:ext>
              </a:extLst>
            </p:cNvPr>
            <p:cNvSpPr/>
            <p:nvPr/>
          </p:nvSpPr>
          <p:spPr>
            <a:xfrm>
              <a:off x="6028504" y="824337"/>
              <a:ext cx="3146320" cy="34191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37" name="直線矢印コネクタ 36">
              <a:extLst>
                <a:ext uri="{FF2B5EF4-FFF2-40B4-BE49-F238E27FC236}">
                  <a16:creationId xmlns:a16="http://schemas.microsoft.com/office/drawing/2014/main" id="{740604AD-3328-40D9-6DCE-8AB679B2E8E2}"/>
                </a:ext>
              </a:extLst>
            </p:cNvPr>
            <p:cNvCxnSpPr>
              <a:cxnSpLocks/>
              <a:stCxn id="38" idx="2"/>
              <a:endCxn id="36" idx="3"/>
            </p:cNvCxnSpPr>
            <p:nvPr/>
          </p:nvCxnSpPr>
          <p:spPr>
            <a:xfrm flipH="1">
              <a:off x="9174824" y="991161"/>
              <a:ext cx="356453" cy="413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円/楕円 19">
              <a:extLst>
                <a:ext uri="{FF2B5EF4-FFF2-40B4-BE49-F238E27FC236}">
                  <a16:creationId xmlns:a16="http://schemas.microsoft.com/office/drawing/2014/main" id="{B58C143C-9B6E-3E36-4ADE-761937F174B6}"/>
                </a:ext>
              </a:extLst>
            </p:cNvPr>
            <p:cNvSpPr/>
            <p:nvPr/>
          </p:nvSpPr>
          <p:spPr>
            <a:xfrm>
              <a:off x="9531277" y="847161"/>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7</a:t>
              </a:r>
              <a:endParaRPr lang="ja-JP" altLang="en-US" sz="1286" dirty="0">
                <a:solidFill>
                  <a:srgbClr val="FF0000"/>
                </a:solidFill>
              </a:endParaRPr>
            </a:p>
          </p:txBody>
        </p:sp>
      </p:grpSp>
      <p:grpSp>
        <p:nvGrpSpPr>
          <p:cNvPr id="39" name="グループ化 38">
            <a:extLst>
              <a:ext uri="{FF2B5EF4-FFF2-40B4-BE49-F238E27FC236}">
                <a16:creationId xmlns:a16="http://schemas.microsoft.com/office/drawing/2014/main" id="{BD249661-6035-9F9E-B8BE-6BD7417FCA0D}"/>
              </a:ext>
            </a:extLst>
          </p:cNvPr>
          <p:cNvGrpSpPr/>
          <p:nvPr/>
        </p:nvGrpSpPr>
        <p:grpSpPr>
          <a:xfrm>
            <a:off x="396770" y="3457510"/>
            <a:ext cx="2707695" cy="396939"/>
            <a:chOff x="6028504" y="824336"/>
            <a:chExt cx="3790772" cy="555715"/>
          </a:xfrm>
        </p:grpSpPr>
        <p:sp>
          <p:nvSpPr>
            <p:cNvPr id="40" name="角丸四角形 17">
              <a:extLst>
                <a:ext uri="{FF2B5EF4-FFF2-40B4-BE49-F238E27FC236}">
                  <a16:creationId xmlns:a16="http://schemas.microsoft.com/office/drawing/2014/main" id="{D50FF07D-0D9A-5981-B84B-692F7C8AF24E}"/>
                </a:ext>
              </a:extLst>
            </p:cNvPr>
            <p:cNvSpPr/>
            <p:nvPr/>
          </p:nvSpPr>
          <p:spPr>
            <a:xfrm>
              <a:off x="6028504" y="824336"/>
              <a:ext cx="3146320" cy="555715"/>
            </a:xfrm>
            <a:prstGeom prst="roundRect">
              <a:avLst>
                <a:gd name="adj" fmla="val 1106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41" name="直線矢印コネクタ 40">
              <a:extLst>
                <a:ext uri="{FF2B5EF4-FFF2-40B4-BE49-F238E27FC236}">
                  <a16:creationId xmlns:a16="http://schemas.microsoft.com/office/drawing/2014/main" id="{98F69C41-62B6-3232-B2CD-02E87F801598}"/>
                </a:ext>
              </a:extLst>
            </p:cNvPr>
            <p:cNvCxnSpPr>
              <a:cxnSpLocks/>
              <a:stCxn id="42" idx="2"/>
              <a:endCxn id="40" idx="3"/>
            </p:cNvCxnSpPr>
            <p:nvPr/>
          </p:nvCxnSpPr>
          <p:spPr>
            <a:xfrm flipH="1">
              <a:off x="9174824" y="1102194"/>
              <a:ext cx="35645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円/楕円 19">
              <a:extLst>
                <a:ext uri="{FF2B5EF4-FFF2-40B4-BE49-F238E27FC236}">
                  <a16:creationId xmlns:a16="http://schemas.microsoft.com/office/drawing/2014/main" id="{BD17F560-E5A2-4C75-76A8-FB82DC7384D2}"/>
                </a:ext>
              </a:extLst>
            </p:cNvPr>
            <p:cNvSpPr/>
            <p:nvPr/>
          </p:nvSpPr>
          <p:spPr>
            <a:xfrm>
              <a:off x="9531276" y="95819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8</a:t>
              </a:r>
              <a:endParaRPr lang="ja-JP" altLang="en-US" sz="1286" dirty="0">
                <a:solidFill>
                  <a:srgbClr val="FF0000"/>
                </a:solidFill>
              </a:endParaRPr>
            </a:p>
          </p:txBody>
        </p:sp>
      </p:grpSp>
      <p:grpSp>
        <p:nvGrpSpPr>
          <p:cNvPr id="49" name="グループ化 48">
            <a:extLst>
              <a:ext uri="{FF2B5EF4-FFF2-40B4-BE49-F238E27FC236}">
                <a16:creationId xmlns:a16="http://schemas.microsoft.com/office/drawing/2014/main" id="{CC28CE53-E840-FEC5-8406-AF0916636E2D}"/>
              </a:ext>
            </a:extLst>
          </p:cNvPr>
          <p:cNvGrpSpPr/>
          <p:nvPr/>
        </p:nvGrpSpPr>
        <p:grpSpPr>
          <a:xfrm>
            <a:off x="396770" y="3962335"/>
            <a:ext cx="2707695" cy="396939"/>
            <a:chOff x="6028504" y="824336"/>
            <a:chExt cx="3790772" cy="555715"/>
          </a:xfrm>
        </p:grpSpPr>
        <p:sp>
          <p:nvSpPr>
            <p:cNvPr id="50" name="角丸四角形 17">
              <a:extLst>
                <a:ext uri="{FF2B5EF4-FFF2-40B4-BE49-F238E27FC236}">
                  <a16:creationId xmlns:a16="http://schemas.microsoft.com/office/drawing/2014/main" id="{C8718DE0-61AA-0361-68C9-4BF12DAEFC77}"/>
                </a:ext>
              </a:extLst>
            </p:cNvPr>
            <p:cNvSpPr/>
            <p:nvPr/>
          </p:nvSpPr>
          <p:spPr>
            <a:xfrm>
              <a:off x="6028504" y="824336"/>
              <a:ext cx="3146320" cy="555715"/>
            </a:xfrm>
            <a:prstGeom prst="roundRect">
              <a:avLst>
                <a:gd name="adj" fmla="val 1106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51" name="直線矢印コネクタ 50">
              <a:extLst>
                <a:ext uri="{FF2B5EF4-FFF2-40B4-BE49-F238E27FC236}">
                  <a16:creationId xmlns:a16="http://schemas.microsoft.com/office/drawing/2014/main" id="{E3A9773B-16D6-BB14-2EE8-A9EA39C73830}"/>
                </a:ext>
              </a:extLst>
            </p:cNvPr>
            <p:cNvCxnSpPr>
              <a:cxnSpLocks/>
              <a:stCxn id="52" idx="2"/>
              <a:endCxn id="50" idx="3"/>
            </p:cNvCxnSpPr>
            <p:nvPr/>
          </p:nvCxnSpPr>
          <p:spPr>
            <a:xfrm flipH="1">
              <a:off x="9174824" y="1102194"/>
              <a:ext cx="35645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円/楕円 19">
              <a:extLst>
                <a:ext uri="{FF2B5EF4-FFF2-40B4-BE49-F238E27FC236}">
                  <a16:creationId xmlns:a16="http://schemas.microsoft.com/office/drawing/2014/main" id="{BF48B993-7ABE-52B8-8D37-C49DEEBBD63E}"/>
                </a:ext>
              </a:extLst>
            </p:cNvPr>
            <p:cNvSpPr/>
            <p:nvPr/>
          </p:nvSpPr>
          <p:spPr>
            <a:xfrm>
              <a:off x="9531276" y="958194"/>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9</a:t>
              </a:r>
              <a:endParaRPr lang="ja-JP" altLang="en-US" sz="1286" dirty="0">
                <a:solidFill>
                  <a:srgbClr val="FF0000"/>
                </a:solidFill>
              </a:endParaRPr>
            </a:p>
          </p:txBody>
        </p:sp>
      </p:grpSp>
      <p:sp>
        <p:nvSpPr>
          <p:cNvPr id="53" name="テキスト ボックス 52">
            <a:extLst>
              <a:ext uri="{FF2B5EF4-FFF2-40B4-BE49-F238E27FC236}">
                <a16:creationId xmlns:a16="http://schemas.microsoft.com/office/drawing/2014/main" id="{2304FDAF-F757-DDC4-15C1-EA7392D03589}"/>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Tree>
    <p:extLst>
      <p:ext uri="{BB962C8B-B14F-4D97-AF65-F5344CB8AC3E}">
        <p14:creationId xmlns:p14="http://schemas.microsoft.com/office/powerpoint/2010/main" val="2410897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59C8E824-4FA3-2061-7D52-97FE207259EE}"/>
              </a:ext>
            </a:extLst>
          </p:cNvPr>
          <p:cNvPicPr>
            <a:picLocks noChangeAspect="1"/>
          </p:cNvPicPr>
          <p:nvPr/>
        </p:nvPicPr>
        <p:blipFill>
          <a:blip r:embed="rId2"/>
          <a:stretch>
            <a:fillRect/>
          </a:stretch>
        </p:blipFill>
        <p:spPr>
          <a:xfrm>
            <a:off x="344486" y="660781"/>
            <a:ext cx="4917467" cy="4425719"/>
          </a:xfrm>
          <a:prstGeom prst="rect">
            <a:avLst/>
          </a:prstGeom>
        </p:spPr>
      </p:pic>
      <p:sp>
        <p:nvSpPr>
          <p:cNvPr id="2" name="テキスト プレースホルダー 1">
            <a:extLst>
              <a:ext uri="{FF2B5EF4-FFF2-40B4-BE49-F238E27FC236}">
                <a16:creationId xmlns:a16="http://schemas.microsoft.com/office/drawing/2014/main" id="{839540BC-4DAC-E828-DF4E-444DEE58F1A7}"/>
              </a:ext>
            </a:extLst>
          </p:cNvPr>
          <p:cNvSpPr>
            <a:spLocks noGrp="1"/>
          </p:cNvSpPr>
          <p:nvPr>
            <p:ph type="body" sz="quarter" idx="10"/>
          </p:nvPr>
        </p:nvSpPr>
        <p:spPr>
          <a:xfrm>
            <a:off x="132671" y="179162"/>
            <a:ext cx="2671490" cy="253545"/>
          </a:xfrm>
        </p:spPr>
        <p:txBody>
          <a:bodyPr/>
          <a:lstStyle/>
          <a:p>
            <a:r>
              <a:rPr kumimoji="1" lang="en-US" altLang="ja-JP" dirty="0"/>
              <a:t>Injector</a:t>
            </a:r>
            <a:r>
              <a:rPr kumimoji="1" lang="ja-JP" altLang="en-US" dirty="0"/>
              <a:t> </a:t>
            </a:r>
            <a:r>
              <a:rPr kumimoji="1" lang="en-US" altLang="ja-JP" dirty="0"/>
              <a:t>Injection</a:t>
            </a:r>
            <a:r>
              <a:rPr kumimoji="1" lang="ja-JP" altLang="en-US" dirty="0"/>
              <a:t> </a:t>
            </a:r>
            <a:r>
              <a:rPr kumimoji="1" lang="en-US" altLang="ja-JP" dirty="0"/>
              <a:t>Stop</a:t>
            </a:r>
            <a:endParaRPr kumimoji="1" lang="ja-JP" altLang="en-US" dirty="0"/>
          </a:p>
        </p:txBody>
      </p:sp>
      <p:sp>
        <p:nvSpPr>
          <p:cNvPr id="4" name="テキスト ボックス 3">
            <a:extLst>
              <a:ext uri="{FF2B5EF4-FFF2-40B4-BE49-F238E27FC236}">
                <a16:creationId xmlns:a16="http://schemas.microsoft.com/office/drawing/2014/main" id="{4E233BDC-4F4F-86DA-E9B9-7E8FA9A3699F}"/>
              </a:ext>
            </a:extLst>
          </p:cNvPr>
          <p:cNvSpPr txBox="1"/>
          <p:nvPr/>
        </p:nvSpPr>
        <p:spPr>
          <a:xfrm>
            <a:off x="5421313" y="657225"/>
            <a:ext cx="2351926" cy="886397"/>
          </a:xfrm>
          <a:prstGeom prst="rect">
            <a:avLst/>
          </a:prstGeom>
          <a:solidFill>
            <a:schemeClr val="bg1"/>
          </a:solidFill>
          <a:ln w="6350">
            <a:solidFill>
              <a:schemeClr val="tx1"/>
            </a:solidFill>
          </a:ln>
        </p:spPr>
        <p:txBody>
          <a:bodyPr wrap="none" rtlCol="0">
            <a:spAutoFit/>
          </a:bodyPr>
          <a:lstStyle/>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インジェクタの動作確認ができます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①停止するインジェクタを選択します。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ファン側から数えて</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n</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気筒目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②噴射停止を実行します。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③信号を停止し、アクティブテスト画面に戻ります。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6C39B83E-62BD-E3AE-098C-8CBB9E9244F9}"/>
              </a:ext>
            </a:extLst>
          </p:cNvPr>
          <p:cNvGrpSpPr/>
          <p:nvPr/>
        </p:nvGrpSpPr>
        <p:grpSpPr>
          <a:xfrm>
            <a:off x="625371" y="1892236"/>
            <a:ext cx="1839228" cy="577914"/>
            <a:chOff x="6028504" y="824337"/>
            <a:chExt cx="2574918" cy="809080"/>
          </a:xfrm>
        </p:grpSpPr>
        <p:sp>
          <p:nvSpPr>
            <p:cNvPr id="6" name="角丸四角形 17">
              <a:extLst>
                <a:ext uri="{FF2B5EF4-FFF2-40B4-BE49-F238E27FC236}">
                  <a16:creationId xmlns:a16="http://schemas.microsoft.com/office/drawing/2014/main" id="{8B9D8EF3-6AA8-B20D-4681-65E1E8949E94}"/>
                </a:ext>
              </a:extLst>
            </p:cNvPr>
            <p:cNvSpPr/>
            <p:nvPr/>
          </p:nvSpPr>
          <p:spPr>
            <a:xfrm>
              <a:off x="6028504" y="824337"/>
              <a:ext cx="1942611" cy="80908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49E4001B-2E12-1877-FDE6-974DE66B22C5}"/>
                </a:ext>
              </a:extLst>
            </p:cNvPr>
            <p:cNvCxnSpPr>
              <a:cxnSpLocks/>
              <a:stCxn id="8" idx="2"/>
              <a:endCxn id="6" idx="3"/>
            </p:cNvCxnSpPr>
            <p:nvPr/>
          </p:nvCxnSpPr>
          <p:spPr>
            <a:xfrm flipH="1">
              <a:off x="7971115" y="1228877"/>
              <a:ext cx="34430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26FD988B-5C85-6A9B-B5C8-A8A1E291A06D}"/>
                </a:ext>
              </a:extLst>
            </p:cNvPr>
            <p:cNvSpPr/>
            <p:nvPr/>
          </p:nvSpPr>
          <p:spPr>
            <a:xfrm>
              <a:off x="8315422" y="108487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1" name="グループ化 10">
            <a:extLst>
              <a:ext uri="{FF2B5EF4-FFF2-40B4-BE49-F238E27FC236}">
                <a16:creationId xmlns:a16="http://schemas.microsoft.com/office/drawing/2014/main" id="{2CF24843-C229-5D2A-0685-9A5DF61C99EF}"/>
              </a:ext>
            </a:extLst>
          </p:cNvPr>
          <p:cNvGrpSpPr/>
          <p:nvPr/>
        </p:nvGrpSpPr>
        <p:grpSpPr>
          <a:xfrm>
            <a:off x="344487" y="2647295"/>
            <a:ext cx="974673" cy="205714"/>
            <a:chOff x="5635269" y="1084877"/>
            <a:chExt cx="1364542" cy="288000"/>
          </a:xfrm>
        </p:grpSpPr>
        <p:sp>
          <p:nvSpPr>
            <p:cNvPr id="12" name="角丸四角形 17">
              <a:extLst>
                <a:ext uri="{FF2B5EF4-FFF2-40B4-BE49-F238E27FC236}">
                  <a16:creationId xmlns:a16="http://schemas.microsoft.com/office/drawing/2014/main" id="{59C7425F-9FFD-293C-E973-A5624867625B}"/>
                </a:ext>
              </a:extLst>
            </p:cNvPr>
            <p:cNvSpPr/>
            <p:nvPr/>
          </p:nvSpPr>
          <p:spPr>
            <a:xfrm>
              <a:off x="5635269" y="1084877"/>
              <a:ext cx="762316"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3" name="直線矢印コネクタ 12">
              <a:extLst>
                <a:ext uri="{FF2B5EF4-FFF2-40B4-BE49-F238E27FC236}">
                  <a16:creationId xmlns:a16="http://schemas.microsoft.com/office/drawing/2014/main" id="{EB4EEA28-014B-45D8-FED9-D8CCA8CBD451}"/>
                </a:ext>
              </a:extLst>
            </p:cNvPr>
            <p:cNvCxnSpPr>
              <a:cxnSpLocks/>
              <a:stCxn id="14" idx="2"/>
              <a:endCxn id="12" idx="3"/>
            </p:cNvCxnSpPr>
            <p:nvPr/>
          </p:nvCxnSpPr>
          <p:spPr>
            <a:xfrm flipH="1">
              <a:off x="6397586" y="1228877"/>
              <a:ext cx="31422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円/楕円 19">
              <a:extLst>
                <a:ext uri="{FF2B5EF4-FFF2-40B4-BE49-F238E27FC236}">
                  <a16:creationId xmlns:a16="http://schemas.microsoft.com/office/drawing/2014/main" id="{18997FAF-1AC4-F33C-2CC6-5077C78C124E}"/>
                </a:ext>
              </a:extLst>
            </p:cNvPr>
            <p:cNvSpPr/>
            <p:nvPr/>
          </p:nvSpPr>
          <p:spPr>
            <a:xfrm>
              <a:off x="6711811" y="1084877"/>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8" name="グループ化 17">
            <a:extLst>
              <a:ext uri="{FF2B5EF4-FFF2-40B4-BE49-F238E27FC236}">
                <a16:creationId xmlns:a16="http://schemas.microsoft.com/office/drawing/2014/main" id="{CFC4A15F-3B37-D583-2007-25B2CFA0FCFE}"/>
              </a:ext>
            </a:extLst>
          </p:cNvPr>
          <p:cNvGrpSpPr/>
          <p:nvPr/>
        </p:nvGrpSpPr>
        <p:grpSpPr>
          <a:xfrm>
            <a:off x="4712984" y="4824871"/>
            <a:ext cx="628649" cy="523258"/>
            <a:chOff x="5517477" y="1084877"/>
            <a:chExt cx="880108" cy="732562"/>
          </a:xfrm>
        </p:grpSpPr>
        <p:sp>
          <p:nvSpPr>
            <p:cNvPr id="19" name="角丸四角形 17">
              <a:extLst>
                <a:ext uri="{FF2B5EF4-FFF2-40B4-BE49-F238E27FC236}">
                  <a16:creationId xmlns:a16="http://schemas.microsoft.com/office/drawing/2014/main" id="{2FE0D9E8-4E95-37C7-80C3-FEED7CC2150C}"/>
                </a:ext>
              </a:extLst>
            </p:cNvPr>
            <p:cNvSpPr/>
            <p:nvPr/>
          </p:nvSpPr>
          <p:spPr>
            <a:xfrm>
              <a:off x="5517477" y="1084877"/>
              <a:ext cx="880108"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0" name="直線矢印コネクタ 19">
              <a:extLst>
                <a:ext uri="{FF2B5EF4-FFF2-40B4-BE49-F238E27FC236}">
                  <a16:creationId xmlns:a16="http://schemas.microsoft.com/office/drawing/2014/main" id="{093CC4E1-7927-0854-B28E-D0262982E754}"/>
                </a:ext>
              </a:extLst>
            </p:cNvPr>
            <p:cNvCxnSpPr>
              <a:cxnSpLocks/>
              <a:stCxn id="21" idx="0"/>
              <a:endCxn id="19" idx="2"/>
            </p:cNvCxnSpPr>
            <p:nvPr/>
          </p:nvCxnSpPr>
          <p:spPr>
            <a:xfrm flipV="1">
              <a:off x="5957530" y="1372877"/>
              <a:ext cx="1" cy="15656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円/楕円 19">
              <a:extLst>
                <a:ext uri="{FF2B5EF4-FFF2-40B4-BE49-F238E27FC236}">
                  <a16:creationId xmlns:a16="http://schemas.microsoft.com/office/drawing/2014/main" id="{4E4698CE-79B6-2D5A-0C2C-58A0F44E862C}"/>
                </a:ext>
              </a:extLst>
            </p:cNvPr>
            <p:cNvSpPr/>
            <p:nvPr/>
          </p:nvSpPr>
          <p:spPr>
            <a:xfrm>
              <a:off x="5813531" y="1529439"/>
              <a:ext cx="288000"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sp>
        <p:nvSpPr>
          <p:cNvPr id="26" name="テキスト ボックス 25">
            <a:extLst>
              <a:ext uri="{FF2B5EF4-FFF2-40B4-BE49-F238E27FC236}">
                <a16:creationId xmlns:a16="http://schemas.microsoft.com/office/drawing/2014/main" id="{7D582F5A-932A-6EB4-C552-56D864590E08}"/>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5" name="テキスト ボックス 14">
            <a:extLst>
              <a:ext uri="{FF2B5EF4-FFF2-40B4-BE49-F238E27FC236}">
                <a16:creationId xmlns:a16="http://schemas.microsoft.com/office/drawing/2014/main" id="{DEB49EB2-ACDE-E2B5-499A-7D715D95DBF6}"/>
              </a:ext>
            </a:extLst>
          </p:cNvPr>
          <p:cNvSpPr txBox="1"/>
          <p:nvPr/>
        </p:nvSpPr>
        <p:spPr>
          <a:xfrm>
            <a:off x="344486" y="5142415"/>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34595387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CE0452BE-F9C1-B3EE-A1AE-82EA0B1A6375}"/>
              </a:ext>
            </a:extLst>
          </p:cNvPr>
          <p:cNvPicPr>
            <a:picLocks noChangeAspect="1"/>
          </p:cNvPicPr>
          <p:nvPr/>
        </p:nvPicPr>
        <p:blipFill>
          <a:blip r:embed="rId2"/>
          <a:stretch>
            <a:fillRect/>
          </a:stretch>
        </p:blipFill>
        <p:spPr>
          <a:xfrm>
            <a:off x="344489" y="657225"/>
            <a:ext cx="4893485" cy="5076991"/>
          </a:xfrm>
          <a:prstGeom prst="rect">
            <a:avLst/>
          </a:prstGeom>
        </p:spPr>
      </p:pic>
      <p:sp>
        <p:nvSpPr>
          <p:cNvPr id="2" name="テキスト プレースホルダー 1">
            <a:extLst>
              <a:ext uri="{FF2B5EF4-FFF2-40B4-BE49-F238E27FC236}">
                <a16:creationId xmlns:a16="http://schemas.microsoft.com/office/drawing/2014/main" id="{08CF1AEA-F6B8-4D8C-BDC6-C2A7B4D59ABC}"/>
              </a:ext>
            </a:extLst>
          </p:cNvPr>
          <p:cNvSpPr>
            <a:spLocks noGrp="1"/>
          </p:cNvSpPr>
          <p:nvPr>
            <p:ph type="body" sz="quarter" idx="10"/>
          </p:nvPr>
        </p:nvSpPr>
        <p:spPr>
          <a:xfrm>
            <a:off x="132671" y="179162"/>
            <a:ext cx="3532549" cy="253545"/>
          </a:xfrm>
        </p:spPr>
        <p:txBody>
          <a:bodyPr/>
          <a:lstStyle/>
          <a:p>
            <a:r>
              <a:rPr kumimoji="1" lang="en-US" altLang="ja-JP" dirty="0"/>
              <a:t>EGR</a:t>
            </a:r>
            <a:r>
              <a:rPr kumimoji="1" lang="ja-JP" altLang="en-US" dirty="0"/>
              <a:t> </a:t>
            </a:r>
            <a:r>
              <a:rPr kumimoji="1" lang="en-US" altLang="ja-JP" dirty="0"/>
              <a:t>value</a:t>
            </a:r>
            <a:r>
              <a:rPr kumimoji="1" lang="ja-JP" altLang="en-US" dirty="0"/>
              <a:t> </a:t>
            </a:r>
            <a:r>
              <a:rPr kumimoji="1" lang="en-US" altLang="ja-JP" dirty="0"/>
              <a:t>ON/OFF</a:t>
            </a:r>
            <a:r>
              <a:rPr kumimoji="1" lang="ja-JP" altLang="en-US" dirty="0"/>
              <a:t> </a:t>
            </a:r>
            <a:r>
              <a:rPr kumimoji="1" lang="en-US" altLang="ja-JP" dirty="0"/>
              <a:t>Function</a:t>
            </a:r>
            <a:endParaRPr kumimoji="1" lang="ja-JP" altLang="en-US" dirty="0"/>
          </a:p>
        </p:txBody>
      </p:sp>
      <p:sp>
        <p:nvSpPr>
          <p:cNvPr id="4" name="テキスト ボックス 3">
            <a:extLst>
              <a:ext uri="{FF2B5EF4-FFF2-40B4-BE49-F238E27FC236}">
                <a16:creationId xmlns:a16="http://schemas.microsoft.com/office/drawing/2014/main" id="{402AC5CF-662F-57FC-278D-A09A301DA095}"/>
              </a:ext>
            </a:extLst>
          </p:cNvPr>
          <p:cNvSpPr txBox="1"/>
          <p:nvPr/>
        </p:nvSpPr>
        <p:spPr>
          <a:xfrm>
            <a:off x="5421313" y="657225"/>
            <a:ext cx="2486578" cy="1018740"/>
          </a:xfrm>
          <a:prstGeom prst="rect">
            <a:avLst/>
          </a:prstGeom>
          <a:solidFill>
            <a:schemeClr val="bg1"/>
          </a:solidFill>
          <a:ln w="6350">
            <a:solidFill>
              <a:schemeClr val="tx1"/>
            </a:solidFill>
          </a:ln>
        </p:spPr>
        <p:txBody>
          <a:bodyPr wrap="none" rtlCol="0">
            <a:spAutoFit/>
          </a:bodyPr>
          <a:lstStyle/>
          <a:p>
            <a:r>
              <a:rPr lang="en-US" altLang="ja-JP" sz="860" dirty="0">
                <a:latin typeface="Meiryo UI" panose="020B0604030504040204" pitchFamily="50" charset="-128"/>
                <a:ea typeface="Meiryo UI" panose="020B0604030504040204" pitchFamily="50" charset="-128"/>
                <a:cs typeface="Meiryo UI" panose="020B0604030504040204" pitchFamily="50" charset="-128"/>
              </a:rPr>
              <a:t>EGR</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バルブの動作確認ができます。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EGR</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バルブ</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start/stop</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Desired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実行中の信号が表示されます。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Present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実際の動作状態が表示されます。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B40DE5B6-5A1F-32DD-DD6F-3A2845C00205}"/>
              </a:ext>
            </a:extLst>
          </p:cNvPr>
          <p:cNvGrpSpPr/>
          <p:nvPr/>
        </p:nvGrpSpPr>
        <p:grpSpPr>
          <a:xfrm>
            <a:off x="424674" y="3790686"/>
            <a:ext cx="1001381" cy="205714"/>
            <a:chOff x="5517477" y="1084877"/>
            <a:chExt cx="1401932" cy="288000"/>
          </a:xfrm>
        </p:grpSpPr>
        <p:sp>
          <p:nvSpPr>
            <p:cNvPr id="6" name="角丸四角形 17">
              <a:extLst>
                <a:ext uri="{FF2B5EF4-FFF2-40B4-BE49-F238E27FC236}">
                  <a16:creationId xmlns:a16="http://schemas.microsoft.com/office/drawing/2014/main" id="{9A1351C7-792E-EFB0-70A4-BCD0F9008C67}"/>
                </a:ext>
              </a:extLst>
            </p:cNvPr>
            <p:cNvSpPr/>
            <p:nvPr/>
          </p:nvSpPr>
          <p:spPr>
            <a:xfrm>
              <a:off x="5517477" y="1084877"/>
              <a:ext cx="920516"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C1C5D45F-9051-8DD9-EB10-C13CE678D7BE}"/>
                </a:ext>
              </a:extLst>
            </p:cNvPr>
            <p:cNvCxnSpPr>
              <a:cxnSpLocks/>
              <a:endCxn id="6" idx="3"/>
            </p:cNvCxnSpPr>
            <p:nvPr/>
          </p:nvCxnSpPr>
          <p:spPr>
            <a:xfrm flipH="1">
              <a:off x="6437993" y="1228877"/>
              <a:ext cx="19341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797B5FC8-1D5A-4AA0-EE8B-C03EE4A8B674}"/>
                </a:ext>
              </a:extLst>
            </p:cNvPr>
            <p:cNvSpPr/>
            <p:nvPr/>
          </p:nvSpPr>
          <p:spPr>
            <a:xfrm>
              <a:off x="6631410"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3" name="グループ化 12">
            <a:extLst>
              <a:ext uri="{FF2B5EF4-FFF2-40B4-BE49-F238E27FC236}">
                <a16:creationId xmlns:a16="http://schemas.microsoft.com/office/drawing/2014/main" id="{215D3CCC-9AD5-3AAE-1DDA-7DF698527AE8}"/>
              </a:ext>
            </a:extLst>
          </p:cNvPr>
          <p:cNvGrpSpPr/>
          <p:nvPr/>
        </p:nvGrpSpPr>
        <p:grpSpPr>
          <a:xfrm>
            <a:off x="4605195" y="5456733"/>
            <a:ext cx="695610" cy="554965"/>
            <a:chOff x="5517477" y="1084876"/>
            <a:chExt cx="973853" cy="776952"/>
          </a:xfrm>
        </p:grpSpPr>
        <p:sp>
          <p:nvSpPr>
            <p:cNvPr id="14" name="角丸四角形 17">
              <a:extLst>
                <a:ext uri="{FF2B5EF4-FFF2-40B4-BE49-F238E27FC236}">
                  <a16:creationId xmlns:a16="http://schemas.microsoft.com/office/drawing/2014/main" id="{254D9346-99A4-19B8-3D03-20AA96EA895A}"/>
                </a:ext>
              </a:extLst>
            </p:cNvPr>
            <p:cNvSpPr/>
            <p:nvPr/>
          </p:nvSpPr>
          <p:spPr>
            <a:xfrm>
              <a:off x="5517477" y="1084876"/>
              <a:ext cx="973853" cy="35102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5" name="直線矢印コネクタ 14">
              <a:extLst>
                <a:ext uri="{FF2B5EF4-FFF2-40B4-BE49-F238E27FC236}">
                  <a16:creationId xmlns:a16="http://schemas.microsoft.com/office/drawing/2014/main" id="{A472F63E-A973-AEE1-041C-1BC2D9917204}"/>
                </a:ext>
              </a:extLst>
            </p:cNvPr>
            <p:cNvCxnSpPr>
              <a:cxnSpLocks/>
              <a:stCxn id="16" idx="0"/>
              <a:endCxn id="14" idx="2"/>
            </p:cNvCxnSpPr>
            <p:nvPr/>
          </p:nvCxnSpPr>
          <p:spPr>
            <a:xfrm flipV="1">
              <a:off x="6004404" y="1435898"/>
              <a:ext cx="0" cy="1379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円/楕円 19">
              <a:extLst>
                <a:ext uri="{FF2B5EF4-FFF2-40B4-BE49-F238E27FC236}">
                  <a16:creationId xmlns:a16="http://schemas.microsoft.com/office/drawing/2014/main" id="{A9BB7A57-6A8E-9A15-8EEA-9614A6A43ADE}"/>
                </a:ext>
              </a:extLst>
            </p:cNvPr>
            <p:cNvSpPr/>
            <p:nvPr/>
          </p:nvSpPr>
          <p:spPr>
            <a:xfrm>
              <a:off x="5860404" y="1573828"/>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3" name="テキスト ボックス 22">
            <a:extLst>
              <a:ext uri="{FF2B5EF4-FFF2-40B4-BE49-F238E27FC236}">
                <a16:creationId xmlns:a16="http://schemas.microsoft.com/office/drawing/2014/main" id="{5976CF97-D5D9-2F42-5669-59B9AE30B61D}"/>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7" name="テキスト ボックス 16">
            <a:extLst>
              <a:ext uri="{FF2B5EF4-FFF2-40B4-BE49-F238E27FC236}">
                <a16:creationId xmlns:a16="http://schemas.microsoft.com/office/drawing/2014/main" id="{28C891A9-57BC-1BCF-4DDA-44AFFDC9CF01}"/>
              </a:ext>
            </a:extLst>
          </p:cNvPr>
          <p:cNvSpPr txBox="1"/>
          <p:nvPr/>
        </p:nvSpPr>
        <p:spPr>
          <a:xfrm>
            <a:off x="342593" y="5805984"/>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11466465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図 14">
            <a:extLst>
              <a:ext uri="{FF2B5EF4-FFF2-40B4-BE49-F238E27FC236}">
                <a16:creationId xmlns:a16="http://schemas.microsoft.com/office/drawing/2014/main" id="{735B7CBA-86AA-4E1F-DB04-5094AFA4EEAD}"/>
              </a:ext>
            </a:extLst>
          </p:cNvPr>
          <p:cNvPicPr>
            <a:picLocks noChangeAspect="1"/>
          </p:cNvPicPr>
          <p:nvPr/>
        </p:nvPicPr>
        <p:blipFill>
          <a:blip r:embed="rId2"/>
          <a:stretch>
            <a:fillRect/>
          </a:stretch>
        </p:blipFill>
        <p:spPr>
          <a:xfrm>
            <a:off x="344488" y="657225"/>
            <a:ext cx="4876713" cy="4389041"/>
          </a:xfrm>
          <a:prstGeom prst="rect">
            <a:avLst/>
          </a:prstGeom>
        </p:spPr>
      </p:pic>
      <p:sp>
        <p:nvSpPr>
          <p:cNvPr id="2" name="テキスト プレースホルダー 1">
            <a:extLst>
              <a:ext uri="{FF2B5EF4-FFF2-40B4-BE49-F238E27FC236}">
                <a16:creationId xmlns:a16="http://schemas.microsoft.com/office/drawing/2014/main" id="{2F842700-6EF9-8F5B-EE71-75A585EFD277}"/>
              </a:ext>
            </a:extLst>
          </p:cNvPr>
          <p:cNvSpPr>
            <a:spLocks noGrp="1"/>
          </p:cNvSpPr>
          <p:nvPr>
            <p:ph type="body" sz="quarter" idx="10"/>
          </p:nvPr>
        </p:nvSpPr>
        <p:spPr>
          <a:xfrm>
            <a:off x="132671" y="179162"/>
            <a:ext cx="3806870" cy="253545"/>
          </a:xfrm>
        </p:spPr>
        <p:txBody>
          <a:bodyPr/>
          <a:lstStyle/>
          <a:p>
            <a:r>
              <a:rPr kumimoji="1" lang="en-US" altLang="ja-JP" dirty="0"/>
              <a:t>Intake throttle Valve ON/OFF Function</a:t>
            </a:r>
            <a:endParaRPr kumimoji="1" lang="ja-JP" altLang="en-US" dirty="0"/>
          </a:p>
        </p:txBody>
      </p:sp>
      <p:sp>
        <p:nvSpPr>
          <p:cNvPr id="4" name="テキスト ボックス 3">
            <a:extLst>
              <a:ext uri="{FF2B5EF4-FFF2-40B4-BE49-F238E27FC236}">
                <a16:creationId xmlns:a16="http://schemas.microsoft.com/office/drawing/2014/main" id="{1A18C48A-7673-B46C-22AD-2E7EFE280A05}"/>
              </a:ext>
            </a:extLst>
          </p:cNvPr>
          <p:cNvSpPr txBox="1"/>
          <p:nvPr/>
        </p:nvSpPr>
        <p:spPr>
          <a:xfrm>
            <a:off x="5421313" y="657225"/>
            <a:ext cx="2521844" cy="1018740"/>
          </a:xfrm>
          <a:prstGeom prst="rect">
            <a:avLst/>
          </a:prstGeom>
          <a:solidFill>
            <a:schemeClr val="bg1"/>
          </a:solidFill>
          <a:ln w="6350">
            <a:solidFill>
              <a:schemeClr val="tx1"/>
            </a:solidFill>
          </a:ln>
        </p:spPr>
        <p:txBody>
          <a:bodyPr wrap="non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インテークスロットルの動作確認ができます。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①インテークスロットル</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start/stop</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Desired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実行中の信号が表示されます。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Present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実際の動作状態が表示されます。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0B2C0209-9C5C-8A64-87ED-C785635BF8E8}"/>
              </a:ext>
            </a:extLst>
          </p:cNvPr>
          <p:cNvGrpSpPr/>
          <p:nvPr/>
        </p:nvGrpSpPr>
        <p:grpSpPr>
          <a:xfrm>
            <a:off x="4625647" y="4768783"/>
            <a:ext cx="695610" cy="554965"/>
            <a:chOff x="5517477" y="1084876"/>
            <a:chExt cx="973853" cy="776952"/>
          </a:xfrm>
        </p:grpSpPr>
        <p:sp>
          <p:nvSpPr>
            <p:cNvPr id="6" name="角丸四角形 17">
              <a:extLst>
                <a:ext uri="{FF2B5EF4-FFF2-40B4-BE49-F238E27FC236}">
                  <a16:creationId xmlns:a16="http://schemas.microsoft.com/office/drawing/2014/main" id="{C4BD6AB5-C7DD-D578-EE7C-A8D536D049E4}"/>
                </a:ext>
              </a:extLst>
            </p:cNvPr>
            <p:cNvSpPr/>
            <p:nvPr/>
          </p:nvSpPr>
          <p:spPr>
            <a:xfrm>
              <a:off x="5517477" y="1084876"/>
              <a:ext cx="973853" cy="35102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966FC6D2-CEFF-A341-1AC6-C0D83F6DBB18}"/>
                </a:ext>
              </a:extLst>
            </p:cNvPr>
            <p:cNvCxnSpPr>
              <a:cxnSpLocks/>
              <a:stCxn id="8" idx="0"/>
              <a:endCxn id="6" idx="2"/>
            </p:cNvCxnSpPr>
            <p:nvPr/>
          </p:nvCxnSpPr>
          <p:spPr>
            <a:xfrm flipV="1">
              <a:off x="6004404" y="1435898"/>
              <a:ext cx="0" cy="13793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C231DC23-B7BA-DB01-5E0D-415CF1568E86}"/>
                </a:ext>
              </a:extLst>
            </p:cNvPr>
            <p:cNvSpPr/>
            <p:nvPr/>
          </p:nvSpPr>
          <p:spPr>
            <a:xfrm>
              <a:off x="5860404" y="1573828"/>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9" name="グループ化 8">
            <a:extLst>
              <a:ext uri="{FF2B5EF4-FFF2-40B4-BE49-F238E27FC236}">
                <a16:creationId xmlns:a16="http://schemas.microsoft.com/office/drawing/2014/main" id="{7881D212-9D92-A71F-0684-892FA1FC1072}"/>
              </a:ext>
            </a:extLst>
          </p:cNvPr>
          <p:cNvGrpSpPr/>
          <p:nvPr/>
        </p:nvGrpSpPr>
        <p:grpSpPr>
          <a:xfrm>
            <a:off x="394165" y="3070783"/>
            <a:ext cx="1001381" cy="205714"/>
            <a:chOff x="5517477" y="1084877"/>
            <a:chExt cx="1401932" cy="288000"/>
          </a:xfrm>
        </p:grpSpPr>
        <p:sp>
          <p:nvSpPr>
            <p:cNvPr id="10" name="角丸四角形 17">
              <a:extLst>
                <a:ext uri="{FF2B5EF4-FFF2-40B4-BE49-F238E27FC236}">
                  <a16:creationId xmlns:a16="http://schemas.microsoft.com/office/drawing/2014/main" id="{E39B5C4F-0735-3CDD-8AC3-CA5B26EE3460}"/>
                </a:ext>
              </a:extLst>
            </p:cNvPr>
            <p:cNvSpPr/>
            <p:nvPr/>
          </p:nvSpPr>
          <p:spPr>
            <a:xfrm>
              <a:off x="5517477" y="1084877"/>
              <a:ext cx="920516"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1" name="直線矢印コネクタ 10">
              <a:extLst>
                <a:ext uri="{FF2B5EF4-FFF2-40B4-BE49-F238E27FC236}">
                  <a16:creationId xmlns:a16="http://schemas.microsoft.com/office/drawing/2014/main" id="{3DBF3290-F3EB-BFE3-8558-6745ACC4671D}"/>
                </a:ext>
              </a:extLst>
            </p:cNvPr>
            <p:cNvCxnSpPr>
              <a:cxnSpLocks/>
              <a:endCxn id="10" idx="3"/>
            </p:cNvCxnSpPr>
            <p:nvPr/>
          </p:nvCxnSpPr>
          <p:spPr>
            <a:xfrm flipH="1">
              <a:off x="6437993" y="1228877"/>
              <a:ext cx="19341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円/楕円 19">
              <a:extLst>
                <a:ext uri="{FF2B5EF4-FFF2-40B4-BE49-F238E27FC236}">
                  <a16:creationId xmlns:a16="http://schemas.microsoft.com/office/drawing/2014/main" id="{050DA7AB-DAC7-3175-FC15-F6544C18E247}"/>
                </a:ext>
              </a:extLst>
            </p:cNvPr>
            <p:cNvSpPr/>
            <p:nvPr/>
          </p:nvSpPr>
          <p:spPr>
            <a:xfrm>
              <a:off x="6631410"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sp>
        <p:nvSpPr>
          <p:cNvPr id="13" name="テキスト ボックス 12">
            <a:extLst>
              <a:ext uri="{FF2B5EF4-FFF2-40B4-BE49-F238E27FC236}">
                <a16:creationId xmlns:a16="http://schemas.microsoft.com/office/drawing/2014/main" id="{A2CAC9C9-0DF1-54FF-1A29-533ECFE49690}"/>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6" name="テキスト ボックス 15">
            <a:extLst>
              <a:ext uri="{FF2B5EF4-FFF2-40B4-BE49-F238E27FC236}">
                <a16:creationId xmlns:a16="http://schemas.microsoft.com/office/drawing/2014/main" id="{2954F004-2BAE-DFBB-920A-3ED2DE7AD732}"/>
              </a:ext>
            </a:extLst>
          </p:cNvPr>
          <p:cNvSpPr txBox="1"/>
          <p:nvPr/>
        </p:nvSpPr>
        <p:spPr>
          <a:xfrm>
            <a:off x="344488" y="5118034"/>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16032194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C60351E4-1F66-9E61-FBD7-A1CA6EA958F2}"/>
              </a:ext>
            </a:extLst>
          </p:cNvPr>
          <p:cNvPicPr>
            <a:picLocks noChangeAspect="1"/>
          </p:cNvPicPr>
          <p:nvPr/>
        </p:nvPicPr>
        <p:blipFill>
          <a:blip r:embed="rId2"/>
          <a:stretch>
            <a:fillRect/>
          </a:stretch>
        </p:blipFill>
        <p:spPr>
          <a:xfrm>
            <a:off x="344488" y="657226"/>
            <a:ext cx="4950719" cy="5130183"/>
          </a:xfrm>
          <a:prstGeom prst="rect">
            <a:avLst/>
          </a:prstGeom>
        </p:spPr>
      </p:pic>
      <p:sp>
        <p:nvSpPr>
          <p:cNvPr id="2" name="テキスト プレースホルダー 1">
            <a:extLst>
              <a:ext uri="{FF2B5EF4-FFF2-40B4-BE49-F238E27FC236}">
                <a16:creationId xmlns:a16="http://schemas.microsoft.com/office/drawing/2014/main" id="{FA8730F7-8870-BCC1-C080-01522F82D122}"/>
              </a:ext>
            </a:extLst>
          </p:cNvPr>
          <p:cNvSpPr>
            <a:spLocks noGrp="1"/>
          </p:cNvSpPr>
          <p:nvPr>
            <p:ph type="body" sz="quarter" idx="10"/>
          </p:nvPr>
        </p:nvSpPr>
        <p:spPr>
          <a:xfrm>
            <a:off x="132671" y="179162"/>
            <a:ext cx="3700190" cy="253545"/>
          </a:xfrm>
        </p:spPr>
        <p:txBody>
          <a:bodyPr/>
          <a:lstStyle/>
          <a:p>
            <a:r>
              <a:rPr kumimoji="1" lang="en-US" altLang="ja-JP" dirty="0"/>
              <a:t>Injector compensation</a:t>
            </a:r>
            <a:endParaRPr kumimoji="1" lang="ja-JP" altLang="en-US" dirty="0"/>
          </a:p>
        </p:txBody>
      </p:sp>
      <p:sp>
        <p:nvSpPr>
          <p:cNvPr id="4" name="テキスト ボックス 3">
            <a:extLst>
              <a:ext uri="{FF2B5EF4-FFF2-40B4-BE49-F238E27FC236}">
                <a16:creationId xmlns:a16="http://schemas.microsoft.com/office/drawing/2014/main" id="{572FF1C3-12AF-ECB2-E7CA-99E286F73751}"/>
              </a:ext>
            </a:extLst>
          </p:cNvPr>
          <p:cNvSpPr txBox="1"/>
          <p:nvPr/>
        </p:nvSpPr>
        <p:spPr>
          <a:xfrm>
            <a:off x="5421313" y="657226"/>
            <a:ext cx="2268570" cy="894860"/>
          </a:xfrm>
          <a:prstGeom prst="rect">
            <a:avLst/>
          </a:prstGeom>
          <a:solidFill>
            <a:schemeClr val="bg1"/>
          </a:solidFill>
          <a:ln w="6350">
            <a:solidFill>
              <a:schemeClr val="tx1"/>
            </a:solidFill>
          </a:ln>
        </p:spPr>
        <p:txBody>
          <a:bodyPr wrap="non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インジェクタの補正値を</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ECU</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に登録できます。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①登録されている部品のコードが表示されます。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②新たに登録する部品のコードを入力します。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③登録を実行します。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④アクティブテスト画面に戻ります。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BC5D617A-14E9-DEA7-6D1D-0C9B71475504}"/>
              </a:ext>
            </a:extLst>
          </p:cNvPr>
          <p:cNvGrpSpPr/>
          <p:nvPr/>
        </p:nvGrpSpPr>
        <p:grpSpPr>
          <a:xfrm>
            <a:off x="1238249" y="2143351"/>
            <a:ext cx="749299" cy="2387725"/>
            <a:chOff x="5768170" y="1185597"/>
            <a:chExt cx="1049018" cy="3342821"/>
          </a:xfrm>
        </p:grpSpPr>
        <p:sp>
          <p:nvSpPr>
            <p:cNvPr id="6" name="角丸四角形 17">
              <a:extLst>
                <a:ext uri="{FF2B5EF4-FFF2-40B4-BE49-F238E27FC236}">
                  <a16:creationId xmlns:a16="http://schemas.microsoft.com/office/drawing/2014/main" id="{B601CD65-8C54-47C2-D50E-87C33515660F}"/>
                </a:ext>
              </a:extLst>
            </p:cNvPr>
            <p:cNvSpPr/>
            <p:nvPr/>
          </p:nvSpPr>
          <p:spPr>
            <a:xfrm>
              <a:off x="5768170" y="1185597"/>
              <a:ext cx="1049018" cy="2884494"/>
            </a:xfrm>
            <a:prstGeom prst="roundRect">
              <a:avLst>
                <a:gd name="adj" fmla="val 887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4D603240-43A2-FB5C-3891-0C87ADD458D5}"/>
                </a:ext>
              </a:extLst>
            </p:cNvPr>
            <p:cNvCxnSpPr>
              <a:cxnSpLocks/>
              <a:stCxn id="8" idx="0"/>
              <a:endCxn id="6" idx="2"/>
            </p:cNvCxnSpPr>
            <p:nvPr/>
          </p:nvCxnSpPr>
          <p:spPr>
            <a:xfrm flipV="1">
              <a:off x="6292680" y="4070091"/>
              <a:ext cx="0" cy="170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718113BF-BC7E-F1AE-FE3F-9863DA4584A4}"/>
                </a:ext>
              </a:extLst>
            </p:cNvPr>
            <p:cNvSpPr/>
            <p:nvPr/>
          </p:nvSpPr>
          <p:spPr>
            <a:xfrm>
              <a:off x="6148680" y="4240418"/>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5" name="グループ化 14">
            <a:extLst>
              <a:ext uri="{FF2B5EF4-FFF2-40B4-BE49-F238E27FC236}">
                <a16:creationId xmlns:a16="http://schemas.microsoft.com/office/drawing/2014/main" id="{9D70901D-E0A0-DB49-8F8A-C740EFBDFAA9}"/>
              </a:ext>
            </a:extLst>
          </p:cNvPr>
          <p:cNvGrpSpPr/>
          <p:nvPr/>
        </p:nvGrpSpPr>
        <p:grpSpPr>
          <a:xfrm>
            <a:off x="2025652" y="2143351"/>
            <a:ext cx="601992" cy="2387725"/>
            <a:chOff x="5517478" y="1084877"/>
            <a:chExt cx="842788" cy="3342820"/>
          </a:xfrm>
        </p:grpSpPr>
        <p:sp>
          <p:nvSpPr>
            <p:cNvPr id="16" name="角丸四角形 17">
              <a:extLst>
                <a:ext uri="{FF2B5EF4-FFF2-40B4-BE49-F238E27FC236}">
                  <a16:creationId xmlns:a16="http://schemas.microsoft.com/office/drawing/2014/main" id="{BA6FF4DC-D915-9854-2CC1-DB44A8ECDCD3}"/>
                </a:ext>
              </a:extLst>
            </p:cNvPr>
            <p:cNvSpPr/>
            <p:nvPr/>
          </p:nvSpPr>
          <p:spPr>
            <a:xfrm>
              <a:off x="5517478" y="1084877"/>
              <a:ext cx="842788" cy="2884493"/>
            </a:xfrm>
            <a:prstGeom prst="roundRect">
              <a:avLst>
                <a:gd name="adj" fmla="val 437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7" name="直線矢印コネクタ 16">
              <a:extLst>
                <a:ext uri="{FF2B5EF4-FFF2-40B4-BE49-F238E27FC236}">
                  <a16:creationId xmlns:a16="http://schemas.microsoft.com/office/drawing/2014/main" id="{D3EF28A0-3B71-3887-CADF-D719B6A6A197}"/>
                </a:ext>
              </a:extLst>
            </p:cNvPr>
            <p:cNvCxnSpPr>
              <a:cxnSpLocks/>
              <a:stCxn id="18" idx="0"/>
              <a:endCxn id="16" idx="2"/>
            </p:cNvCxnSpPr>
            <p:nvPr/>
          </p:nvCxnSpPr>
          <p:spPr>
            <a:xfrm flipV="1">
              <a:off x="5938872" y="3969370"/>
              <a:ext cx="0" cy="17032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円/楕円 19">
              <a:extLst>
                <a:ext uri="{FF2B5EF4-FFF2-40B4-BE49-F238E27FC236}">
                  <a16:creationId xmlns:a16="http://schemas.microsoft.com/office/drawing/2014/main" id="{5C2B6AFB-E9B8-74A6-2D5D-30C420537780}"/>
                </a:ext>
              </a:extLst>
            </p:cNvPr>
            <p:cNvSpPr/>
            <p:nvPr/>
          </p:nvSpPr>
          <p:spPr>
            <a:xfrm>
              <a:off x="5794872" y="413969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19" name="グループ化 18">
            <a:extLst>
              <a:ext uri="{FF2B5EF4-FFF2-40B4-BE49-F238E27FC236}">
                <a16:creationId xmlns:a16="http://schemas.microsoft.com/office/drawing/2014/main" id="{D8323E80-DB36-A02B-FBD9-57271835B162}"/>
              </a:ext>
            </a:extLst>
          </p:cNvPr>
          <p:cNvGrpSpPr/>
          <p:nvPr/>
        </p:nvGrpSpPr>
        <p:grpSpPr>
          <a:xfrm>
            <a:off x="413020" y="4730737"/>
            <a:ext cx="748572" cy="205714"/>
            <a:chOff x="5517477" y="1084877"/>
            <a:chExt cx="1047999" cy="288000"/>
          </a:xfrm>
        </p:grpSpPr>
        <p:sp>
          <p:nvSpPr>
            <p:cNvPr id="20" name="角丸四角形 17">
              <a:extLst>
                <a:ext uri="{FF2B5EF4-FFF2-40B4-BE49-F238E27FC236}">
                  <a16:creationId xmlns:a16="http://schemas.microsoft.com/office/drawing/2014/main" id="{893B53C3-6FCF-D6CC-6F32-FC0DAFB9A466}"/>
                </a:ext>
              </a:extLst>
            </p:cNvPr>
            <p:cNvSpPr/>
            <p:nvPr/>
          </p:nvSpPr>
          <p:spPr>
            <a:xfrm>
              <a:off x="5517477" y="1084877"/>
              <a:ext cx="506078"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1" name="直線矢印コネクタ 20">
              <a:extLst>
                <a:ext uri="{FF2B5EF4-FFF2-40B4-BE49-F238E27FC236}">
                  <a16:creationId xmlns:a16="http://schemas.microsoft.com/office/drawing/2014/main" id="{C8E4B581-40C4-BC96-47C9-56189F7785EB}"/>
                </a:ext>
              </a:extLst>
            </p:cNvPr>
            <p:cNvCxnSpPr>
              <a:cxnSpLocks/>
              <a:stCxn id="22" idx="2"/>
              <a:endCxn id="20" idx="3"/>
            </p:cNvCxnSpPr>
            <p:nvPr/>
          </p:nvCxnSpPr>
          <p:spPr>
            <a:xfrm flipH="1">
              <a:off x="6023555" y="1228877"/>
              <a:ext cx="25392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円/楕円 19">
              <a:extLst>
                <a:ext uri="{FF2B5EF4-FFF2-40B4-BE49-F238E27FC236}">
                  <a16:creationId xmlns:a16="http://schemas.microsoft.com/office/drawing/2014/main" id="{D3004171-F213-F864-4575-CE1A34F04AA0}"/>
                </a:ext>
              </a:extLst>
            </p:cNvPr>
            <p:cNvSpPr/>
            <p:nvPr/>
          </p:nvSpPr>
          <p:spPr>
            <a:xfrm>
              <a:off x="6277477"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grpSp>
        <p:nvGrpSpPr>
          <p:cNvPr id="24" name="グループ化 23">
            <a:extLst>
              <a:ext uri="{FF2B5EF4-FFF2-40B4-BE49-F238E27FC236}">
                <a16:creationId xmlns:a16="http://schemas.microsoft.com/office/drawing/2014/main" id="{7457CD33-380F-723A-461F-977CE56B654A}"/>
              </a:ext>
            </a:extLst>
          </p:cNvPr>
          <p:cNvGrpSpPr/>
          <p:nvPr/>
        </p:nvGrpSpPr>
        <p:grpSpPr>
          <a:xfrm>
            <a:off x="4679275" y="5508339"/>
            <a:ext cx="678985" cy="558139"/>
            <a:chOff x="5517476" y="1084877"/>
            <a:chExt cx="950578" cy="781395"/>
          </a:xfrm>
        </p:grpSpPr>
        <p:sp>
          <p:nvSpPr>
            <p:cNvPr id="25" name="角丸四角形 17">
              <a:extLst>
                <a:ext uri="{FF2B5EF4-FFF2-40B4-BE49-F238E27FC236}">
                  <a16:creationId xmlns:a16="http://schemas.microsoft.com/office/drawing/2014/main" id="{6D68F44A-89F2-E87C-1CEB-0217DDE30988}"/>
                </a:ext>
              </a:extLst>
            </p:cNvPr>
            <p:cNvSpPr/>
            <p:nvPr/>
          </p:nvSpPr>
          <p:spPr>
            <a:xfrm>
              <a:off x="5517476" y="1084877"/>
              <a:ext cx="950578" cy="33703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6" name="直線矢印コネクタ 25">
              <a:extLst>
                <a:ext uri="{FF2B5EF4-FFF2-40B4-BE49-F238E27FC236}">
                  <a16:creationId xmlns:a16="http://schemas.microsoft.com/office/drawing/2014/main" id="{B5767ED3-0096-A7EA-2EE9-E8811BC33D49}"/>
                </a:ext>
              </a:extLst>
            </p:cNvPr>
            <p:cNvCxnSpPr>
              <a:cxnSpLocks/>
              <a:stCxn id="27" idx="0"/>
              <a:endCxn id="25" idx="2"/>
            </p:cNvCxnSpPr>
            <p:nvPr/>
          </p:nvCxnSpPr>
          <p:spPr>
            <a:xfrm flipV="1">
              <a:off x="5992764" y="1421916"/>
              <a:ext cx="1" cy="15635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円/楕円 19">
              <a:extLst>
                <a:ext uri="{FF2B5EF4-FFF2-40B4-BE49-F238E27FC236}">
                  <a16:creationId xmlns:a16="http://schemas.microsoft.com/office/drawing/2014/main" id="{4A9D5034-CB92-24BA-574F-9CDB924DC640}"/>
                </a:ext>
              </a:extLst>
            </p:cNvPr>
            <p:cNvSpPr/>
            <p:nvPr/>
          </p:nvSpPr>
          <p:spPr>
            <a:xfrm>
              <a:off x="5848765" y="1578272"/>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4</a:t>
              </a:r>
              <a:endParaRPr lang="ja-JP" altLang="en-US" sz="1286" dirty="0">
                <a:solidFill>
                  <a:srgbClr val="FF0000"/>
                </a:solidFill>
              </a:endParaRPr>
            </a:p>
          </p:txBody>
        </p:sp>
      </p:grpSp>
      <p:sp>
        <p:nvSpPr>
          <p:cNvPr id="33" name="テキスト ボックス 32">
            <a:extLst>
              <a:ext uri="{FF2B5EF4-FFF2-40B4-BE49-F238E27FC236}">
                <a16:creationId xmlns:a16="http://schemas.microsoft.com/office/drawing/2014/main" id="{85FC1C94-0BFC-6862-C311-475BAD04C995}"/>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32" name="テキスト ボックス 31">
            <a:extLst>
              <a:ext uri="{FF2B5EF4-FFF2-40B4-BE49-F238E27FC236}">
                <a16:creationId xmlns:a16="http://schemas.microsoft.com/office/drawing/2014/main" id="{0933F989-A68D-89B5-DDFC-25DCF891D5B2}"/>
              </a:ext>
            </a:extLst>
          </p:cNvPr>
          <p:cNvSpPr txBox="1"/>
          <p:nvPr/>
        </p:nvSpPr>
        <p:spPr>
          <a:xfrm>
            <a:off x="344488" y="5813449"/>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847107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893A6D83-5BDA-49C9-2D2D-E8564F11BEF4}"/>
              </a:ext>
            </a:extLst>
          </p:cNvPr>
          <p:cNvPicPr>
            <a:picLocks noChangeAspect="1"/>
          </p:cNvPicPr>
          <p:nvPr/>
        </p:nvPicPr>
        <p:blipFill>
          <a:blip r:embed="rId2"/>
          <a:stretch>
            <a:fillRect/>
          </a:stretch>
        </p:blipFill>
        <p:spPr>
          <a:xfrm>
            <a:off x="344488" y="657225"/>
            <a:ext cx="4874036" cy="3655527"/>
          </a:xfrm>
          <a:prstGeom prst="rect">
            <a:avLst/>
          </a:prstGeom>
        </p:spPr>
      </p:pic>
      <p:sp>
        <p:nvSpPr>
          <p:cNvPr id="2" name="テキスト プレースホルダー 1">
            <a:extLst>
              <a:ext uri="{FF2B5EF4-FFF2-40B4-BE49-F238E27FC236}">
                <a16:creationId xmlns:a16="http://schemas.microsoft.com/office/drawing/2014/main" id="{56983F20-6228-4843-83AF-4A160F38CED8}"/>
              </a:ext>
            </a:extLst>
          </p:cNvPr>
          <p:cNvSpPr>
            <a:spLocks noGrp="1"/>
          </p:cNvSpPr>
          <p:nvPr>
            <p:ph type="body" sz="quarter" idx="10"/>
          </p:nvPr>
        </p:nvSpPr>
        <p:spPr>
          <a:xfrm>
            <a:off x="132671" y="179162"/>
            <a:ext cx="5026702" cy="253545"/>
          </a:xfrm>
        </p:spPr>
        <p:txBody>
          <a:bodyPr/>
          <a:lstStyle/>
          <a:p>
            <a:r>
              <a:rPr kumimoji="1" lang="en-US" altLang="ja-JP" dirty="0"/>
              <a:t>DPF soot Reset / Regeneration Interval Time Reset</a:t>
            </a:r>
            <a:endParaRPr kumimoji="1" lang="ja-JP" altLang="en-US" dirty="0"/>
          </a:p>
        </p:txBody>
      </p:sp>
      <p:sp>
        <p:nvSpPr>
          <p:cNvPr id="4" name="テキスト ボックス 3">
            <a:extLst>
              <a:ext uri="{FF2B5EF4-FFF2-40B4-BE49-F238E27FC236}">
                <a16:creationId xmlns:a16="http://schemas.microsoft.com/office/drawing/2014/main" id="{AFCD59B4-BBF6-9F8C-F83D-3881C469C713}"/>
              </a:ext>
            </a:extLst>
          </p:cNvPr>
          <p:cNvSpPr txBox="1"/>
          <p:nvPr/>
        </p:nvSpPr>
        <p:spPr>
          <a:xfrm>
            <a:off x="5421313" y="657225"/>
            <a:ext cx="2486578" cy="1018740"/>
          </a:xfrm>
          <a:prstGeom prst="rect">
            <a:avLst/>
          </a:prstGeom>
          <a:solidFill>
            <a:schemeClr val="bg1"/>
          </a:solidFill>
          <a:ln w="6350">
            <a:solidFill>
              <a:schemeClr val="tx1"/>
            </a:solidFill>
          </a:ln>
        </p:spPr>
        <p:txBody>
          <a:bodyPr wrap="none" rtlCol="0">
            <a:spAutoFit/>
          </a:bodyPr>
          <a:lstStyle/>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のす</a:t>
            </a:r>
            <a:r>
              <a:rPr lang="ja-JP" altLang="en-US" sz="860" dirty="0" err="1">
                <a:latin typeface="Meiryo UI" panose="020B0604030504040204" pitchFamily="50" charset="-128"/>
                <a:ea typeface="Meiryo UI" panose="020B0604030504040204" pitchFamily="50" charset="-128"/>
                <a:cs typeface="Meiryo UI" panose="020B0604030504040204" pitchFamily="50" charset="-128"/>
              </a:rPr>
              <a:t>す</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堆積量</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再生間隔をリセットします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①リセット信号の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start/stop</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Desired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実行中の信号が表示されます。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Present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実際の動作状態が表示されます。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B6C812F4-5E77-949D-2E92-66D6969C5AF3}"/>
              </a:ext>
            </a:extLst>
          </p:cNvPr>
          <p:cNvGrpSpPr/>
          <p:nvPr/>
        </p:nvGrpSpPr>
        <p:grpSpPr>
          <a:xfrm>
            <a:off x="344488" y="2099323"/>
            <a:ext cx="1028438" cy="205714"/>
            <a:chOff x="5125665" y="1084877"/>
            <a:chExt cx="1439811" cy="288000"/>
          </a:xfrm>
        </p:grpSpPr>
        <p:sp>
          <p:nvSpPr>
            <p:cNvPr id="6" name="角丸四角形 17">
              <a:extLst>
                <a:ext uri="{FF2B5EF4-FFF2-40B4-BE49-F238E27FC236}">
                  <a16:creationId xmlns:a16="http://schemas.microsoft.com/office/drawing/2014/main" id="{3251E296-B4AB-115A-98C5-A89D3587D754}"/>
                </a:ext>
              </a:extLst>
            </p:cNvPr>
            <p:cNvSpPr/>
            <p:nvPr/>
          </p:nvSpPr>
          <p:spPr>
            <a:xfrm>
              <a:off x="5125665" y="1084877"/>
              <a:ext cx="897891"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5B9F3487-3594-1FC7-7A9A-145D3B343B56}"/>
                </a:ext>
              </a:extLst>
            </p:cNvPr>
            <p:cNvCxnSpPr>
              <a:cxnSpLocks/>
              <a:stCxn id="8" idx="2"/>
              <a:endCxn id="6" idx="3"/>
            </p:cNvCxnSpPr>
            <p:nvPr/>
          </p:nvCxnSpPr>
          <p:spPr>
            <a:xfrm flipH="1">
              <a:off x="6023556" y="1228877"/>
              <a:ext cx="25392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F10AFE2E-0741-6E3B-1343-0ABC4D76085C}"/>
                </a:ext>
              </a:extLst>
            </p:cNvPr>
            <p:cNvSpPr/>
            <p:nvPr/>
          </p:nvSpPr>
          <p:spPr>
            <a:xfrm>
              <a:off x="6277477"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0" name="グループ化 9">
            <a:extLst>
              <a:ext uri="{FF2B5EF4-FFF2-40B4-BE49-F238E27FC236}">
                <a16:creationId xmlns:a16="http://schemas.microsoft.com/office/drawing/2014/main" id="{2988BA68-565D-BBBC-3131-BDD10FCF95CA}"/>
              </a:ext>
            </a:extLst>
          </p:cNvPr>
          <p:cNvGrpSpPr/>
          <p:nvPr/>
        </p:nvGrpSpPr>
        <p:grpSpPr>
          <a:xfrm>
            <a:off x="4624387" y="4034387"/>
            <a:ext cx="657225" cy="556729"/>
            <a:chOff x="5214380" y="1121305"/>
            <a:chExt cx="920114" cy="779422"/>
          </a:xfrm>
        </p:grpSpPr>
        <p:sp>
          <p:nvSpPr>
            <p:cNvPr id="11" name="角丸四角形 17">
              <a:extLst>
                <a:ext uri="{FF2B5EF4-FFF2-40B4-BE49-F238E27FC236}">
                  <a16:creationId xmlns:a16="http://schemas.microsoft.com/office/drawing/2014/main" id="{28E3173B-294E-AE54-A145-08330F3B2115}"/>
                </a:ext>
              </a:extLst>
            </p:cNvPr>
            <p:cNvSpPr/>
            <p:nvPr/>
          </p:nvSpPr>
          <p:spPr>
            <a:xfrm>
              <a:off x="5214380" y="1121305"/>
              <a:ext cx="920114" cy="3111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2" name="直線矢印コネクタ 11">
              <a:extLst>
                <a:ext uri="{FF2B5EF4-FFF2-40B4-BE49-F238E27FC236}">
                  <a16:creationId xmlns:a16="http://schemas.microsoft.com/office/drawing/2014/main" id="{F346B008-B477-EFB0-F1C0-0DFC325471B7}"/>
                </a:ext>
              </a:extLst>
            </p:cNvPr>
            <p:cNvCxnSpPr>
              <a:cxnSpLocks/>
              <a:stCxn id="13" idx="0"/>
              <a:endCxn id="11" idx="2"/>
            </p:cNvCxnSpPr>
            <p:nvPr/>
          </p:nvCxnSpPr>
          <p:spPr>
            <a:xfrm flipV="1">
              <a:off x="5674436" y="1432457"/>
              <a:ext cx="1" cy="1802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円/楕円 19">
              <a:extLst>
                <a:ext uri="{FF2B5EF4-FFF2-40B4-BE49-F238E27FC236}">
                  <a16:creationId xmlns:a16="http://schemas.microsoft.com/office/drawing/2014/main" id="{2C415D9F-EDCB-AB34-0850-53F154F0643F}"/>
                </a:ext>
              </a:extLst>
            </p:cNvPr>
            <p:cNvSpPr/>
            <p:nvPr/>
          </p:nvSpPr>
          <p:spPr>
            <a:xfrm>
              <a:off x="5530437" y="161272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sp>
        <p:nvSpPr>
          <p:cNvPr id="21" name="テキスト ボックス 20">
            <a:extLst>
              <a:ext uri="{FF2B5EF4-FFF2-40B4-BE49-F238E27FC236}">
                <a16:creationId xmlns:a16="http://schemas.microsoft.com/office/drawing/2014/main" id="{11FA6CB1-E9A0-77BC-3375-047DE96F28B1}"/>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5" name="テキスト ボックス 14">
            <a:extLst>
              <a:ext uri="{FF2B5EF4-FFF2-40B4-BE49-F238E27FC236}">
                <a16:creationId xmlns:a16="http://schemas.microsoft.com/office/drawing/2014/main" id="{92DABD86-D1EA-EE13-CF8B-BD08A3F16030}"/>
              </a:ext>
            </a:extLst>
          </p:cNvPr>
          <p:cNvSpPr txBox="1"/>
          <p:nvPr/>
        </p:nvSpPr>
        <p:spPr>
          <a:xfrm>
            <a:off x="344488" y="4341456"/>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23971784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2F16217C-EA21-2FA7-C521-68DA2B26430F}"/>
              </a:ext>
            </a:extLst>
          </p:cNvPr>
          <p:cNvPicPr>
            <a:picLocks noChangeAspect="1"/>
          </p:cNvPicPr>
          <p:nvPr/>
        </p:nvPicPr>
        <p:blipFill>
          <a:blip r:embed="rId2"/>
          <a:stretch>
            <a:fillRect/>
          </a:stretch>
        </p:blipFill>
        <p:spPr>
          <a:xfrm>
            <a:off x="344489" y="657225"/>
            <a:ext cx="4917468" cy="4425721"/>
          </a:xfrm>
          <a:prstGeom prst="rect">
            <a:avLst/>
          </a:prstGeom>
        </p:spPr>
      </p:pic>
      <p:sp>
        <p:nvSpPr>
          <p:cNvPr id="2" name="テキスト プレースホルダー 1">
            <a:extLst>
              <a:ext uri="{FF2B5EF4-FFF2-40B4-BE49-F238E27FC236}">
                <a16:creationId xmlns:a16="http://schemas.microsoft.com/office/drawing/2014/main" id="{6CB94820-1E4D-2CD7-C60B-53849CDBF73C}"/>
              </a:ext>
            </a:extLst>
          </p:cNvPr>
          <p:cNvSpPr>
            <a:spLocks noGrp="1"/>
          </p:cNvSpPr>
          <p:nvPr>
            <p:ph type="body" sz="quarter" idx="10"/>
          </p:nvPr>
        </p:nvSpPr>
        <p:spPr>
          <a:xfrm>
            <a:off x="132670" y="179162"/>
            <a:ext cx="4382177" cy="253545"/>
          </a:xfrm>
        </p:spPr>
        <p:txBody>
          <a:bodyPr/>
          <a:lstStyle/>
          <a:p>
            <a:r>
              <a:rPr lang="en-US" altLang="ja-JP" dirty="0"/>
              <a:t>DPF Manual Regeneration Request Function</a:t>
            </a:r>
            <a:endParaRPr kumimoji="1" lang="ja-JP" altLang="en-US" dirty="0"/>
          </a:p>
        </p:txBody>
      </p:sp>
      <p:sp>
        <p:nvSpPr>
          <p:cNvPr id="4" name="テキスト ボックス 3">
            <a:extLst>
              <a:ext uri="{FF2B5EF4-FFF2-40B4-BE49-F238E27FC236}">
                <a16:creationId xmlns:a16="http://schemas.microsoft.com/office/drawing/2014/main" id="{ADA97C1F-6383-A412-4787-DD5642503060}"/>
              </a:ext>
            </a:extLst>
          </p:cNvPr>
          <p:cNvSpPr txBox="1"/>
          <p:nvPr/>
        </p:nvSpPr>
        <p:spPr>
          <a:xfrm>
            <a:off x="5421313" y="657225"/>
            <a:ext cx="2486578" cy="1151084"/>
          </a:xfrm>
          <a:prstGeom prst="rect">
            <a:avLst/>
          </a:prstGeom>
          <a:solidFill>
            <a:schemeClr val="bg1"/>
          </a:solidFill>
          <a:ln w="6350">
            <a:solidFill>
              <a:schemeClr val="tx1"/>
            </a:solidFill>
          </a:ln>
        </p:spPr>
        <p:txBody>
          <a:bodyPr wrap="none" rtlCol="0">
            <a:spAutoFit/>
          </a:bodyPr>
          <a:lstStyle/>
          <a:p>
            <a:r>
              <a:rPr lang="en-US" altLang="ja-JP" sz="860" dirty="0">
                <a:latin typeface="Meiryo UI" panose="020B0604030504040204" pitchFamily="50" charset="-128"/>
                <a:ea typeface="Meiryo UI" panose="020B0604030504040204" pitchFamily="50" charset="-128"/>
                <a:cs typeface="Meiryo UI" panose="020B0604030504040204" pitchFamily="50" charset="-128"/>
              </a:rPr>
              <a:t>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手動再生を実行できます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 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手動再生の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ON/OFF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を選択します。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 DPF</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手動再生を実行または停止します。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③信号を停止し、アクティブテスト画面に戻ります。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Desired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実行中の信号が表示されます。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Present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実際の動作状態が表示されます。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7E079D36-1C0F-D7CC-5992-358140956749}"/>
              </a:ext>
            </a:extLst>
          </p:cNvPr>
          <p:cNvGrpSpPr/>
          <p:nvPr/>
        </p:nvGrpSpPr>
        <p:grpSpPr>
          <a:xfrm>
            <a:off x="419100" y="1602595"/>
            <a:ext cx="1214089" cy="205714"/>
            <a:chOff x="4865754" y="1084877"/>
            <a:chExt cx="1699722" cy="288000"/>
          </a:xfrm>
        </p:grpSpPr>
        <p:sp>
          <p:nvSpPr>
            <p:cNvPr id="6" name="角丸四角形 17">
              <a:extLst>
                <a:ext uri="{FF2B5EF4-FFF2-40B4-BE49-F238E27FC236}">
                  <a16:creationId xmlns:a16="http://schemas.microsoft.com/office/drawing/2014/main" id="{3984532C-1A72-395D-C5B2-AB13AAEF3FC9}"/>
                </a:ext>
              </a:extLst>
            </p:cNvPr>
            <p:cNvSpPr/>
            <p:nvPr/>
          </p:nvSpPr>
          <p:spPr>
            <a:xfrm>
              <a:off x="4865754" y="1084877"/>
              <a:ext cx="1157802"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C899A04F-57AD-E2F1-0BED-C03BE4B96B96}"/>
                </a:ext>
              </a:extLst>
            </p:cNvPr>
            <p:cNvCxnSpPr>
              <a:cxnSpLocks/>
              <a:stCxn id="8" idx="2"/>
              <a:endCxn id="6" idx="3"/>
            </p:cNvCxnSpPr>
            <p:nvPr/>
          </p:nvCxnSpPr>
          <p:spPr>
            <a:xfrm flipH="1">
              <a:off x="6023556" y="1228877"/>
              <a:ext cx="25392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2562E7BB-1320-F502-EF38-F0AC5558D725}"/>
                </a:ext>
              </a:extLst>
            </p:cNvPr>
            <p:cNvSpPr/>
            <p:nvPr/>
          </p:nvSpPr>
          <p:spPr>
            <a:xfrm>
              <a:off x="6277477"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0" name="グループ化 9">
            <a:extLst>
              <a:ext uri="{FF2B5EF4-FFF2-40B4-BE49-F238E27FC236}">
                <a16:creationId xmlns:a16="http://schemas.microsoft.com/office/drawing/2014/main" id="{B32E5C53-C654-8D26-3F9F-A13BC68C993B}"/>
              </a:ext>
            </a:extLst>
          </p:cNvPr>
          <p:cNvGrpSpPr/>
          <p:nvPr/>
        </p:nvGrpSpPr>
        <p:grpSpPr>
          <a:xfrm>
            <a:off x="412749" y="1837545"/>
            <a:ext cx="896589" cy="205714"/>
            <a:chOff x="5310253" y="1084877"/>
            <a:chExt cx="1255223" cy="288000"/>
          </a:xfrm>
        </p:grpSpPr>
        <p:sp>
          <p:nvSpPr>
            <p:cNvPr id="11" name="角丸四角形 17">
              <a:extLst>
                <a:ext uri="{FF2B5EF4-FFF2-40B4-BE49-F238E27FC236}">
                  <a16:creationId xmlns:a16="http://schemas.microsoft.com/office/drawing/2014/main" id="{2480BF26-2A24-1B27-2C2B-359A63D07E51}"/>
                </a:ext>
              </a:extLst>
            </p:cNvPr>
            <p:cNvSpPr/>
            <p:nvPr/>
          </p:nvSpPr>
          <p:spPr>
            <a:xfrm>
              <a:off x="5310253" y="1084877"/>
              <a:ext cx="613411"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2" name="直線矢印コネクタ 11">
              <a:extLst>
                <a:ext uri="{FF2B5EF4-FFF2-40B4-BE49-F238E27FC236}">
                  <a16:creationId xmlns:a16="http://schemas.microsoft.com/office/drawing/2014/main" id="{62FEC69F-F657-7AB2-85A4-89F116613697}"/>
                </a:ext>
              </a:extLst>
            </p:cNvPr>
            <p:cNvCxnSpPr>
              <a:cxnSpLocks/>
              <a:stCxn id="13" idx="2"/>
              <a:endCxn id="11" idx="3"/>
            </p:cNvCxnSpPr>
            <p:nvPr/>
          </p:nvCxnSpPr>
          <p:spPr>
            <a:xfrm flipH="1">
              <a:off x="5923664" y="1228877"/>
              <a:ext cx="35381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円/楕円 19">
              <a:extLst>
                <a:ext uri="{FF2B5EF4-FFF2-40B4-BE49-F238E27FC236}">
                  <a16:creationId xmlns:a16="http://schemas.microsoft.com/office/drawing/2014/main" id="{367F568C-ED3F-0040-C154-50DB4BCADBB8}"/>
                </a:ext>
              </a:extLst>
            </p:cNvPr>
            <p:cNvSpPr/>
            <p:nvPr/>
          </p:nvSpPr>
          <p:spPr>
            <a:xfrm>
              <a:off x="6277477"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2</a:t>
              </a:r>
              <a:endParaRPr lang="ja-JP" altLang="en-US" sz="1286" dirty="0">
                <a:solidFill>
                  <a:srgbClr val="FF0000"/>
                </a:solidFill>
              </a:endParaRPr>
            </a:p>
          </p:txBody>
        </p:sp>
      </p:grpSp>
      <p:grpSp>
        <p:nvGrpSpPr>
          <p:cNvPr id="21" name="グループ化 20">
            <a:extLst>
              <a:ext uri="{FF2B5EF4-FFF2-40B4-BE49-F238E27FC236}">
                <a16:creationId xmlns:a16="http://schemas.microsoft.com/office/drawing/2014/main" id="{8F2DEA58-2967-0212-1179-A74065C9E65D}"/>
              </a:ext>
            </a:extLst>
          </p:cNvPr>
          <p:cNvGrpSpPr/>
          <p:nvPr/>
        </p:nvGrpSpPr>
        <p:grpSpPr>
          <a:xfrm>
            <a:off x="4624387" y="4804581"/>
            <a:ext cx="657225" cy="556729"/>
            <a:chOff x="5214380" y="1121305"/>
            <a:chExt cx="920114" cy="779422"/>
          </a:xfrm>
        </p:grpSpPr>
        <p:sp>
          <p:nvSpPr>
            <p:cNvPr id="22" name="角丸四角形 17">
              <a:extLst>
                <a:ext uri="{FF2B5EF4-FFF2-40B4-BE49-F238E27FC236}">
                  <a16:creationId xmlns:a16="http://schemas.microsoft.com/office/drawing/2014/main" id="{5F7BACAD-DC82-5D03-CC48-7EDA319FEDF5}"/>
                </a:ext>
              </a:extLst>
            </p:cNvPr>
            <p:cNvSpPr/>
            <p:nvPr/>
          </p:nvSpPr>
          <p:spPr>
            <a:xfrm>
              <a:off x="5214380" y="1121305"/>
              <a:ext cx="920114" cy="3111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23" name="直線矢印コネクタ 22">
              <a:extLst>
                <a:ext uri="{FF2B5EF4-FFF2-40B4-BE49-F238E27FC236}">
                  <a16:creationId xmlns:a16="http://schemas.microsoft.com/office/drawing/2014/main" id="{7C641AE3-0910-095D-A73E-582753B61DB7}"/>
                </a:ext>
              </a:extLst>
            </p:cNvPr>
            <p:cNvCxnSpPr>
              <a:cxnSpLocks/>
              <a:stCxn id="24" idx="0"/>
              <a:endCxn id="22" idx="2"/>
            </p:cNvCxnSpPr>
            <p:nvPr/>
          </p:nvCxnSpPr>
          <p:spPr>
            <a:xfrm flipV="1">
              <a:off x="5674436" y="1432457"/>
              <a:ext cx="1" cy="1802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円/楕円 19">
              <a:extLst>
                <a:ext uri="{FF2B5EF4-FFF2-40B4-BE49-F238E27FC236}">
                  <a16:creationId xmlns:a16="http://schemas.microsoft.com/office/drawing/2014/main" id="{4CA0A863-963F-2C27-E209-72038D8EFB80}"/>
                </a:ext>
              </a:extLst>
            </p:cNvPr>
            <p:cNvSpPr/>
            <p:nvPr/>
          </p:nvSpPr>
          <p:spPr>
            <a:xfrm>
              <a:off x="5530437" y="161272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3</a:t>
              </a:r>
              <a:endParaRPr lang="ja-JP" altLang="en-US" sz="1286" dirty="0">
                <a:solidFill>
                  <a:srgbClr val="FF0000"/>
                </a:solidFill>
              </a:endParaRPr>
            </a:p>
          </p:txBody>
        </p:sp>
      </p:grpSp>
      <p:sp>
        <p:nvSpPr>
          <p:cNvPr id="25" name="テキスト ボックス 24">
            <a:extLst>
              <a:ext uri="{FF2B5EF4-FFF2-40B4-BE49-F238E27FC236}">
                <a16:creationId xmlns:a16="http://schemas.microsoft.com/office/drawing/2014/main" id="{522E11D7-AAD5-5117-79A7-370419714AE1}"/>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5" name="テキスト ボックス 14">
            <a:extLst>
              <a:ext uri="{FF2B5EF4-FFF2-40B4-BE49-F238E27FC236}">
                <a16:creationId xmlns:a16="http://schemas.microsoft.com/office/drawing/2014/main" id="{1E7882FA-B5A3-789C-95CC-153A4B079A00}"/>
              </a:ext>
            </a:extLst>
          </p:cNvPr>
          <p:cNvSpPr txBox="1"/>
          <p:nvPr/>
        </p:nvSpPr>
        <p:spPr>
          <a:xfrm>
            <a:off x="351292" y="5111650"/>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1327609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図 14">
            <a:extLst>
              <a:ext uri="{FF2B5EF4-FFF2-40B4-BE49-F238E27FC236}">
                <a16:creationId xmlns:a16="http://schemas.microsoft.com/office/drawing/2014/main" id="{B07CE60D-FF78-BADA-D207-0690C0E33CA8}"/>
              </a:ext>
            </a:extLst>
          </p:cNvPr>
          <p:cNvPicPr>
            <a:picLocks noChangeAspect="1"/>
          </p:cNvPicPr>
          <p:nvPr/>
        </p:nvPicPr>
        <p:blipFill>
          <a:blip r:embed="rId2"/>
          <a:stretch>
            <a:fillRect/>
          </a:stretch>
        </p:blipFill>
        <p:spPr>
          <a:xfrm>
            <a:off x="344488" y="657225"/>
            <a:ext cx="4887912" cy="4154725"/>
          </a:xfrm>
          <a:prstGeom prst="rect">
            <a:avLst/>
          </a:prstGeom>
        </p:spPr>
      </p:pic>
      <p:sp>
        <p:nvSpPr>
          <p:cNvPr id="2" name="テキスト プレースホルダー 1">
            <a:extLst>
              <a:ext uri="{FF2B5EF4-FFF2-40B4-BE49-F238E27FC236}">
                <a16:creationId xmlns:a16="http://schemas.microsoft.com/office/drawing/2014/main" id="{41FE36D2-7CD4-14EF-DB28-243722E686E8}"/>
              </a:ext>
            </a:extLst>
          </p:cNvPr>
          <p:cNvSpPr>
            <a:spLocks noGrp="1"/>
          </p:cNvSpPr>
          <p:nvPr>
            <p:ph type="body" sz="quarter" idx="10"/>
          </p:nvPr>
        </p:nvSpPr>
        <p:spPr>
          <a:xfrm>
            <a:off x="132671" y="179162"/>
            <a:ext cx="2900090" cy="253545"/>
          </a:xfrm>
        </p:spPr>
        <p:txBody>
          <a:bodyPr/>
          <a:lstStyle/>
          <a:p>
            <a:r>
              <a:rPr kumimoji="1" lang="en-US" altLang="ja-JP" dirty="0"/>
              <a:t>Fuel supply pump learning</a:t>
            </a:r>
            <a:endParaRPr kumimoji="1" lang="ja-JP" altLang="en-US" dirty="0"/>
          </a:p>
        </p:txBody>
      </p:sp>
      <p:sp>
        <p:nvSpPr>
          <p:cNvPr id="4" name="テキスト ボックス 3">
            <a:extLst>
              <a:ext uri="{FF2B5EF4-FFF2-40B4-BE49-F238E27FC236}">
                <a16:creationId xmlns:a16="http://schemas.microsoft.com/office/drawing/2014/main" id="{88DB76ED-F6AB-4A78-B76C-5409FCA35502}"/>
              </a:ext>
            </a:extLst>
          </p:cNvPr>
          <p:cNvSpPr txBox="1"/>
          <p:nvPr/>
        </p:nvSpPr>
        <p:spPr>
          <a:xfrm>
            <a:off x="5421313" y="657225"/>
            <a:ext cx="2901756" cy="1151084"/>
          </a:xfrm>
          <a:prstGeom prst="rect">
            <a:avLst/>
          </a:prstGeom>
          <a:solidFill>
            <a:schemeClr val="bg1"/>
          </a:solidFill>
          <a:ln w="6350">
            <a:solidFill>
              <a:schemeClr val="tx1"/>
            </a:solidFill>
          </a:ln>
        </p:spPr>
        <p:txBody>
          <a:bodyPr wrap="none" rtlCol="0">
            <a:spAutoFit/>
          </a:bodyPr>
          <a:lstStyle/>
          <a:p>
            <a:r>
              <a:rPr lang="ja-JP" altLang="en-US" sz="860" dirty="0">
                <a:latin typeface="Meiryo UI" panose="020B0604030504040204" pitchFamily="50" charset="-128"/>
                <a:ea typeface="Meiryo UI" panose="020B0604030504040204" pitchFamily="50" charset="-128"/>
                <a:cs typeface="Meiryo UI" panose="020B0604030504040204" pitchFamily="50" charset="-128"/>
              </a:rPr>
              <a:t>サプライポンプ機差学習を実行できます。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r>
              <a:rPr lang="ja-JP" altLang="en-US" sz="860" dirty="0">
                <a:latin typeface="Meiryo UI" panose="020B0604030504040204" pitchFamily="50" charset="-128"/>
                <a:ea typeface="Meiryo UI" panose="020B0604030504040204" pitchFamily="50" charset="-128"/>
                <a:cs typeface="Meiryo UI" panose="020B0604030504040204" pitchFamily="50" charset="-128"/>
              </a:rPr>
              <a:t>ポンプの個体差を測定して、燃料噴射量を適切に調整します。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①サプライポンプ機差学習の</a:t>
            </a:r>
            <a:r>
              <a:rPr lang="en-US" altLang="ja-JP" sz="860" dirty="0">
                <a:latin typeface="Meiryo UI" panose="020B0604030504040204" pitchFamily="50" charset="-128"/>
                <a:ea typeface="Meiryo UI" panose="020B0604030504040204" pitchFamily="50" charset="-128"/>
                <a:cs typeface="Meiryo UI" panose="020B0604030504040204" pitchFamily="50" charset="-128"/>
              </a:rPr>
              <a:t>start/stop</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を実行します。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ja-JP" altLang="en-US" sz="860" dirty="0">
                <a:latin typeface="Meiryo UI" panose="020B0604030504040204" pitchFamily="50" charset="-128"/>
                <a:ea typeface="Meiryo UI" panose="020B0604030504040204" pitchFamily="50" charset="-128"/>
                <a:cs typeface="Meiryo UI" panose="020B0604030504040204" pitchFamily="50" charset="-128"/>
              </a:rPr>
              <a:t>②信号を停止し、アクティブテスト画面に戻ります。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Desired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実行中の信号が表示されます。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a:p>
            <a:pPr defTabSz="179705"/>
            <a:r>
              <a:rPr lang="en-US" altLang="ja-JP" sz="860" dirty="0">
                <a:latin typeface="Meiryo UI" panose="020B0604030504040204" pitchFamily="50" charset="-128"/>
                <a:ea typeface="Meiryo UI" panose="020B0604030504040204" pitchFamily="50" charset="-128"/>
                <a:cs typeface="Meiryo UI" panose="020B0604030504040204" pitchFamily="50" charset="-128"/>
              </a:rPr>
              <a:t>Present value: </a:t>
            </a:r>
            <a:r>
              <a:rPr lang="ja-JP" altLang="en-US" sz="860" dirty="0">
                <a:latin typeface="Meiryo UI" panose="020B0604030504040204" pitchFamily="50" charset="-128"/>
                <a:ea typeface="Meiryo UI" panose="020B0604030504040204" pitchFamily="50" charset="-128"/>
                <a:cs typeface="Meiryo UI" panose="020B0604030504040204" pitchFamily="50" charset="-128"/>
              </a:rPr>
              <a:t>実際の動作状態が表示されます。</a:t>
            </a:r>
            <a:endParaRPr lang="en-US" altLang="ja-JP" sz="860" dirty="0">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5" name="グループ化 4">
            <a:extLst>
              <a:ext uri="{FF2B5EF4-FFF2-40B4-BE49-F238E27FC236}">
                <a16:creationId xmlns:a16="http://schemas.microsoft.com/office/drawing/2014/main" id="{09628911-2E12-A0D9-1E75-33890881881A}"/>
              </a:ext>
            </a:extLst>
          </p:cNvPr>
          <p:cNvGrpSpPr/>
          <p:nvPr/>
        </p:nvGrpSpPr>
        <p:grpSpPr>
          <a:xfrm>
            <a:off x="373381" y="2669395"/>
            <a:ext cx="1055339" cy="205714"/>
            <a:chOff x="5088004" y="1084877"/>
            <a:chExt cx="1477472" cy="288000"/>
          </a:xfrm>
        </p:grpSpPr>
        <p:sp>
          <p:nvSpPr>
            <p:cNvPr id="6" name="角丸四角形 17">
              <a:extLst>
                <a:ext uri="{FF2B5EF4-FFF2-40B4-BE49-F238E27FC236}">
                  <a16:creationId xmlns:a16="http://schemas.microsoft.com/office/drawing/2014/main" id="{2FDE2CAF-57D3-788B-564D-09B812EC07A1}"/>
                </a:ext>
              </a:extLst>
            </p:cNvPr>
            <p:cNvSpPr/>
            <p:nvPr/>
          </p:nvSpPr>
          <p:spPr>
            <a:xfrm>
              <a:off x="5088004" y="1084877"/>
              <a:ext cx="935553" cy="2880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7" name="直線矢印コネクタ 6">
              <a:extLst>
                <a:ext uri="{FF2B5EF4-FFF2-40B4-BE49-F238E27FC236}">
                  <a16:creationId xmlns:a16="http://schemas.microsoft.com/office/drawing/2014/main" id="{31844B75-DEF8-833C-3A9F-F9A3339BED18}"/>
                </a:ext>
              </a:extLst>
            </p:cNvPr>
            <p:cNvCxnSpPr>
              <a:cxnSpLocks/>
              <a:stCxn id="8" idx="2"/>
              <a:endCxn id="6" idx="3"/>
            </p:cNvCxnSpPr>
            <p:nvPr/>
          </p:nvCxnSpPr>
          <p:spPr>
            <a:xfrm flipH="1">
              <a:off x="6023557" y="1228877"/>
              <a:ext cx="253920"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円/楕円 19">
              <a:extLst>
                <a:ext uri="{FF2B5EF4-FFF2-40B4-BE49-F238E27FC236}">
                  <a16:creationId xmlns:a16="http://schemas.microsoft.com/office/drawing/2014/main" id="{B7E0AED7-398B-D238-6102-6A4D180B733D}"/>
                </a:ext>
              </a:extLst>
            </p:cNvPr>
            <p:cNvSpPr/>
            <p:nvPr/>
          </p:nvSpPr>
          <p:spPr>
            <a:xfrm>
              <a:off x="6277477" y="108487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286" dirty="0">
                  <a:solidFill>
                    <a:srgbClr val="FF0000"/>
                  </a:solidFill>
                </a:rPr>
                <a:t>1</a:t>
              </a:r>
              <a:endParaRPr lang="ja-JP" altLang="en-US" sz="1286" dirty="0">
                <a:solidFill>
                  <a:srgbClr val="FF0000"/>
                </a:solidFill>
              </a:endParaRPr>
            </a:p>
          </p:txBody>
        </p:sp>
      </p:grpSp>
      <p:grpSp>
        <p:nvGrpSpPr>
          <p:cNvPr id="10" name="グループ化 9">
            <a:extLst>
              <a:ext uri="{FF2B5EF4-FFF2-40B4-BE49-F238E27FC236}">
                <a16:creationId xmlns:a16="http://schemas.microsoft.com/office/drawing/2014/main" id="{F534C1A9-9AB7-708A-A68B-E26EEAB7B1D6}"/>
              </a:ext>
            </a:extLst>
          </p:cNvPr>
          <p:cNvGrpSpPr/>
          <p:nvPr/>
        </p:nvGrpSpPr>
        <p:grpSpPr>
          <a:xfrm>
            <a:off x="4612637" y="4520563"/>
            <a:ext cx="657225" cy="556729"/>
            <a:chOff x="5214380" y="1121305"/>
            <a:chExt cx="920114" cy="779422"/>
          </a:xfrm>
        </p:grpSpPr>
        <p:sp>
          <p:nvSpPr>
            <p:cNvPr id="11" name="角丸四角形 17">
              <a:extLst>
                <a:ext uri="{FF2B5EF4-FFF2-40B4-BE49-F238E27FC236}">
                  <a16:creationId xmlns:a16="http://schemas.microsoft.com/office/drawing/2014/main" id="{D16A73C3-C283-B2F2-DF9A-2770D78A45B7}"/>
                </a:ext>
              </a:extLst>
            </p:cNvPr>
            <p:cNvSpPr/>
            <p:nvPr/>
          </p:nvSpPr>
          <p:spPr>
            <a:xfrm>
              <a:off x="5214380" y="1121305"/>
              <a:ext cx="920114" cy="31115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718"/>
            </a:p>
          </p:txBody>
        </p:sp>
        <p:cxnSp>
          <p:nvCxnSpPr>
            <p:cNvPr id="12" name="直線矢印コネクタ 11">
              <a:extLst>
                <a:ext uri="{FF2B5EF4-FFF2-40B4-BE49-F238E27FC236}">
                  <a16:creationId xmlns:a16="http://schemas.microsoft.com/office/drawing/2014/main" id="{F44315F1-ED92-809A-67BE-04B6CA95A80A}"/>
                </a:ext>
              </a:extLst>
            </p:cNvPr>
            <p:cNvCxnSpPr>
              <a:cxnSpLocks/>
              <a:stCxn id="13" idx="0"/>
              <a:endCxn id="11" idx="2"/>
            </p:cNvCxnSpPr>
            <p:nvPr/>
          </p:nvCxnSpPr>
          <p:spPr>
            <a:xfrm flipV="1">
              <a:off x="5674436" y="1432457"/>
              <a:ext cx="1" cy="18027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円/楕円 19">
              <a:extLst>
                <a:ext uri="{FF2B5EF4-FFF2-40B4-BE49-F238E27FC236}">
                  <a16:creationId xmlns:a16="http://schemas.microsoft.com/office/drawing/2014/main" id="{2B3DAC4B-F597-A9B0-A63D-8D6264C0A5D1}"/>
                </a:ext>
              </a:extLst>
            </p:cNvPr>
            <p:cNvSpPr/>
            <p:nvPr/>
          </p:nvSpPr>
          <p:spPr>
            <a:xfrm>
              <a:off x="5530437" y="1612727"/>
              <a:ext cx="287999" cy="288000"/>
            </a:xfrm>
            <a:prstGeom prst="ellipse">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86" dirty="0">
                  <a:solidFill>
                    <a:srgbClr val="FF0000"/>
                  </a:solidFill>
                </a:rPr>
                <a:t>２</a:t>
              </a:r>
            </a:p>
          </p:txBody>
        </p:sp>
      </p:grpSp>
      <p:sp>
        <p:nvSpPr>
          <p:cNvPr id="14" name="テキスト ボックス 13">
            <a:extLst>
              <a:ext uri="{FF2B5EF4-FFF2-40B4-BE49-F238E27FC236}">
                <a16:creationId xmlns:a16="http://schemas.microsoft.com/office/drawing/2014/main" id="{0ACA6B43-958A-1E35-724C-CB096750B62B}"/>
              </a:ext>
            </a:extLst>
          </p:cNvPr>
          <p:cNvSpPr txBox="1"/>
          <p:nvPr/>
        </p:nvSpPr>
        <p:spPr>
          <a:xfrm>
            <a:off x="7643842" y="121268"/>
            <a:ext cx="2262158" cy="369332"/>
          </a:xfrm>
          <a:prstGeom prst="rect">
            <a:avLst/>
          </a:prstGeom>
          <a:noFill/>
        </p:spPr>
        <p:txBody>
          <a:bodyPr wrap="none" rtlCol="0">
            <a:spAutoFit/>
          </a:bodyPr>
          <a:lstStyle/>
          <a:p>
            <a:r>
              <a:rPr kumimoji="1" lang="ja-JP" altLang="en-US" b="1" dirty="0">
                <a:solidFill>
                  <a:schemeClr val="accent2"/>
                </a:solidFill>
              </a:rPr>
              <a:t>ライセンス付版のみ</a:t>
            </a:r>
          </a:p>
        </p:txBody>
      </p:sp>
      <p:sp>
        <p:nvSpPr>
          <p:cNvPr id="16" name="テキスト ボックス 15">
            <a:extLst>
              <a:ext uri="{FF2B5EF4-FFF2-40B4-BE49-F238E27FC236}">
                <a16:creationId xmlns:a16="http://schemas.microsoft.com/office/drawing/2014/main" id="{D939BEC9-E053-2D49-3DC1-AC049082AC3F}"/>
              </a:ext>
            </a:extLst>
          </p:cNvPr>
          <p:cNvSpPr txBox="1"/>
          <p:nvPr/>
        </p:nvSpPr>
        <p:spPr>
          <a:xfrm>
            <a:off x="373381" y="4838130"/>
            <a:ext cx="1076183" cy="195814"/>
          </a:xfrm>
          <a:prstGeom prst="rect">
            <a:avLst/>
          </a:prstGeom>
          <a:noFill/>
        </p:spPr>
        <p:txBody>
          <a:bodyPr wrap="none" lIns="36000" tIns="36000" rIns="36000" bIns="36000" rtlCol="0">
            <a:spAutoFit/>
          </a:bodyPr>
          <a:lstStyle/>
          <a:p>
            <a:r>
              <a:rPr kumimoji="1" lang="en-US" altLang="ja-JP" sz="800" dirty="0">
                <a:solidFill>
                  <a:srgbClr val="FF0000"/>
                </a:solidFill>
              </a:rPr>
              <a:t>Δ05</a:t>
            </a:r>
            <a:r>
              <a:rPr kumimoji="1" lang="ja-JP" altLang="en-US" sz="800" dirty="0">
                <a:solidFill>
                  <a:srgbClr val="FF0000"/>
                </a:solidFill>
              </a:rPr>
              <a:t> 画面イメージ更新</a:t>
            </a:r>
          </a:p>
        </p:txBody>
      </p:sp>
    </p:spTree>
    <p:extLst>
      <p:ext uri="{BB962C8B-B14F-4D97-AF65-F5344CB8AC3E}">
        <p14:creationId xmlns:p14="http://schemas.microsoft.com/office/powerpoint/2010/main" val="223816946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470E618012AC541A489350998F10E12" ma:contentTypeVersion="10" ma:contentTypeDescription="新しいドキュメントを作成します。" ma:contentTypeScope="" ma:versionID="0b4c20b1decb393958e879da04aa6bce">
  <xsd:schema xmlns:xsd="http://www.w3.org/2001/XMLSchema" xmlns:xs="http://www.w3.org/2001/XMLSchema" xmlns:p="http://schemas.microsoft.com/office/2006/metadata/properties" xmlns:ns2="85933fc5-88d4-4690-a429-8e8dbadf41a2" xmlns:ns3="ec06e18c-a3a2-42b8-8b7b-44b3444fc4c4" targetNamespace="http://schemas.microsoft.com/office/2006/metadata/properties" ma:root="true" ma:fieldsID="589e329ebf4e5f73bd3c91e5911a3ca4" ns2:_="" ns3:_="">
    <xsd:import namespace="85933fc5-88d4-4690-a429-8e8dbadf41a2"/>
    <xsd:import namespace="ec06e18c-a3a2-42b8-8b7b-44b3444fc4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933fc5-88d4-4690-a429-8e8dbadf41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descriptio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45c48354-4d24-49e8-bf58-b3da240e2a7a"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c06e18c-a3a2-42b8-8b7b-44b3444fc4c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7e377e4-d108-4b92-bf36-bcd242811759}" ma:internalName="TaxCatchAll" ma:showField="CatchAllData" ma:web="ec06e18c-a3a2-42b8-8b7b-44b3444fc4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06e18c-a3a2-42b8-8b7b-44b3444fc4c4" xsi:nil="true"/>
    <lcf76f155ced4ddcb4097134ff3c332f xmlns="85933fc5-88d4-4690-a429-8e8dbadf41a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7616AA2-370C-49F9-9835-7FB9423888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933fc5-88d4-4690-a429-8e8dbadf41a2"/>
    <ds:schemaRef ds:uri="ec06e18c-a3a2-42b8-8b7b-44b3444fc4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EB8826-4B46-4228-ACB6-0CF4D25A17B4}">
  <ds:schemaRefs>
    <ds:schemaRef ds:uri="http://schemas.microsoft.com/sharepoint/v3/contenttype/forms"/>
  </ds:schemaRefs>
</ds:datastoreItem>
</file>

<file path=customXml/itemProps3.xml><?xml version="1.0" encoding="utf-8"?>
<ds:datastoreItem xmlns:ds="http://schemas.openxmlformats.org/officeDocument/2006/customXml" ds:itemID="{37F1C89F-1681-4C31-B567-C97141307CA2}">
  <ds:schemaRefs>
    <ds:schemaRef ds:uri="http://purl.org/dc/elements/1.1/"/>
    <ds:schemaRef ds:uri="ec06e18c-a3a2-42b8-8b7b-44b3444fc4c4"/>
    <ds:schemaRef ds:uri="http://schemas.microsoft.com/office/infopath/2007/PartnerControls"/>
    <ds:schemaRef ds:uri="http://schemas.microsoft.com/office/2006/documentManagement/types"/>
    <ds:schemaRef ds:uri="http://schemas.openxmlformats.org/package/2006/metadata/core-properties"/>
    <ds:schemaRef ds:uri="http://purl.org/dc/dcmitype/"/>
    <ds:schemaRef ds:uri="http://purl.org/dc/terms/"/>
    <ds:schemaRef ds:uri="85933fc5-88d4-4690-a429-8e8dbadf41a2"/>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4412</TotalTime>
  <Words>8568</Words>
  <Application>Microsoft Office PowerPoint</Application>
  <PresentationFormat>A4 210 x 297 mm</PresentationFormat>
  <Paragraphs>1383</Paragraphs>
  <Slides>65</Slides>
  <Notes>1</Notes>
  <HiddenSlides>54</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65</vt:i4>
      </vt:variant>
    </vt:vector>
  </HeadingPairs>
  <TitlesOfParts>
    <vt:vector size="73" baseType="lpstr">
      <vt:lpstr>Meiryo UI</vt:lpstr>
      <vt:lpstr>MS PGothic</vt:lpstr>
      <vt:lpstr>メイリオ</vt:lpstr>
      <vt:lpstr>游ゴシック</vt:lpstr>
      <vt:lpstr>Arial</vt:lpstr>
      <vt:lpstr>Calibri</vt:lpstr>
      <vt:lpstr>Calibri Light</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原 寛貴</dc:creator>
  <cp:lastModifiedBy>星野 真伸</cp:lastModifiedBy>
  <cp:revision>372</cp:revision>
  <cp:lastPrinted>2025-10-30T23:31:42Z</cp:lastPrinted>
  <dcterms:created xsi:type="dcterms:W3CDTF">2016-05-24T01:40:00Z</dcterms:created>
  <dcterms:modified xsi:type="dcterms:W3CDTF">2026-04-02T10:53:03Z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0x0101004470E618012AC541A489350998F10E12</vt:lpwstr>
  </property>
  <property fmtid="{D5CDD505-2E9C-101B-9397-08002B2CF9AE}" pid="3" name="KSOProductBuildVer">
    <vt:lpwstr>1041-10.8.2.6709</vt:lpwstr>
  </property>
  <property fmtid="{D5CDD505-2E9C-101B-9397-08002B2CF9AE}" pid="4" name="MediaServiceImageTags">
    <vt:lpwstr/>
  </property>
</Properties>
</file>